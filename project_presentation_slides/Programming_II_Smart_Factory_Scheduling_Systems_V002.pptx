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4660"/>
  </p:normalViewPr>
  <p:slideViewPr>
    <p:cSldViewPr snapToGrid="0">
      <p:cViewPr>
        <p:scale>
          <a:sx n="73" d="100"/>
          <a:sy n="73" d="100"/>
        </p:scale>
        <p:origin x="58" y="36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walkthrough:
1. Start the Wokwi simulation.
2. Increase the temperature to simulate overheating.
3. Show the RGB LED changing from Green to Yellow to Red.
4. Demonstrate the buzzer activating when the machine becomes critical.
5. Explain how the C++ Smart Factory Assistant receives the sensor data.
6. Show the health score decreasing as conditions worsen.
7. Trigger a manufacturing job and explain why the scheduler selects the healthiest machine.
8. Conclude by highlighting how predictive maintenance reduces downtime and improves production efficiency.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6456264"/>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7"/>
        </a:solidFill>
        <a:effectLst/>
      </p:bgPr>
    </p:bg>
    <p:spTree>
      <p:nvGrpSpPr>
        <p:cNvPr id="1" name=""/>
        <p:cNvGrpSpPr/>
        <p:nvPr/>
      </p:nvGrpSpPr>
      <p:grpSpPr>
        <a:xfrm>
          <a:off x="0" y="0"/>
          <a:ext cx="0" cy="0"/>
          <a:chOff x="0" y="0"/>
          <a:chExt cx="0" cy="0"/>
        </a:xfrm>
      </p:grpSpPr>
      <p:pic>
        <p:nvPicPr>
          <p:cNvPr id="2" name="Image 0" descr="images/hero.jp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2A47">
              <a:alpha val="68000"/>
            </a:srgbClr>
          </a:solidFill>
          <a:ln/>
        </p:spPr>
        <p:txBody>
          <a:bodyPr/>
          <a:lstStyle/>
          <a:p>
            <a:endParaRPr lang="LID4096"/>
          </a:p>
        </p:txBody>
      </p:sp>
      <p:sp>
        <p:nvSpPr>
          <p:cNvPr id="4" name="Shape 1"/>
          <p:cNvSpPr/>
          <p:nvPr/>
        </p:nvSpPr>
        <p:spPr>
          <a:xfrm>
            <a:off x="0" y="3200400"/>
            <a:ext cx="12191695" cy="3657600"/>
          </a:xfrm>
          <a:prstGeom prst="rect">
            <a:avLst/>
          </a:prstGeom>
          <a:solidFill>
            <a:srgbClr val="0E2A47">
              <a:alpha val="92000"/>
            </a:srgbClr>
          </a:solidFill>
          <a:ln/>
        </p:spPr>
        <p:txBody>
          <a:bodyPr/>
          <a:lstStyle/>
          <a:p>
            <a:endParaRPr lang="LID4096"/>
          </a:p>
        </p:txBody>
      </p:sp>
      <p:sp>
        <p:nvSpPr>
          <p:cNvPr id="5" name="Shape 2"/>
          <p:cNvSpPr/>
          <p:nvPr/>
        </p:nvSpPr>
        <p:spPr>
          <a:xfrm>
            <a:off x="822960" y="777240"/>
            <a:ext cx="3383280" cy="420624"/>
          </a:xfrm>
          <a:prstGeom prst="rect">
            <a:avLst/>
          </a:prstGeom>
          <a:solidFill>
            <a:srgbClr val="0FB5D6"/>
          </a:solidFill>
          <a:ln/>
        </p:spPr>
        <p:txBody>
          <a:bodyPr/>
          <a:lstStyle/>
          <a:p>
            <a:endParaRPr lang="LID4096"/>
          </a:p>
        </p:txBody>
      </p:sp>
      <p:sp>
        <p:nvSpPr>
          <p:cNvPr id="6" name="Text 3"/>
          <p:cNvSpPr/>
          <p:nvPr/>
        </p:nvSpPr>
        <p:spPr>
          <a:xfrm>
            <a:off x="822960" y="777240"/>
            <a:ext cx="3383280" cy="420624"/>
          </a:xfrm>
          <a:prstGeom prst="rect">
            <a:avLst/>
          </a:prstGeom>
          <a:noFill/>
          <a:ln/>
        </p:spPr>
        <p:txBody>
          <a:bodyPr wrap="square" lIns="0" tIns="0" rIns="0" bIns="0" rtlCol="0" anchor="ctr"/>
          <a:lstStyle/>
          <a:p>
            <a:pPr marL="0" indent="0" algn="ctr">
              <a:buNone/>
            </a:pPr>
            <a:r>
              <a:rPr lang="en-US" sz="1150" b="1" kern="0" spc="100" dirty="0">
                <a:solidFill>
                  <a:srgbClr val="0E2A47"/>
                </a:solidFill>
                <a:latin typeface="Trebuchet MS" pitchFamily="34" charset="0"/>
                <a:ea typeface="Trebuchet MS" pitchFamily="34" charset="-122"/>
                <a:cs typeface="Trebuchet MS" pitchFamily="34" charset="-120"/>
              </a:rPr>
              <a:t>INDUSTRY 4.0 · LIVE DEMONSTRATION</a:t>
            </a:r>
            <a:endParaRPr lang="en-US" sz="1150" dirty="0"/>
          </a:p>
        </p:txBody>
      </p:sp>
      <p:sp>
        <p:nvSpPr>
          <p:cNvPr id="7" name="Text 4"/>
          <p:cNvSpPr/>
          <p:nvPr/>
        </p:nvSpPr>
        <p:spPr>
          <a:xfrm>
            <a:off x="777240" y="3200400"/>
            <a:ext cx="10607040" cy="1005840"/>
          </a:xfrm>
          <a:prstGeom prst="rect">
            <a:avLst/>
          </a:prstGeom>
          <a:noFill/>
          <a:ln/>
        </p:spPr>
        <p:txBody>
          <a:bodyPr wrap="square" lIns="0" tIns="0" rIns="0" bIns="0" rtlCol="0" anchor="ctr"/>
          <a:lstStyle/>
          <a:p>
            <a:pPr marL="0" indent="0">
              <a:buNone/>
            </a:pPr>
            <a:r>
              <a:rPr lang="en-US" sz="5600" b="1" dirty="0">
                <a:solidFill>
                  <a:srgbClr val="FFFFFF"/>
                </a:solidFill>
                <a:latin typeface="Trebuchet MS" pitchFamily="34" charset="0"/>
                <a:ea typeface="Trebuchet MS" pitchFamily="34" charset="-122"/>
                <a:cs typeface="Trebuchet MS" pitchFamily="34" charset="-120"/>
              </a:rPr>
              <a:t>Smart Factory Assistant</a:t>
            </a:r>
            <a:endParaRPr lang="en-US" sz="5600" dirty="0"/>
          </a:p>
        </p:txBody>
      </p:sp>
      <p:sp>
        <p:nvSpPr>
          <p:cNvPr id="8" name="Text 5"/>
          <p:cNvSpPr/>
          <p:nvPr/>
        </p:nvSpPr>
        <p:spPr>
          <a:xfrm>
            <a:off x="822960" y="4224528"/>
            <a:ext cx="9692640" cy="640080"/>
          </a:xfrm>
          <a:prstGeom prst="rect">
            <a:avLst/>
          </a:prstGeom>
          <a:noFill/>
          <a:ln/>
        </p:spPr>
        <p:txBody>
          <a:bodyPr wrap="square" lIns="0" tIns="0" rIns="0" bIns="0" rtlCol="0" anchor="ctr"/>
          <a:lstStyle/>
          <a:p>
            <a:pPr marL="0" indent="0">
              <a:buNone/>
            </a:pPr>
            <a:r>
              <a:rPr lang="en-US" sz="1900" dirty="0">
                <a:solidFill>
                  <a:srgbClr val="D7E6F5"/>
                </a:solidFill>
                <a:latin typeface="Calibri" pitchFamily="34" charset="0"/>
                <a:ea typeface="Calibri" pitchFamily="34" charset="-122"/>
                <a:cs typeface="Calibri" pitchFamily="34" charset="-120"/>
              </a:rPr>
              <a:t>Wokwi demonstration of AI-based predictive maintenance and intelligent job scheduling</a:t>
            </a:r>
            <a:endParaRPr lang="en-US" sz="1900" dirty="0"/>
          </a:p>
        </p:txBody>
      </p:sp>
      <p:sp>
        <p:nvSpPr>
          <p:cNvPr id="9" name="Shape 6"/>
          <p:cNvSpPr/>
          <p:nvPr/>
        </p:nvSpPr>
        <p:spPr>
          <a:xfrm>
            <a:off x="822960" y="5440680"/>
            <a:ext cx="45720" cy="868680"/>
          </a:xfrm>
          <a:prstGeom prst="rect">
            <a:avLst/>
          </a:prstGeom>
          <a:solidFill>
            <a:srgbClr val="0FB5D6"/>
          </a:solidFill>
          <a:ln/>
        </p:spPr>
        <p:txBody>
          <a:bodyPr/>
          <a:lstStyle/>
          <a:p>
            <a:endParaRPr lang="LID4096"/>
          </a:p>
        </p:txBody>
      </p:sp>
      <p:sp>
        <p:nvSpPr>
          <p:cNvPr id="10" name="Text 7"/>
          <p:cNvSpPr/>
          <p:nvPr/>
        </p:nvSpPr>
        <p:spPr>
          <a:xfrm>
            <a:off x="1051560" y="5440680"/>
            <a:ext cx="9601200" cy="868680"/>
          </a:xfrm>
          <a:prstGeom prst="rect">
            <a:avLst/>
          </a:prstGeom>
          <a:noFill/>
          <a:ln/>
        </p:spPr>
        <p:txBody>
          <a:bodyPr wrap="square" lIns="0" tIns="0" rIns="0" bIns="0" rtlCol="0" anchor="ctr"/>
          <a:lstStyle/>
          <a:p>
            <a:pPr marL="0" indent="0">
              <a:lnSpc>
                <a:spcPct val="115000"/>
              </a:lnSpc>
              <a:buNone/>
            </a:pPr>
            <a:r>
              <a:rPr lang="en-US" sz="1500" b="1" dirty="0">
                <a:solidFill>
                  <a:srgbClr val="FFFFFF"/>
                </a:solidFill>
                <a:latin typeface="Trebuchet MS" pitchFamily="34" charset="0"/>
                <a:ea typeface="Trebuchet MS" pitchFamily="34" charset="-122"/>
                <a:cs typeface="Trebuchet MS" pitchFamily="34" charset="-120"/>
              </a:rPr>
              <a:t>Daniel Chidi Chimezie  ·  Roland Bukoola</a:t>
            </a:r>
            <a:endParaRPr lang="en-US" sz="1500" dirty="0"/>
          </a:p>
          <a:p>
            <a:pPr marL="0" indent="0">
              <a:lnSpc>
                <a:spcPct val="115000"/>
              </a:lnSpc>
              <a:buNone/>
            </a:pPr>
            <a:r>
              <a:rPr lang="en-US" sz="1300" dirty="0">
                <a:solidFill>
                  <a:srgbClr val="BCD2E8"/>
                </a:solidFill>
                <a:latin typeface="Calibri" pitchFamily="34" charset="0"/>
                <a:ea typeface="Calibri" pitchFamily="34" charset="-122"/>
                <a:cs typeface="Calibri" pitchFamily="34" charset="-120"/>
              </a:rPr>
              <a:t>Programming II  ·  Prof. Martin Sonntag  ·  Hochschule Hamm-Lippstadt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FFFFFF"/>
          </a:solidFill>
          <a:ln/>
        </p:spPr>
        <p:txBody>
          <a:bodyPr/>
          <a:lstStyle/>
          <a:p>
            <a:endParaRPr lang="LID4096"/>
          </a:p>
        </p:txBody>
      </p:sp>
      <p:sp>
        <p:nvSpPr>
          <p:cNvPr id="3" name="Shape 1"/>
          <p:cNvSpPr/>
          <p:nvPr/>
        </p:nvSpPr>
        <p:spPr>
          <a:xfrm>
            <a:off x="0" y="0"/>
            <a:ext cx="201168" cy="1371600"/>
          </a:xfrm>
          <a:prstGeom prst="rect">
            <a:avLst/>
          </a:prstGeom>
          <a:solidFill>
            <a:srgbClr val="0FB5D6"/>
          </a:solidFill>
          <a:ln/>
        </p:spPr>
        <p:txBody>
          <a:bodyPr/>
          <a:lstStyle/>
          <a:p>
            <a:endParaRPr lang="LID4096"/>
          </a:p>
        </p:txBody>
      </p:sp>
      <p:sp>
        <p:nvSpPr>
          <p:cNvPr id="4" name="Text 2"/>
          <p:cNvSpPr/>
          <p:nvPr/>
        </p:nvSpPr>
        <p:spPr>
          <a:xfrm>
            <a:off x="640080" y="310896"/>
            <a:ext cx="10058400" cy="292608"/>
          </a:xfrm>
          <a:prstGeom prst="rect">
            <a:avLst/>
          </a:prstGeom>
          <a:noFill/>
          <a:ln/>
        </p:spPr>
        <p:txBody>
          <a:bodyPr wrap="square" lIns="0" tIns="0" rIns="0" bIns="0" rtlCol="0" anchor="ctr"/>
          <a:lstStyle/>
          <a:p>
            <a:pPr marL="0" indent="0">
              <a:buNone/>
            </a:pPr>
            <a:r>
              <a:rPr lang="en-US" sz="1200" b="1" kern="0" spc="300" dirty="0">
                <a:solidFill>
                  <a:srgbClr val="1565C0"/>
                </a:solidFill>
                <a:latin typeface="Trebuchet MS" pitchFamily="34" charset="0"/>
                <a:ea typeface="Trebuchet MS" pitchFamily="34" charset="-122"/>
                <a:cs typeface="Trebuchet MS" pitchFamily="34" charset="-120"/>
              </a:rPr>
              <a:t>OBJECTIVE</a:t>
            </a:r>
            <a:endParaRPr lang="en-US" sz="1200" dirty="0"/>
          </a:p>
        </p:txBody>
      </p:sp>
      <p:sp>
        <p:nvSpPr>
          <p:cNvPr id="5" name="Text 3"/>
          <p:cNvSpPr/>
          <p:nvPr/>
        </p:nvSpPr>
        <p:spPr>
          <a:xfrm>
            <a:off x="640080" y="566928"/>
            <a:ext cx="10972800" cy="640080"/>
          </a:xfrm>
          <a:prstGeom prst="rect">
            <a:avLst/>
          </a:prstGeom>
          <a:noFill/>
          <a:ln/>
        </p:spPr>
        <p:txBody>
          <a:bodyPr wrap="square" lIns="0" tIns="0" rIns="0" bIns="0" rtlCol="0" anchor="ctr"/>
          <a:lstStyle/>
          <a:p>
            <a:pPr marL="0" indent="0">
              <a:buNone/>
            </a:pPr>
            <a:r>
              <a:rPr lang="en-US" sz="2800" b="1" dirty="0">
                <a:solidFill>
                  <a:srgbClr val="0E2A47"/>
                </a:solidFill>
                <a:latin typeface="Trebuchet MS" pitchFamily="34" charset="0"/>
                <a:ea typeface="Trebuchet MS" pitchFamily="34" charset="-122"/>
                <a:cs typeface="Trebuchet MS" pitchFamily="34" charset="-120"/>
              </a:rPr>
              <a:t>Demonstrating a virtual smart factory</a:t>
            </a:r>
            <a:endParaRPr lang="en-US" sz="2800" dirty="0"/>
          </a:p>
        </p:txBody>
      </p:sp>
      <p:sp>
        <p:nvSpPr>
          <p:cNvPr id="6" name="Text 4"/>
          <p:cNvSpPr/>
          <p:nvPr/>
        </p:nvSpPr>
        <p:spPr>
          <a:xfrm>
            <a:off x="640080" y="1554480"/>
            <a:ext cx="6400800" cy="1188720"/>
          </a:xfrm>
          <a:prstGeom prst="rect">
            <a:avLst/>
          </a:prstGeom>
          <a:noFill/>
          <a:ln/>
        </p:spPr>
        <p:txBody>
          <a:bodyPr wrap="square" lIns="0" tIns="0" rIns="0" bIns="0" rtlCol="0" anchor="ctr"/>
          <a:lstStyle/>
          <a:p>
            <a:pPr marL="0" indent="0">
              <a:lnSpc>
                <a:spcPct val="118000"/>
              </a:lnSpc>
              <a:buNone/>
            </a:pPr>
            <a:r>
              <a:rPr lang="en-US" sz="1800" dirty="0">
                <a:solidFill>
                  <a:srgbClr val="1F2D3D"/>
                </a:solidFill>
                <a:latin typeface="Calibri" pitchFamily="34" charset="0"/>
                <a:ea typeface="Calibri" pitchFamily="34" charset="-122"/>
                <a:cs typeface="Calibri" pitchFamily="34" charset="-120"/>
              </a:rPr>
              <a:t>Show how industrial sensors monitor machine health, predict failures, and intelligently schedule manufacturing jobs in a live Industry 4.0 simulation.</a:t>
            </a:r>
            <a:endParaRPr lang="en-US" sz="1800" dirty="0"/>
          </a:p>
        </p:txBody>
      </p:sp>
      <p:sp>
        <p:nvSpPr>
          <p:cNvPr id="7" name="Shape 5"/>
          <p:cNvSpPr/>
          <p:nvPr/>
        </p:nvSpPr>
        <p:spPr>
          <a:xfrm>
            <a:off x="640080" y="2971800"/>
            <a:ext cx="6400800" cy="777240"/>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8" name="Shape 6"/>
          <p:cNvSpPr/>
          <p:nvPr/>
        </p:nvSpPr>
        <p:spPr>
          <a:xfrm>
            <a:off x="640080" y="2971800"/>
            <a:ext cx="91440" cy="777240"/>
          </a:xfrm>
          <a:prstGeom prst="rect">
            <a:avLst/>
          </a:prstGeom>
          <a:solidFill>
            <a:srgbClr val="0FB5D6"/>
          </a:solidFill>
          <a:ln/>
        </p:spPr>
        <p:txBody>
          <a:bodyPr/>
          <a:lstStyle/>
          <a:p>
            <a:endParaRPr lang="LID4096"/>
          </a:p>
        </p:txBody>
      </p:sp>
      <p:sp>
        <p:nvSpPr>
          <p:cNvPr id="9" name="Text 7"/>
          <p:cNvSpPr/>
          <p:nvPr/>
        </p:nvSpPr>
        <p:spPr>
          <a:xfrm>
            <a:off x="868680" y="2971800"/>
            <a:ext cx="731520" cy="777240"/>
          </a:xfrm>
          <a:prstGeom prst="rect">
            <a:avLst/>
          </a:prstGeom>
          <a:noFill/>
          <a:ln/>
        </p:spPr>
        <p:txBody>
          <a:bodyPr wrap="square" lIns="0" tIns="0" rIns="0" bIns="0" rtlCol="0" anchor="ctr"/>
          <a:lstStyle/>
          <a:p>
            <a:pPr marL="0" indent="0" algn="ctr">
              <a:buNone/>
            </a:pPr>
            <a:r>
              <a:rPr lang="en-US" sz="2600" b="1" dirty="0">
                <a:solidFill>
                  <a:srgbClr val="1565C0"/>
                </a:solidFill>
                <a:latin typeface="Trebuchet MS" pitchFamily="34" charset="0"/>
                <a:ea typeface="Trebuchet MS" pitchFamily="34" charset="-122"/>
                <a:cs typeface="Trebuchet MS" pitchFamily="34" charset="-120"/>
              </a:rPr>
              <a:t>01</a:t>
            </a:r>
            <a:endParaRPr lang="en-US" sz="2600" dirty="0"/>
          </a:p>
        </p:txBody>
      </p:sp>
      <p:sp>
        <p:nvSpPr>
          <p:cNvPr id="10" name="Text 8"/>
          <p:cNvSpPr/>
          <p:nvPr/>
        </p:nvSpPr>
        <p:spPr>
          <a:xfrm>
            <a:off x="1691640" y="2971800"/>
            <a:ext cx="5166360" cy="777240"/>
          </a:xfrm>
          <a:prstGeom prst="rect">
            <a:avLst/>
          </a:prstGeom>
          <a:noFill/>
          <a:ln/>
        </p:spPr>
        <p:txBody>
          <a:bodyPr wrap="square" lIns="0" tIns="0" rIns="0" bIns="0" rtlCol="0" anchor="ctr"/>
          <a:lstStyle/>
          <a:p>
            <a:pPr marL="0" indent="0">
              <a:buNone/>
            </a:pPr>
            <a:r>
              <a:rPr lang="en-US" sz="1500" b="1" dirty="0">
                <a:solidFill>
                  <a:srgbClr val="0E2A47"/>
                </a:solidFill>
                <a:latin typeface="Trebuchet MS" pitchFamily="34" charset="0"/>
                <a:ea typeface="Trebuchet MS" pitchFamily="34" charset="-122"/>
                <a:cs typeface="Trebuchet MS" pitchFamily="34" charset="-120"/>
              </a:rPr>
              <a:t>Monitor   </a:t>
            </a:r>
            <a:r>
              <a:rPr lang="en-US" sz="1350" dirty="0">
                <a:solidFill>
                  <a:srgbClr val="5C6B7C"/>
                </a:solidFill>
                <a:latin typeface="Calibri" pitchFamily="34" charset="0"/>
                <a:ea typeface="Calibri" pitchFamily="34" charset="-122"/>
                <a:cs typeface="Calibri" pitchFamily="34" charset="-120"/>
              </a:rPr>
              <a:t>Track temperature and vibration in real time</a:t>
            </a:r>
            <a:endParaRPr lang="en-US" sz="1500" dirty="0"/>
          </a:p>
        </p:txBody>
      </p:sp>
      <p:sp>
        <p:nvSpPr>
          <p:cNvPr id="11" name="Shape 9"/>
          <p:cNvSpPr/>
          <p:nvPr/>
        </p:nvSpPr>
        <p:spPr>
          <a:xfrm>
            <a:off x="640080" y="3913632"/>
            <a:ext cx="6400800" cy="777240"/>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12" name="Shape 10"/>
          <p:cNvSpPr/>
          <p:nvPr/>
        </p:nvSpPr>
        <p:spPr>
          <a:xfrm>
            <a:off x="640080" y="3913632"/>
            <a:ext cx="91440" cy="777240"/>
          </a:xfrm>
          <a:prstGeom prst="rect">
            <a:avLst/>
          </a:prstGeom>
          <a:solidFill>
            <a:srgbClr val="0FB5D6"/>
          </a:solidFill>
          <a:ln/>
        </p:spPr>
        <p:txBody>
          <a:bodyPr/>
          <a:lstStyle/>
          <a:p>
            <a:endParaRPr lang="LID4096"/>
          </a:p>
        </p:txBody>
      </p:sp>
      <p:sp>
        <p:nvSpPr>
          <p:cNvPr id="13" name="Text 11"/>
          <p:cNvSpPr/>
          <p:nvPr/>
        </p:nvSpPr>
        <p:spPr>
          <a:xfrm>
            <a:off x="868680" y="3913632"/>
            <a:ext cx="731520" cy="777240"/>
          </a:xfrm>
          <a:prstGeom prst="rect">
            <a:avLst/>
          </a:prstGeom>
          <a:noFill/>
          <a:ln/>
        </p:spPr>
        <p:txBody>
          <a:bodyPr wrap="square" lIns="0" tIns="0" rIns="0" bIns="0" rtlCol="0" anchor="ctr"/>
          <a:lstStyle/>
          <a:p>
            <a:pPr marL="0" indent="0" algn="ctr">
              <a:buNone/>
            </a:pPr>
            <a:r>
              <a:rPr lang="en-US" sz="2600" b="1" dirty="0">
                <a:solidFill>
                  <a:srgbClr val="1565C0"/>
                </a:solidFill>
                <a:latin typeface="Trebuchet MS" pitchFamily="34" charset="0"/>
                <a:ea typeface="Trebuchet MS" pitchFamily="34" charset="-122"/>
                <a:cs typeface="Trebuchet MS" pitchFamily="34" charset="-120"/>
              </a:rPr>
              <a:t>02</a:t>
            </a:r>
            <a:endParaRPr lang="en-US" sz="2600" dirty="0"/>
          </a:p>
        </p:txBody>
      </p:sp>
      <p:sp>
        <p:nvSpPr>
          <p:cNvPr id="14" name="Text 12"/>
          <p:cNvSpPr/>
          <p:nvPr/>
        </p:nvSpPr>
        <p:spPr>
          <a:xfrm>
            <a:off x="1691640" y="3913632"/>
            <a:ext cx="5166360" cy="777240"/>
          </a:xfrm>
          <a:prstGeom prst="rect">
            <a:avLst/>
          </a:prstGeom>
          <a:noFill/>
          <a:ln/>
        </p:spPr>
        <p:txBody>
          <a:bodyPr wrap="square" lIns="0" tIns="0" rIns="0" bIns="0" rtlCol="0" anchor="ctr"/>
          <a:lstStyle/>
          <a:p>
            <a:pPr marL="0" indent="0">
              <a:buNone/>
            </a:pPr>
            <a:r>
              <a:rPr lang="en-US" sz="1500" b="1" dirty="0">
                <a:solidFill>
                  <a:srgbClr val="0E2A47"/>
                </a:solidFill>
                <a:latin typeface="Trebuchet MS" pitchFamily="34" charset="0"/>
                <a:ea typeface="Trebuchet MS" pitchFamily="34" charset="-122"/>
                <a:cs typeface="Trebuchet MS" pitchFamily="34" charset="-120"/>
              </a:rPr>
              <a:t>Predict   </a:t>
            </a:r>
            <a:r>
              <a:rPr lang="en-US" sz="1350" dirty="0">
                <a:solidFill>
                  <a:srgbClr val="5C6B7C"/>
                </a:solidFill>
                <a:latin typeface="Calibri" pitchFamily="34" charset="0"/>
                <a:ea typeface="Calibri" pitchFamily="34" charset="-122"/>
                <a:cs typeface="Calibri" pitchFamily="34" charset="-120"/>
              </a:rPr>
              <a:t>Calculate a health score and forecast failures</a:t>
            </a:r>
            <a:endParaRPr lang="en-US" sz="1500" dirty="0"/>
          </a:p>
        </p:txBody>
      </p:sp>
      <p:sp>
        <p:nvSpPr>
          <p:cNvPr id="15" name="Shape 13"/>
          <p:cNvSpPr/>
          <p:nvPr/>
        </p:nvSpPr>
        <p:spPr>
          <a:xfrm>
            <a:off x="640080" y="4855464"/>
            <a:ext cx="6400800" cy="777240"/>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16" name="Shape 14"/>
          <p:cNvSpPr/>
          <p:nvPr/>
        </p:nvSpPr>
        <p:spPr>
          <a:xfrm>
            <a:off x="640080" y="4855464"/>
            <a:ext cx="91440" cy="777240"/>
          </a:xfrm>
          <a:prstGeom prst="rect">
            <a:avLst/>
          </a:prstGeom>
          <a:solidFill>
            <a:srgbClr val="0FB5D6"/>
          </a:solidFill>
          <a:ln/>
        </p:spPr>
        <p:txBody>
          <a:bodyPr/>
          <a:lstStyle/>
          <a:p>
            <a:endParaRPr lang="LID4096"/>
          </a:p>
        </p:txBody>
      </p:sp>
      <p:sp>
        <p:nvSpPr>
          <p:cNvPr id="17" name="Text 15"/>
          <p:cNvSpPr/>
          <p:nvPr/>
        </p:nvSpPr>
        <p:spPr>
          <a:xfrm>
            <a:off x="868680" y="4855464"/>
            <a:ext cx="731520" cy="777240"/>
          </a:xfrm>
          <a:prstGeom prst="rect">
            <a:avLst/>
          </a:prstGeom>
          <a:noFill/>
          <a:ln/>
        </p:spPr>
        <p:txBody>
          <a:bodyPr wrap="square" lIns="0" tIns="0" rIns="0" bIns="0" rtlCol="0" anchor="ctr"/>
          <a:lstStyle/>
          <a:p>
            <a:pPr marL="0" indent="0" algn="ctr">
              <a:buNone/>
            </a:pPr>
            <a:r>
              <a:rPr lang="en-US" sz="2600" b="1" dirty="0">
                <a:solidFill>
                  <a:srgbClr val="1565C0"/>
                </a:solidFill>
                <a:latin typeface="Trebuchet MS" pitchFamily="34" charset="0"/>
                <a:ea typeface="Trebuchet MS" pitchFamily="34" charset="-122"/>
                <a:cs typeface="Trebuchet MS" pitchFamily="34" charset="-120"/>
              </a:rPr>
              <a:t>03</a:t>
            </a:r>
            <a:endParaRPr lang="en-US" sz="2600" dirty="0"/>
          </a:p>
        </p:txBody>
      </p:sp>
      <p:sp>
        <p:nvSpPr>
          <p:cNvPr id="18" name="Text 16"/>
          <p:cNvSpPr/>
          <p:nvPr/>
        </p:nvSpPr>
        <p:spPr>
          <a:xfrm>
            <a:off x="1691640" y="4855464"/>
            <a:ext cx="5166360" cy="777240"/>
          </a:xfrm>
          <a:prstGeom prst="rect">
            <a:avLst/>
          </a:prstGeom>
          <a:noFill/>
          <a:ln/>
        </p:spPr>
        <p:txBody>
          <a:bodyPr wrap="square" lIns="0" tIns="0" rIns="0" bIns="0" rtlCol="0" anchor="ctr"/>
          <a:lstStyle/>
          <a:p>
            <a:pPr marL="0" indent="0">
              <a:buNone/>
            </a:pPr>
            <a:r>
              <a:rPr lang="en-US" sz="1500" b="1" dirty="0">
                <a:solidFill>
                  <a:srgbClr val="0E2A47"/>
                </a:solidFill>
                <a:latin typeface="Trebuchet MS" pitchFamily="34" charset="0"/>
                <a:ea typeface="Trebuchet MS" pitchFamily="34" charset="-122"/>
                <a:cs typeface="Trebuchet MS" pitchFamily="34" charset="-120"/>
              </a:rPr>
              <a:t>Alert   </a:t>
            </a:r>
            <a:r>
              <a:rPr lang="en-US" sz="1350" dirty="0">
                <a:solidFill>
                  <a:srgbClr val="5C6B7C"/>
                </a:solidFill>
                <a:latin typeface="Calibri" pitchFamily="34" charset="0"/>
                <a:ea typeface="Calibri" pitchFamily="34" charset="-122"/>
                <a:cs typeface="Calibri" pitchFamily="34" charset="-120"/>
              </a:rPr>
              <a:t>Raise maintenance warnings before breakdowns</a:t>
            </a:r>
            <a:endParaRPr lang="en-US" sz="1500" dirty="0"/>
          </a:p>
        </p:txBody>
      </p:sp>
      <p:sp>
        <p:nvSpPr>
          <p:cNvPr id="19" name="Shape 17"/>
          <p:cNvSpPr/>
          <p:nvPr/>
        </p:nvSpPr>
        <p:spPr>
          <a:xfrm>
            <a:off x="640080" y="5797296"/>
            <a:ext cx="6400800" cy="777240"/>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20" name="Shape 18"/>
          <p:cNvSpPr/>
          <p:nvPr/>
        </p:nvSpPr>
        <p:spPr>
          <a:xfrm>
            <a:off x="640080" y="5797296"/>
            <a:ext cx="91440" cy="777240"/>
          </a:xfrm>
          <a:prstGeom prst="rect">
            <a:avLst/>
          </a:prstGeom>
          <a:solidFill>
            <a:srgbClr val="0FB5D6"/>
          </a:solidFill>
          <a:ln/>
        </p:spPr>
        <p:txBody>
          <a:bodyPr/>
          <a:lstStyle/>
          <a:p>
            <a:endParaRPr lang="LID4096"/>
          </a:p>
        </p:txBody>
      </p:sp>
      <p:sp>
        <p:nvSpPr>
          <p:cNvPr id="21" name="Text 19"/>
          <p:cNvSpPr/>
          <p:nvPr/>
        </p:nvSpPr>
        <p:spPr>
          <a:xfrm>
            <a:off x="868680" y="5797296"/>
            <a:ext cx="731520" cy="777240"/>
          </a:xfrm>
          <a:prstGeom prst="rect">
            <a:avLst/>
          </a:prstGeom>
          <a:noFill/>
          <a:ln/>
        </p:spPr>
        <p:txBody>
          <a:bodyPr wrap="square" lIns="0" tIns="0" rIns="0" bIns="0" rtlCol="0" anchor="ctr"/>
          <a:lstStyle/>
          <a:p>
            <a:pPr marL="0" indent="0" algn="ctr">
              <a:buNone/>
            </a:pPr>
            <a:r>
              <a:rPr lang="en-US" sz="2600" b="1" dirty="0">
                <a:solidFill>
                  <a:srgbClr val="1565C0"/>
                </a:solidFill>
                <a:latin typeface="Trebuchet MS" pitchFamily="34" charset="0"/>
                <a:ea typeface="Trebuchet MS" pitchFamily="34" charset="-122"/>
                <a:cs typeface="Trebuchet MS" pitchFamily="34" charset="-120"/>
              </a:rPr>
              <a:t>04</a:t>
            </a:r>
            <a:endParaRPr lang="en-US" sz="2600" dirty="0"/>
          </a:p>
        </p:txBody>
      </p:sp>
      <p:sp>
        <p:nvSpPr>
          <p:cNvPr id="22" name="Text 20"/>
          <p:cNvSpPr/>
          <p:nvPr/>
        </p:nvSpPr>
        <p:spPr>
          <a:xfrm>
            <a:off x="1691640" y="5797296"/>
            <a:ext cx="5166360" cy="777240"/>
          </a:xfrm>
          <a:prstGeom prst="rect">
            <a:avLst/>
          </a:prstGeom>
          <a:noFill/>
          <a:ln/>
        </p:spPr>
        <p:txBody>
          <a:bodyPr wrap="square" lIns="0" tIns="0" rIns="0" bIns="0" rtlCol="0" anchor="ctr"/>
          <a:lstStyle/>
          <a:p>
            <a:pPr marL="0" indent="0">
              <a:buNone/>
            </a:pPr>
            <a:r>
              <a:rPr lang="en-US" sz="1500" b="1" dirty="0">
                <a:solidFill>
                  <a:srgbClr val="0E2A47"/>
                </a:solidFill>
                <a:latin typeface="Trebuchet MS" pitchFamily="34" charset="0"/>
                <a:ea typeface="Trebuchet MS" pitchFamily="34" charset="-122"/>
                <a:cs typeface="Trebuchet MS" pitchFamily="34" charset="-120"/>
              </a:rPr>
              <a:t>Schedule   </a:t>
            </a:r>
            <a:r>
              <a:rPr lang="en-US" sz="1350" dirty="0">
                <a:solidFill>
                  <a:srgbClr val="5C6B7C"/>
                </a:solidFill>
                <a:latin typeface="Calibri" pitchFamily="34" charset="0"/>
                <a:ea typeface="Calibri" pitchFamily="34" charset="-122"/>
                <a:cs typeface="Calibri" pitchFamily="34" charset="-120"/>
              </a:rPr>
              <a:t>Assign jobs to the healthiest available machine</a:t>
            </a:r>
            <a:endParaRPr lang="en-US" sz="1500" dirty="0"/>
          </a:p>
        </p:txBody>
      </p:sp>
      <p:pic>
        <p:nvPicPr>
          <p:cNvPr id="23" name="Image 0" descr="images/factory2.jpg"/>
          <p:cNvPicPr>
            <a:picLocks noChangeAspect="1"/>
          </p:cNvPicPr>
          <p:nvPr/>
        </p:nvPicPr>
        <p:blipFill>
          <a:blip r:embed="rId3"/>
          <a:srcRect t="11423" b="11423"/>
          <a:stretch/>
        </p:blipFill>
        <p:spPr>
          <a:xfrm>
            <a:off x="7452360" y="1554480"/>
            <a:ext cx="4069080" cy="4709160"/>
          </a:xfrm>
          <a:prstGeom prst="rect">
            <a:avLst/>
          </a:prstGeom>
        </p:spPr>
      </p:pic>
      <p:sp>
        <p:nvSpPr>
          <p:cNvPr id="24" name="Shape 21"/>
          <p:cNvSpPr/>
          <p:nvPr/>
        </p:nvSpPr>
        <p:spPr>
          <a:xfrm>
            <a:off x="7452360" y="5486400"/>
            <a:ext cx="4069080" cy="777240"/>
          </a:xfrm>
          <a:prstGeom prst="rect">
            <a:avLst/>
          </a:prstGeom>
          <a:solidFill>
            <a:srgbClr val="0E2A47">
              <a:alpha val="88000"/>
            </a:srgbClr>
          </a:solidFill>
          <a:ln/>
        </p:spPr>
        <p:txBody>
          <a:bodyPr/>
          <a:lstStyle/>
          <a:p>
            <a:endParaRPr lang="LID4096"/>
          </a:p>
        </p:txBody>
      </p:sp>
      <p:sp>
        <p:nvSpPr>
          <p:cNvPr id="25" name="Text 22"/>
          <p:cNvSpPr/>
          <p:nvPr/>
        </p:nvSpPr>
        <p:spPr>
          <a:xfrm>
            <a:off x="7635240" y="5486400"/>
            <a:ext cx="3703320" cy="777240"/>
          </a:xfrm>
          <a:prstGeom prst="rect">
            <a:avLst/>
          </a:prstGeom>
          <a:noFill/>
          <a:ln/>
        </p:spPr>
        <p:txBody>
          <a:bodyPr wrap="square" lIns="0" tIns="0" rIns="0" bIns="0" rtlCol="0" anchor="ctr"/>
          <a:lstStyle/>
          <a:p>
            <a:pPr marL="0" indent="0">
              <a:buNone/>
            </a:pPr>
            <a:r>
              <a:rPr lang="en-US" sz="1250" i="1" dirty="0">
                <a:solidFill>
                  <a:srgbClr val="FFFFFF"/>
                </a:solidFill>
                <a:latin typeface="Calibri" pitchFamily="34" charset="0"/>
                <a:ea typeface="Calibri" pitchFamily="34" charset="-122"/>
                <a:cs typeface="Calibri" pitchFamily="34" charset="-120"/>
              </a:rPr>
              <a:t>Automated Industry 4.0 production line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FFFFFF"/>
          </a:solidFill>
          <a:ln/>
        </p:spPr>
        <p:txBody>
          <a:bodyPr/>
          <a:lstStyle/>
          <a:p>
            <a:endParaRPr lang="LID4096"/>
          </a:p>
        </p:txBody>
      </p:sp>
      <p:sp>
        <p:nvSpPr>
          <p:cNvPr id="3" name="Shape 1"/>
          <p:cNvSpPr/>
          <p:nvPr/>
        </p:nvSpPr>
        <p:spPr>
          <a:xfrm>
            <a:off x="0" y="0"/>
            <a:ext cx="201168" cy="1371600"/>
          </a:xfrm>
          <a:prstGeom prst="rect">
            <a:avLst/>
          </a:prstGeom>
          <a:solidFill>
            <a:srgbClr val="0FB5D6"/>
          </a:solidFill>
          <a:ln/>
        </p:spPr>
        <p:txBody>
          <a:bodyPr/>
          <a:lstStyle/>
          <a:p>
            <a:endParaRPr lang="LID4096"/>
          </a:p>
        </p:txBody>
      </p:sp>
      <p:sp>
        <p:nvSpPr>
          <p:cNvPr id="4" name="Text 2"/>
          <p:cNvSpPr/>
          <p:nvPr/>
        </p:nvSpPr>
        <p:spPr>
          <a:xfrm>
            <a:off x="640080" y="310896"/>
            <a:ext cx="10058400" cy="292608"/>
          </a:xfrm>
          <a:prstGeom prst="rect">
            <a:avLst/>
          </a:prstGeom>
          <a:noFill/>
          <a:ln/>
        </p:spPr>
        <p:txBody>
          <a:bodyPr wrap="square" lIns="0" tIns="0" rIns="0" bIns="0" rtlCol="0" anchor="ctr"/>
          <a:lstStyle/>
          <a:p>
            <a:pPr marL="0" indent="0">
              <a:buNone/>
            </a:pPr>
            <a:r>
              <a:rPr lang="en-US" sz="1200" b="1" kern="0" spc="300" dirty="0">
                <a:solidFill>
                  <a:srgbClr val="1565C0"/>
                </a:solidFill>
                <a:latin typeface="Trebuchet MS" pitchFamily="34" charset="0"/>
                <a:ea typeface="Trebuchet MS" pitchFamily="34" charset="-122"/>
                <a:cs typeface="Trebuchet MS" pitchFamily="34" charset="-120"/>
              </a:rPr>
              <a:t>SYSTEM ARCHITECTURE</a:t>
            </a:r>
            <a:endParaRPr lang="en-US" sz="1200" dirty="0"/>
          </a:p>
        </p:txBody>
      </p:sp>
      <p:sp>
        <p:nvSpPr>
          <p:cNvPr id="5" name="Text 3"/>
          <p:cNvSpPr/>
          <p:nvPr/>
        </p:nvSpPr>
        <p:spPr>
          <a:xfrm>
            <a:off x="640080" y="566928"/>
            <a:ext cx="10972800" cy="640080"/>
          </a:xfrm>
          <a:prstGeom prst="rect">
            <a:avLst/>
          </a:prstGeom>
          <a:noFill/>
          <a:ln/>
        </p:spPr>
        <p:txBody>
          <a:bodyPr wrap="square" lIns="0" tIns="0" rIns="0" bIns="0" rtlCol="0" anchor="ctr"/>
          <a:lstStyle/>
          <a:p>
            <a:pPr marL="0" indent="0">
              <a:buNone/>
            </a:pPr>
            <a:r>
              <a:rPr lang="en-US" sz="2800" b="1" dirty="0">
                <a:solidFill>
                  <a:srgbClr val="0E2A47"/>
                </a:solidFill>
                <a:latin typeface="Trebuchet MS" pitchFamily="34" charset="0"/>
                <a:ea typeface="Trebuchet MS" pitchFamily="34" charset="-122"/>
                <a:cs typeface="Trebuchet MS" pitchFamily="34" charset="-120"/>
              </a:rPr>
              <a:t>From sensors to smart decisions</a:t>
            </a:r>
            <a:endParaRPr lang="en-US" sz="2800" dirty="0"/>
          </a:p>
        </p:txBody>
      </p:sp>
      <p:sp>
        <p:nvSpPr>
          <p:cNvPr id="6" name="Shape 4"/>
          <p:cNvSpPr/>
          <p:nvPr/>
        </p:nvSpPr>
        <p:spPr>
          <a:xfrm>
            <a:off x="914400" y="1645920"/>
            <a:ext cx="10360152" cy="1783080"/>
          </a:xfrm>
          <a:prstGeom prst="rect">
            <a:avLst/>
          </a:prstGeom>
          <a:solidFill>
            <a:srgbClr val="0E2A47"/>
          </a:solidFill>
          <a:ln/>
          <a:effectLst>
            <a:outerShdw blurRad="114300" dist="38100" dir="5400000" algn="bl" rotWithShape="0">
              <a:srgbClr val="0E2A47">
                <a:alpha val="16000"/>
              </a:srgbClr>
            </a:outerShdw>
          </a:effectLst>
        </p:spPr>
        <p:txBody>
          <a:bodyPr/>
          <a:lstStyle/>
          <a:p>
            <a:endParaRPr lang="LID4096"/>
          </a:p>
        </p:txBody>
      </p:sp>
      <p:sp>
        <p:nvSpPr>
          <p:cNvPr id="7" name="Shape 5"/>
          <p:cNvSpPr/>
          <p:nvPr/>
        </p:nvSpPr>
        <p:spPr>
          <a:xfrm>
            <a:off x="914400" y="1645920"/>
            <a:ext cx="10360152" cy="502920"/>
          </a:xfrm>
          <a:prstGeom prst="rect">
            <a:avLst/>
          </a:prstGeom>
          <a:solidFill>
            <a:srgbClr val="13355C"/>
          </a:solidFill>
          <a:ln/>
        </p:spPr>
        <p:txBody>
          <a:bodyPr/>
          <a:lstStyle/>
          <a:p>
            <a:endParaRPr lang="LID4096"/>
          </a:p>
        </p:txBody>
      </p:sp>
      <p:sp>
        <p:nvSpPr>
          <p:cNvPr id="8" name="Text 6"/>
          <p:cNvSpPr/>
          <p:nvPr/>
        </p:nvSpPr>
        <p:spPr>
          <a:xfrm>
            <a:off x="1188720" y="1645920"/>
            <a:ext cx="9811512" cy="502920"/>
          </a:xfrm>
          <a:prstGeom prst="rect">
            <a:avLst/>
          </a:prstGeom>
          <a:noFill/>
          <a:ln/>
        </p:spPr>
        <p:txBody>
          <a:bodyPr wrap="square" lIns="0" tIns="0" rIns="0" bIns="0" rtlCol="0" anchor="ctr"/>
          <a:lstStyle/>
          <a:p>
            <a:pPr marL="0" indent="0">
              <a:buNone/>
            </a:pPr>
            <a:r>
              <a:rPr lang="en-US" sz="1400" b="1" kern="0" spc="100" dirty="0">
                <a:solidFill>
                  <a:srgbClr val="FFFFFF"/>
                </a:solidFill>
                <a:latin typeface="Trebuchet MS" pitchFamily="34" charset="0"/>
                <a:ea typeface="Trebuchet MS" pitchFamily="34" charset="-122"/>
                <a:cs typeface="Trebuchet MS" pitchFamily="34" charset="-120"/>
              </a:rPr>
              <a:t>SMART FACTORY ASSISTANT  ·  C++ / Object-Oriented</a:t>
            </a:r>
            <a:endParaRPr lang="en-US" sz="1400" dirty="0"/>
          </a:p>
        </p:txBody>
      </p:sp>
      <p:sp>
        <p:nvSpPr>
          <p:cNvPr id="9" name="Shape 7"/>
          <p:cNvSpPr/>
          <p:nvPr/>
        </p:nvSpPr>
        <p:spPr>
          <a:xfrm>
            <a:off x="1188720" y="2304288"/>
            <a:ext cx="3087624" cy="914400"/>
          </a:xfrm>
          <a:prstGeom prst="rect">
            <a:avLst/>
          </a:prstGeom>
          <a:solidFill>
            <a:srgbClr val="17406B"/>
          </a:solidFill>
          <a:ln w="12700">
            <a:solidFill>
              <a:srgbClr val="2C5F95"/>
            </a:solidFill>
            <a:prstDash val="solid"/>
          </a:ln>
        </p:spPr>
        <p:txBody>
          <a:bodyPr/>
          <a:lstStyle/>
          <a:p>
            <a:endParaRPr lang="LID4096"/>
          </a:p>
        </p:txBody>
      </p:sp>
      <p:sp>
        <p:nvSpPr>
          <p:cNvPr id="10" name="Text 8"/>
          <p:cNvSpPr/>
          <p:nvPr/>
        </p:nvSpPr>
        <p:spPr>
          <a:xfrm>
            <a:off x="1280160" y="2304288"/>
            <a:ext cx="2904744" cy="914400"/>
          </a:xfrm>
          <a:prstGeom prst="rect">
            <a:avLst/>
          </a:prstGeom>
          <a:noFill/>
          <a:ln/>
        </p:spPr>
        <p:txBody>
          <a:bodyPr wrap="square" lIns="0" tIns="0" rIns="0" bIns="0" rtlCol="0" anchor="ctr"/>
          <a:lstStyle/>
          <a:p>
            <a:pPr marL="0" indent="0" algn="ctr">
              <a:buNone/>
            </a:pPr>
            <a:r>
              <a:rPr lang="en-US" sz="1450" b="1" dirty="0">
                <a:solidFill>
                  <a:srgbClr val="FFFFFF"/>
                </a:solidFill>
                <a:latin typeface="Trebuchet MS" pitchFamily="34" charset="0"/>
                <a:ea typeface="Trebuchet MS" pitchFamily="34" charset="-122"/>
                <a:cs typeface="Trebuchet MS" pitchFamily="34" charset="-120"/>
              </a:rPr>
              <a:t>Dashboard</a:t>
            </a:r>
            <a:endParaRPr lang="en-US" sz="1450" dirty="0"/>
          </a:p>
        </p:txBody>
      </p:sp>
      <p:sp>
        <p:nvSpPr>
          <p:cNvPr id="11" name="Shape 9"/>
          <p:cNvSpPr/>
          <p:nvPr/>
        </p:nvSpPr>
        <p:spPr>
          <a:xfrm>
            <a:off x="4550664" y="2304288"/>
            <a:ext cx="3087624" cy="914400"/>
          </a:xfrm>
          <a:prstGeom prst="rect">
            <a:avLst/>
          </a:prstGeom>
          <a:solidFill>
            <a:srgbClr val="17406B"/>
          </a:solidFill>
          <a:ln w="12700">
            <a:solidFill>
              <a:srgbClr val="2C5F95"/>
            </a:solidFill>
            <a:prstDash val="solid"/>
          </a:ln>
        </p:spPr>
        <p:txBody>
          <a:bodyPr/>
          <a:lstStyle/>
          <a:p>
            <a:endParaRPr lang="LID4096"/>
          </a:p>
        </p:txBody>
      </p:sp>
      <p:sp>
        <p:nvSpPr>
          <p:cNvPr id="12" name="Text 10"/>
          <p:cNvSpPr/>
          <p:nvPr/>
        </p:nvSpPr>
        <p:spPr>
          <a:xfrm>
            <a:off x="4642104" y="2304288"/>
            <a:ext cx="2904744" cy="914400"/>
          </a:xfrm>
          <a:prstGeom prst="rect">
            <a:avLst/>
          </a:prstGeom>
          <a:noFill/>
          <a:ln/>
        </p:spPr>
        <p:txBody>
          <a:bodyPr wrap="square" lIns="0" tIns="0" rIns="0" bIns="0" rtlCol="0" anchor="ctr"/>
          <a:lstStyle/>
          <a:p>
            <a:pPr marL="0" indent="0" algn="ctr">
              <a:buNone/>
            </a:pPr>
            <a:r>
              <a:rPr lang="en-US" sz="1450" b="1" dirty="0">
                <a:solidFill>
                  <a:srgbClr val="FFFFFF"/>
                </a:solidFill>
                <a:latin typeface="Trebuchet MS" pitchFamily="34" charset="0"/>
                <a:ea typeface="Trebuchet MS" pitchFamily="34" charset="-122"/>
                <a:cs typeface="Trebuchet MS" pitchFamily="34" charset="-120"/>
              </a:rPr>
              <a:t>Predictive Maintenance</a:t>
            </a:r>
            <a:endParaRPr lang="en-US" sz="1450" dirty="0"/>
          </a:p>
        </p:txBody>
      </p:sp>
      <p:sp>
        <p:nvSpPr>
          <p:cNvPr id="13" name="Shape 11"/>
          <p:cNvSpPr/>
          <p:nvPr/>
        </p:nvSpPr>
        <p:spPr>
          <a:xfrm>
            <a:off x="7912608" y="2304288"/>
            <a:ext cx="3087624" cy="914400"/>
          </a:xfrm>
          <a:prstGeom prst="rect">
            <a:avLst/>
          </a:prstGeom>
          <a:solidFill>
            <a:srgbClr val="17406B"/>
          </a:solidFill>
          <a:ln w="12700">
            <a:solidFill>
              <a:srgbClr val="2C5F95"/>
            </a:solidFill>
            <a:prstDash val="solid"/>
          </a:ln>
        </p:spPr>
        <p:txBody>
          <a:bodyPr/>
          <a:lstStyle/>
          <a:p>
            <a:endParaRPr lang="LID4096"/>
          </a:p>
        </p:txBody>
      </p:sp>
      <p:sp>
        <p:nvSpPr>
          <p:cNvPr id="14" name="Text 12"/>
          <p:cNvSpPr/>
          <p:nvPr/>
        </p:nvSpPr>
        <p:spPr>
          <a:xfrm>
            <a:off x="8004048" y="2304288"/>
            <a:ext cx="2904744" cy="914400"/>
          </a:xfrm>
          <a:prstGeom prst="rect">
            <a:avLst/>
          </a:prstGeom>
          <a:noFill/>
          <a:ln/>
        </p:spPr>
        <p:txBody>
          <a:bodyPr wrap="square" lIns="0" tIns="0" rIns="0" bIns="0" rtlCol="0" anchor="ctr"/>
          <a:lstStyle/>
          <a:p>
            <a:pPr marL="0" indent="0" algn="ctr">
              <a:buNone/>
            </a:pPr>
            <a:r>
              <a:rPr lang="en-US" sz="1450" b="1" dirty="0">
                <a:solidFill>
                  <a:srgbClr val="FFFFFF"/>
                </a:solidFill>
                <a:latin typeface="Trebuchet MS" pitchFamily="34" charset="0"/>
                <a:ea typeface="Trebuchet MS" pitchFamily="34" charset="-122"/>
                <a:cs typeface="Trebuchet MS" pitchFamily="34" charset="-120"/>
              </a:rPr>
              <a:t>Intelligent Job Scheduler</a:t>
            </a:r>
            <a:endParaRPr lang="en-US" sz="1450" dirty="0"/>
          </a:p>
        </p:txBody>
      </p:sp>
      <p:sp>
        <p:nvSpPr>
          <p:cNvPr id="15" name="Shape 13"/>
          <p:cNvSpPr/>
          <p:nvPr/>
        </p:nvSpPr>
        <p:spPr>
          <a:xfrm>
            <a:off x="6072988" y="3429000"/>
            <a:ext cx="45720" cy="566928"/>
          </a:xfrm>
          <a:prstGeom prst="rect">
            <a:avLst/>
          </a:prstGeom>
          <a:solidFill>
            <a:srgbClr val="1565C0"/>
          </a:solidFill>
          <a:ln/>
        </p:spPr>
        <p:txBody>
          <a:bodyPr/>
          <a:lstStyle/>
          <a:p>
            <a:endParaRPr lang="LID4096"/>
          </a:p>
        </p:txBody>
      </p:sp>
      <p:sp>
        <p:nvSpPr>
          <p:cNvPr id="16" name="Shape 14"/>
          <p:cNvSpPr/>
          <p:nvPr/>
        </p:nvSpPr>
        <p:spPr>
          <a:xfrm>
            <a:off x="4312768" y="3502152"/>
            <a:ext cx="3566160" cy="420624"/>
          </a:xfrm>
          <a:prstGeom prst="rect">
            <a:avLst/>
          </a:prstGeom>
          <a:solidFill>
            <a:srgbClr val="0FB5D6"/>
          </a:solidFill>
          <a:ln/>
        </p:spPr>
        <p:txBody>
          <a:bodyPr/>
          <a:lstStyle/>
          <a:p>
            <a:endParaRPr lang="LID4096"/>
          </a:p>
        </p:txBody>
      </p:sp>
      <p:sp>
        <p:nvSpPr>
          <p:cNvPr id="17" name="Text 15"/>
          <p:cNvSpPr/>
          <p:nvPr/>
        </p:nvSpPr>
        <p:spPr>
          <a:xfrm>
            <a:off x="4312768" y="3502152"/>
            <a:ext cx="3566160" cy="420624"/>
          </a:xfrm>
          <a:prstGeom prst="rect">
            <a:avLst/>
          </a:prstGeom>
          <a:noFill/>
          <a:ln/>
        </p:spPr>
        <p:txBody>
          <a:bodyPr wrap="square" lIns="0" tIns="0" rIns="0" bIns="0" rtlCol="0" anchor="ctr"/>
          <a:lstStyle/>
          <a:p>
            <a:pPr marL="0" indent="0" algn="ctr">
              <a:buNone/>
            </a:pPr>
            <a:r>
              <a:rPr lang="en-US" sz="1250" b="1" dirty="0">
                <a:solidFill>
                  <a:srgbClr val="0E2A47"/>
                </a:solidFill>
                <a:latin typeface="Trebuchet MS" pitchFamily="34" charset="0"/>
                <a:ea typeface="Trebuchet MS" pitchFamily="34" charset="-122"/>
                <a:cs typeface="Trebuchet MS" pitchFamily="34" charset="-120"/>
              </a:rPr>
              <a:t>Serial / MQTT Communication</a:t>
            </a:r>
            <a:endParaRPr lang="en-US" sz="1250" dirty="0"/>
          </a:p>
        </p:txBody>
      </p:sp>
      <p:sp>
        <p:nvSpPr>
          <p:cNvPr id="18" name="Shape 16"/>
          <p:cNvSpPr/>
          <p:nvPr/>
        </p:nvSpPr>
        <p:spPr>
          <a:xfrm>
            <a:off x="914400" y="4754880"/>
            <a:ext cx="10360152" cy="1691640"/>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19" name="Shape 17"/>
          <p:cNvSpPr/>
          <p:nvPr/>
        </p:nvSpPr>
        <p:spPr>
          <a:xfrm>
            <a:off x="914400" y="4754880"/>
            <a:ext cx="10360152" cy="502920"/>
          </a:xfrm>
          <a:prstGeom prst="rect">
            <a:avLst/>
          </a:prstGeom>
          <a:solidFill>
            <a:srgbClr val="1565C0"/>
          </a:solidFill>
          <a:ln/>
        </p:spPr>
        <p:txBody>
          <a:bodyPr/>
          <a:lstStyle/>
          <a:p>
            <a:endParaRPr lang="LID4096"/>
          </a:p>
        </p:txBody>
      </p:sp>
      <p:sp>
        <p:nvSpPr>
          <p:cNvPr id="20" name="Text 18"/>
          <p:cNvSpPr/>
          <p:nvPr/>
        </p:nvSpPr>
        <p:spPr>
          <a:xfrm>
            <a:off x="1188720" y="4754880"/>
            <a:ext cx="9811512" cy="502920"/>
          </a:xfrm>
          <a:prstGeom prst="rect">
            <a:avLst/>
          </a:prstGeom>
          <a:noFill/>
          <a:ln/>
        </p:spPr>
        <p:txBody>
          <a:bodyPr wrap="square" lIns="0" tIns="0" rIns="0" bIns="0" rtlCol="0" anchor="ctr"/>
          <a:lstStyle/>
          <a:p>
            <a:pPr marL="0" indent="0">
              <a:buNone/>
            </a:pPr>
            <a:r>
              <a:rPr lang="en-US" sz="1400" b="1" kern="0" spc="100" dirty="0">
                <a:solidFill>
                  <a:srgbClr val="FFFFFF"/>
                </a:solidFill>
                <a:latin typeface="Trebuchet MS" pitchFamily="34" charset="0"/>
                <a:ea typeface="Trebuchet MS" pitchFamily="34" charset="-122"/>
                <a:cs typeface="Trebuchet MS" pitchFamily="34" charset="-120"/>
              </a:rPr>
              <a:t>ESP32  (Wokwi Simulator)</a:t>
            </a:r>
            <a:endParaRPr lang="en-US" sz="1400" dirty="0"/>
          </a:p>
        </p:txBody>
      </p:sp>
      <p:sp>
        <p:nvSpPr>
          <p:cNvPr id="21" name="Shape 19"/>
          <p:cNvSpPr/>
          <p:nvPr/>
        </p:nvSpPr>
        <p:spPr>
          <a:xfrm>
            <a:off x="1188720" y="5413248"/>
            <a:ext cx="1406652" cy="868680"/>
          </a:xfrm>
          <a:prstGeom prst="rect">
            <a:avLst/>
          </a:prstGeom>
          <a:solidFill>
            <a:srgbClr val="EEF4FB"/>
          </a:solidFill>
          <a:ln w="12700">
            <a:solidFill>
              <a:srgbClr val="D3E0EE"/>
            </a:solidFill>
            <a:prstDash val="solid"/>
          </a:ln>
        </p:spPr>
        <p:txBody>
          <a:bodyPr/>
          <a:lstStyle/>
          <a:p>
            <a:endParaRPr lang="LID4096"/>
          </a:p>
        </p:txBody>
      </p:sp>
      <p:sp>
        <p:nvSpPr>
          <p:cNvPr id="22" name="Text 20"/>
          <p:cNvSpPr/>
          <p:nvPr/>
        </p:nvSpPr>
        <p:spPr>
          <a:xfrm>
            <a:off x="1234440" y="5413248"/>
            <a:ext cx="1315212" cy="868680"/>
          </a:xfrm>
          <a:prstGeom prst="rect">
            <a:avLst/>
          </a:prstGeom>
          <a:noFill/>
          <a:ln/>
        </p:spPr>
        <p:txBody>
          <a:bodyPr wrap="square" lIns="0" tIns="0" rIns="0" bIns="0" rtlCol="0" anchor="ctr"/>
          <a:lstStyle/>
          <a:p>
            <a:pPr marL="0" indent="0" algn="ctr">
              <a:lnSpc>
                <a:spcPct val="95000"/>
              </a:lnSpc>
              <a:buNone/>
            </a:pPr>
            <a:r>
              <a:rPr lang="en-US" sz="1150" b="1" dirty="0">
                <a:solidFill>
                  <a:srgbClr val="0E2A47"/>
                </a:solidFill>
                <a:latin typeface="Calibri" pitchFamily="34" charset="0"/>
                <a:ea typeface="Calibri" pitchFamily="34" charset="-122"/>
                <a:cs typeface="Calibri" pitchFamily="34" charset="-120"/>
              </a:rPr>
              <a:t>DS18B20</a:t>
            </a:r>
            <a:endParaRPr lang="en-US" sz="1150" dirty="0"/>
          </a:p>
          <a:p>
            <a:pPr marL="0" indent="0" algn="ctr">
              <a:lnSpc>
                <a:spcPct val="95000"/>
              </a:lnSpc>
              <a:buNone/>
            </a:pPr>
            <a:r>
              <a:rPr lang="en-US" sz="1150" b="1" dirty="0">
                <a:solidFill>
                  <a:srgbClr val="0E2A47"/>
                </a:solidFill>
                <a:latin typeface="Calibri" pitchFamily="34" charset="0"/>
                <a:ea typeface="Calibri" pitchFamily="34" charset="-122"/>
                <a:cs typeface="Calibri" pitchFamily="34" charset="-120"/>
              </a:rPr>
              <a:t>Temperature</a:t>
            </a:r>
            <a:endParaRPr lang="en-US" sz="1150" dirty="0"/>
          </a:p>
        </p:txBody>
      </p:sp>
      <p:sp>
        <p:nvSpPr>
          <p:cNvPr id="23" name="Shape 21"/>
          <p:cNvSpPr/>
          <p:nvPr/>
        </p:nvSpPr>
        <p:spPr>
          <a:xfrm>
            <a:off x="2869692" y="5413248"/>
            <a:ext cx="1406652" cy="868680"/>
          </a:xfrm>
          <a:prstGeom prst="rect">
            <a:avLst/>
          </a:prstGeom>
          <a:solidFill>
            <a:srgbClr val="EEF4FB"/>
          </a:solidFill>
          <a:ln w="12700">
            <a:solidFill>
              <a:srgbClr val="D3E0EE"/>
            </a:solidFill>
            <a:prstDash val="solid"/>
          </a:ln>
        </p:spPr>
        <p:txBody>
          <a:bodyPr/>
          <a:lstStyle/>
          <a:p>
            <a:endParaRPr lang="LID4096"/>
          </a:p>
        </p:txBody>
      </p:sp>
      <p:sp>
        <p:nvSpPr>
          <p:cNvPr id="24" name="Text 22"/>
          <p:cNvSpPr/>
          <p:nvPr/>
        </p:nvSpPr>
        <p:spPr>
          <a:xfrm>
            <a:off x="2915412" y="5413248"/>
            <a:ext cx="1315212" cy="868680"/>
          </a:xfrm>
          <a:prstGeom prst="rect">
            <a:avLst/>
          </a:prstGeom>
          <a:noFill/>
          <a:ln/>
        </p:spPr>
        <p:txBody>
          <a:bodyPr wrap="square" lIns="0" tIns="0" rIns="0" bIns="0" rtlCol="0" anchor="ctr"/>
          <a:lstStyle/>
          <a:p>
            <a:pPr marL="0" indent="0" algn="ctr">
              <a:lnSpc>
                <a:spcPct val="95000"/>
              </a:lnSpc>
              <a:buNone/>
            </a:pPr>
            <a:r>
              <a:rPr lang="en-US" sz="1150" b="1" dirty="0">
                <a:solidFill>
                  <a:srgbClr val="0E2A47"/>
                </a:solidFill>
                <a:latin typeface="Calibri" pitchFamily="34" charset="0"/>
                <a:ea typeface="Calibri" pitchFamily="34" charset="-122"/>
                <a:cs typeface="Calibri" pitchFamily="34" charset="-120"/>
              </a:rPr>
              <a:t>Vibration</a:t>
            </a:r>
            <a:endParaRPr lang="en-US" sz="1150" dirty="0"/>
          </a:p>
          <a:p>
            <a:pPr marL="0" indent="0" algn="ctr">
              <a:lnSpc>
                <a:spcPct val="95000"/>
              </a:lnSpc>
              <a:buNone/>
            </a:pPr>
            <a:r>
              <a:rPr lang="en-US" sz="1150" b="1" dirty="0">
                <a:solidFill>
                  <a:srgbClr val="0E2A47"/>
                </a:solidFill>
                <a:latin typeface="Calibri" pitchFamily="34" charset="0"/>
                <a:ea typeface="Calibri" pitchFamily="34" charset="-122"/>
                <a:cs typeface="Calibri" pitchFamily="34" charset="-120"/>
              </a:rPr>
              <a:t>Sensor</a:t>
            </a:r>
            <a:endParaRPr lang="en-US" sz="1150" dirty="0"/>
          </a:p>
        </p:txBody>
      </p:sp>
      <p:sp>
        <p:nvSpPr>
          <p:cNvPr id="25" name="Shape 23"/>
          <p:cNvSpPr/>
          <p:nvPr/>
        </p:nvSpPr>
        <p:spPr>
          <a:xfrm>
            <a:off x="4550664" y="5413248"/>
            <a:ext cx="1406652" cy="868680"/>
          </a:xfrm>
          <a:prstGeom prst="rect">
            <a:avLst/>
          </a:prstGeom>
          <a:solidFill>
            <a:srgbClr val="EEF4FB"/>
          </a:solidFill>
          <a:ln w="12700">
            <a:solidFill>
              <a:srgbClr val="D3E0EE"/>
            </a:solidFill>
            <a:prstDash val="solid"/>
          </a:ln>
        </p:spPr>
        <p:txBody>
          <a:bodyPr/>
          <a:lstStyle/>
          <a:p>
            <a:endParaRPr lang="LID4096"/>
          </a:p>
        </p:txBody>
      </p:sp>
      <p:sp>
        <p:nvSpPr>
          <p:cNvPr id="26" name="Text 24"/>
          <p:cNvSpPr/>
          <p:nvPr/>
        </p:nvSpPr>
        <p:spPr>
          <a:xfrm>
            <a:off x="4596384" y="5413248"/>
            <a:ext cx="1315212" cy="868680"/>
          </a:xfrm>
          <a:prstGeom prst="rect">
            <a:avLst/>
          </a:prstGeom>
          <a:noFill/>
          <a:ln/>
        </p:spPr>
        <p:txBody>
          <a:bodyPr wrap="square" lIns="0" tIns="0" rIns="0" bIns="0" rtlCol="0" anchor="ctr"/>
          <a:lstStyle/>
          <a:p>
            <a:pPr marL="0" indent="0" algn="ctr">
              <a:lnSpc>
                <a:spcPct val="95000"/>
              </a:lnSpc>
              <a:buNone/>
            </a:pPr>
            <a:r>
              <a:rPr lang="en-US" sz="1150" b="1" dirty="0">
                <a:solidFill>
                  <a:srgbClr val="0E2A47"/>
                </a:solidFill>
                <a:latin typeface="Calibri" pitchFamily="34" charset="0"/>
                <a:ea typeface="Calibri" pitchFamily="34" charset="-122"/>
                <a:cs typeface="Calibri" pitchFamily="34" charset="-120"/>
              </a:rPr>
              <a:t>RGB Status</a:t>
            </a:r>
            <a:endParaRPr lang="en-US" sz="1150" dirty="0"/>
          </a:p>
          <a:p>
            <a:pPr marL="0" indent="0" algn="ctr">
              <a:lnSpc>
                <a:spcPct val="95000"/>
              </a:lnSpc>
              <a:buNone/>
            </a:pPr>
            <a:r>
              <a:rPr lang="en-US" sz="1150" b="1" dirty="0">
                <a:solidFill>
                  <a:srgbClr val="0E2A47"/>
                </a:solidFill>
                <a:latin typeface="Calibri" pitchFamily="34" charset="0"/>
                <a:ea typeface="Calibri" pitchFamily="34" charset="-122"/>
                <a:cs typeface="Calibri" pitchFamily="34" charset="-120"/>
              </a:rPr>
              <a:t>LED</a:t>
            </a:r>
            <a:endParaRPr lang="en-US" sz="1150" dirty="0"/>
          </a:p>
        </p:txBody>
      </p:sp>
      <p:sp>
        <p:nvSpPr>
          <p:cNvPr id="27" name="Shape 25"/>
          <p:cNvSpPr/>
          <p:nvPr/>
        </p:nvSpPr>
        <p:spPr>
          <a:xfrm>
            <a:off x="6231636" y="5413248"/>
            <a:ext cx="1406652" cy="868680"/>
          </a:xfrm>
          <a:prstGeom prst="rect">
            <a:avLst/>
          </a:prstGeom>
          <a:solidFill>
            <a:srgbClr val="EEF4FB"/>
          </a:solidFill>
          <a:ln w="12700">
            <a:solidFill>
              <a:srgbClr val="D3E0EE"/>
            </a:solidFill>
            <a:prstDash val="solid"/>
          </a:ln>
        </p:spPr>
        <p:txBody>
          <a:bodyPr/>
          <a:lstStyle/>
          <a:p>
            <a:endParaRPr lang="LID4096"/>
          </a:p>
        </p:txBody>
      </p:sp>
      <p:sp>
        <p:nvSpPr>
          <p:cNvPr id="28" name="Text 26"/>
          <p:cNvSpPr/>
          <p:nvPr/>
        </p:nvSpPr>
        <p:spPr>
          <a:xfrm>
            <a:off x="6277356" y="5413248"/>
            <a:ext cx="1315212" cy="868680"/>
          </a:xfrm>
          <a:prstGeom prst="rect">
            <a:avLst/>
          </a:prstGeom>
          <a:noFill/>
          <a:ln/>
        </p:spPr>
        <p:txBody>
          <a:bodyPr wrap="square" lIns="0" tIns="0" rIns="0" bIns="0" rtlCol="0" anchor="ctr"/>
          <a:lstStyle/>
          <a:p>
            <a:pPr marL="0" indent="0" algn="ctr">
              <a:lnSpc>
                <a:spcPct val="95000"/>
              </a:lnSpc>
              <a:buNone/>
            </a:pPr>
            <a:r>
              <a:rPr lang="en-US" sz="1150" b="1" dirty="0">
                <a:solidFill>
                  <a:srgbClr val="0E2A47"/>
                </a:solidFill>
                <a:latin typeface="Calibri" pitchFamily="34" charset="0"/>
                <a:ea typeface="Calibri" pitchFamily="34" charset="-122"/>
                <a:cs typeface="Calibri" pitchFamily="34" charset="-120"/>
              </a:rPr>
              <a:t>OLED</a:t>
            </a:r>
            <a:endParaRPr lang="en-US" sz="1150" dirty="0"/>
          </a:p>
          <a:p>
            <a:pPr marL="0" indent="0" algn="ctr">
              <a:lnSpc>
                <a:spcPct val="95000"/>
              </a:lnSpc>
              <a:buNone/>
            </a:pPr>
            <a:r>
              <a:rPr lang="en-US" sz="1150" b="1" dirty="0">
                <a:solidFill>
                  <a:srgbClr val="0E2A47"/>
                </a:solidFill>
                <a:latin typeface="Calibri" pitchFamily="34" charset="0"/>
                <a:ea typeface="Calibri" pitchFamily="34" charset="-122"/>
                <a:cs typeface="Calibri" pitchFamily="34" charset="-120"/>
              </a:rPr>
              <a:t>Display</a:t>
            </a:r>
            <a:endParaRPr lang="en-US" sz="1150" dirty="0"/>
          </a:p>
        </p:txBody>
      </p:sp>
      <p:sp>
        <p:nvSpPr>
          <p:cNvPr id="29" name="Shape 27"/>
          <p:cNvSpPr/>
          <p:nvPr/>
        </p:nvSpPr>
        <p:spPr>
          <a:xfrm>
            <a:off x="7912608" y="5413248"/>
            <a:ext cx="1406652" cy="868680"/>
          </a:xfrm>
          <a:prstGeom prst="rect">
            <a:avLst/>
          </a:prstGeom>
          <a:solidFill>
            <a:srgbClr val="EEF4FB"/>
          </a:solidFill>
          <a:ln w="12700">
            <a:solidFill>
              <a:srgbClr val="D3E0EE"/>
            </a:solidFill>
            <a:prstDash val="solid"/>
          </a:ln>
        </p:spPr>
        <p:txBody>
          <a:bodyPr/>
          <a:lstStyle/>
          <a:p>
            <a:endParaRPr lang="LID4096"/>
          </a:p>
        </p:txBody>
      </p:sp>
      <p:sp>
        <p:nvSpPr>
          <p:cNvPr id="30" name="Text 28"/>
          <p:cNvSpPr/>
          <p:nvPr/>
        </p:nvSpPr>
        <p:spPr>
          <a:xfrm>
            <a:off x="7958328" y="5413248"/>
            <a:ext cx="1315212" cy="868680"/>
          </a:xfrm>
          <a:prstGeom prst="rect">
            <a:avLst/>
          </a:prstGeom>
          <a:noFill/>
          <a:ln/>
        </p:spPr>
        <p:txBody>
          <a:bodyPr wrap="square" lIns="0" tIns="0" rIns="0" bIns="0" rtlCol="0" anchor="ctr"/>
          <a:lstStyle/>
          <a:p>
            <a:pPr marL="0" indent="0" algn="ctr">
              <a:lnSpc>
                <a:spcPct val="95000"/>
              </a:lnSpc>
              <a:buNone/>
            </a:pPr>
            <a:r>
              <a:rPr lang="en-US" sz="1150" b="1" dirty="0">
                <a:solidFill>
                  <a:srgbClr val="0E2A47"/>
                </a:solidFill>
                <a:latin typeface="Calibri" pitchFamily="34" charset="0"/>
                <a:ea typeface="Calibri" pitchFamily="34" charset="-122"/>
                <a:cs typeface="Calibri" pitchFamily="34" charset="-120"/>
              </a:rPr>
              <a:t>Servo</a:t>
            </a:r>
            <a:endParaRPr lang="en-US" sz="1150" dirty="0"/>
          </a:p>
          <a:p>
            <a:pPr marL="0" indent="0" algn="ctr">
              <a:lnSpc>
                <a:spcPct val="95000"/>
              </a:lnSpc>
              <a:buNone/>
            </a:pPr>
            <a:r>
              <a:rPr lang="en-US" sz="1150" b="1" dirty="0">
                <a:solidFill>
                  <a:srgbClr val="0E2A47"/>
                </a:solidFill>
                <a:latin typeface="Calibri" pitchFamily="34" charset="0"/>
                <a:ea typeface="Calibri" pitchFamily="34" charset="-122"/>
                <a:cs typeface="Calibri" pitchFamily="34" charset="-120"/>
              </a:rPr>
              <a:t>Motor</a:t>
            </a:r>
            <a:endParaRPr lang="en-US" sz="1150" dirty="0"/>
          </a:p>
        </p:txBody>
      </p:sp>
      <p:sp>
        <p:nvSpPr>
          <p:cNvPr id="31" name="Shape 29"/>
          <p:cNvSpPr/>
          <p:nvPr/>
        </p:nvSpPr>
        <p:spPr>
          <a:xfrm>
            <a:off x="9593580" y="5413248"/>
            <a:ext cx="1406652" cy="868680"/>
          </a:xfrm>
          <a:prstGeom prst="rect">
            <a:avLst/>
          </a:prstGeom>
          <a:solidFill>
            <a:srgbClr val="EEF4FB"/>
          </a:solidFill>
          <a:ln w="12700">
            <a:solidFill>
              <a:srgbClr val="D3E0EE"/>
            </a:solidFill>
            <a:prstDash val="solid"/>
          </a:ln>
        </p:spPr>
        <p:txBody>
          <a:bodyPr/>
          <a:lstStyle/>
          <a:p>
            <a:endParaRPr lang="LID4096"/>
          </a:p>
        </p:txBody>
      </p:sp>
      <p:sp>
        <p:nvSpPr>
          <p:cNvPr id="32" name="Text 30"/>
          <p:cNvSpPr/>
          <p:nvPr/>
        </p:nvSpPr>
        <p:spPr>
          <a:xfrm>
            <a:off x="9639300" y="5413248"/>
            <a:ext cx="1315212" cy="868680"/>
          </a:xfrm>
          <a:prstGeom prst="rect">
            <a:avLst/>
          </a:prstGeom>
          <a:noFill/>
          <a:ln/>
        </p:spPr>
        <p:txBody>
          <a:bodyPr wrap="square" lIns="0" tIns="0" rIns="0" bIns="0" rtlCol="0" anchor="ctr"/>
          <a:lstStyle/>
          <a:p>
            <a:pPr marL="0" indent="0" algn="ctr">
              <a:lnSpc>
                <a:spcPct val="95000"/>
              </a:lnSpc>
              <a:buNone/>
            </a:pPr>
            <a:r>
              <a:rPr lang="en-US" sz="1150" b="1" dirty="0">
                <a:solidFill>
                  <a:srgbClr val="0E2A47"/>
                </a:solidFill>
                <a:latin typeface="Calibri" pitchFamily="34" charset="0"/>
                <a:ea typeface="Calibri" pitchFamily="34" charset="-122"/>
                <a:cs typeface="Calibri" pitchFamily="34" charset="-120"/>
              </a:rPr>
              <a:t>Buzzer</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9F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FFFFFF"/>
          </a:solidFill>
          <a:ln/>
        </p:spPr>
        <p:txBody>
          <a:bodyPr/>
          <a:lstStyle/>
          <a:p>
            <a:endParaRPr lang="LID4096"/>
          </a:p>
        </p:txBody>
      </p:sp>
      <p:sp>
        <p:nvSpPr>
          <p:cNvPr id="3" name="Shape 1"/>
          <p:cNvSpPr/>
          <p:nvPr/>
        </p:nvSpPr>
        <p:spPr>
          <a:xfrm>
            <a:off x="0" y="0"/>
            <a:ext cx="201168" cy="1371600"/>
          </a:xfrm>
          <a:prstGeom prst="rect">
            <a:avLst/>
          </a:prstGeom>
          <a:solidFill>
            <a:srgbClr val="0FB5D6"/>
          </a:solidFill>
          <a:ln/>
        </p:spPr>
        <p:txBody>
          <a:bodyPr/>
          <a:lstStyle/>
          <a:p>
            <a:endParaRPr lang="LID4096"/>
          </a:p>
        </p:txBody>
      </p:sp>
      <p:sp>
        <p:nvSpPr>
          <p:cNvPr id="4" name="Text 2"/>
          <p:cNvSpPr/>
          <p:nvPr/>
        </p:nvSpPr>
        <p:spPr>
          <a:xfrm>
            <a:off x="640080" y="310896"/>
            <a:ext cx="10058400" cy="292608"/>
          </a:xfrm>
          <a:prstGeom prst="rect">
            <a:avLst/>
          </a:prstGeom>
          <a:noFill/>
          <a:ln/>
        </p:spPr>
        <p:txBody>
          <a:bodyPr wrap="square" lIns="0" tIns="0" rIns="0" bIns="0" rtlCol="0" anchor="ctr"/>
          <a:lstStyle/>
          <a:p>
            <a:pPr marL="0" indent="0">
              <a:buNone/>
            </a:pPr>
            <a:r>
              <a:rPr lang="en-US" sz="1200" b="1" kern="0" spc="300" dirty="0">
                <a:solidFill>
                  <a:srgbClr val="1565C0"/>
                </a:solidFill>
                <a:latin typeface="Trebuchet MS" pitchFamily="34" charset="0"/>
                <a:ea typeface="Trebuchet MS" pitchFamily="34" charset="-122"/>
                <a:cs typeface="Trebuchet MS" pitchFamily="34" charset="-120"/>
              </a:rPr>
              <a:t>WOKWI WIRING</a:t>
            </a:r>
            <a:endParaRPr lang="en-US" sz="1200" dirty="0"/>
          </a:p>
        </p:txBody>
      </p:sp>
      <p:sp>
        <p:nvSpPr>
          <p:cNvPr id="5" name="Text 3"/>
          <p:cNvSpPr/>
          <p:nvPr/>
        </p:nvSpPr>
        <p:spPr>
          <a:xfrm>
            <a:off x="640080" y="566928"/>
            <a:ext cx="10972800" cy="640080"/>
          </a:xfrm>
          <a:prstGeom prst="rect">
            <a:avLst/>
          </a:prstGeom>
          <a:noFill/>
          <a:ln/>
        </p:spPr>
        <p:txBody>
          <a:bodyPr wrap="square" lIns="0" tIns="0" rIns="0" bIns="0" rtlCol="0" anchor="ctr"/>
          <a:lstStyle/>
          <a:p>
            <a:pPr marL="0" indent="0">
              <a:buNone/>
            </a:pPr>
            <a:r>
              <a:rPr lang="en-US" sz="2800" b="1" dirty="0">
                <a:solidFill>
                  <a:srgbClr val="0E2A47"/>
                </a:solidFill>
                <a:latin typeface="Trebuchet MS" pitchFamily="34" charset="0"/>
                <a:ea typeface="Trebuchet MS" pitchFamily="34" charset="-122"/>
                <a:cs typeface="Trebuchet MS" pitchFamily="34" charset="-120"/>
              </a:rPr>
              <a:t>Components wired to the ESP32 — GPIO callouts</a:t>
            </a:r>
            <a:endParaRPr lang="en-US" sz="2800" dirty="0"/>
          </a:p>
        </p:txBody>
      </p:sp>
      <p:sp>
        <p:nvSpPr>
          <p:cNvPr id="6" name="Shape 4"/>
          <p:cNvSpPr/>
          <p:nvPr/>
        </p:nvSpPr>
        <p:spPr>
          <a:xfrm>
            <a:off x="2478024" y="1499616"/>
            <a:ext cx="7232904" cy="4864608"/>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pic>
        <p:nvPicPr>
          <p:cNvPr id="7" name="Image 0" descr="images/wiring.jpg"/>
          <p:cNvPicPr>
            <a:picLocks noChangeAspect="1"/>
          </p:cNvPicPr>
          <p:nvPr/>
        </p:nvPicPr>
        <p:blipFill>
          <a:blip r:embed="rId3"/>
          <a:stretch>
            <a:fillRect/>
          </a:stretch>
        </p:blipFill>
        <p:spPr>
          <a:xfrm>
            <a:off x="2534129" y="1554480"/>
            <a:ext cx="7120694" cy="4754880"/>
          </a:xfrm>
          <a:prstGeom prst="rect">
            <a:avLst/>
          </a:prstGeom>
        </p:spPr>
      </p:pic>
      <p:sp>
        <p:nvSpPr>
          <p:cNvPr id="8" name="Shape 5"/>
          <p:cNvSpPr/>
          <p:nvPr/>
        </p:nvSpPr>
        <p:spPr>
          <a:xfrm flipV="1">
            <a:off x="2432304" y="1839773"/>
            <a:ext cx="955365" cy="162763"/>
          </a:xfrm>
          <a:prstGeom prst="line">
            <a:avLst/>
          </a:prstGeom>
          <a:noFill/>
          <a:ln w="19050">
            <a:solidFill>
              <a:srgbClr val="1565C0"/>
            </a:solidFill>
            <a:prstDash val="solid"/>
          </a:ln>
        </p:spPr>
        <p:txBody>
          <a:bodyPr/>
          <a:lstStyle/>
          <a:p>
            <a:endParaRPr lang="LID4096"/>
          </a:p>
        </p:txBody>
      </p:sp>
      <p:sp>
        <p:nvSpPr>
          <p:cNvPr id="9" name="Shape 6"/>
          <p:cNvSpPr/>
          <p:nvPr/>
        </p:nvSpPr>
        <p:spPr>
          <a:xfrm>
            <a:off x="3287085" y="1739189"/>
            <a:ext cx="201168" cy="201168"/>
          </a:xfrm>
          <a:prstGeom prst="ellipse">
            <a:avLst/>
          </a:prstGeom>
          <a:solidFill>
            <a:srgbClr val="FFFFFF"/>
          </a:solidFill>
          <a:ln w="19050">
            <a:solidFill>
              <a:srgbClr val="1565C0"/>
            </a:solidFill>
            <a:prstDash val="solid"/>
          </a:ln>
        </p:spPr>
        <p:txBody>
          <a:bodyPr/>
          <a:lstStyle/>
          <a:p>
            <a:endParaRPr lang="LID4096"/>
          </a:p>
        </p:txBody>
      </p:sp>
      <p:sp>
        <p:nvSpPr>
          <p:cNvPr id="10" name="Shape 7"/>
          <p:cNvSpPr/>
          <p:nvPr/>
        </p:nvSpPr>
        <p:spPr>
          <a:xfrm>
            <a:off x="3341949" y="1794053"/>
            <a:ext cx="91440" cy="91440"/>
          </a:xfrm>
          <a:prstGeom prst="ellipse">
            <a:avLst/>
          </a:prstGeom>
          <a:solidFill>
            <a:srgbClr val="1565C0"/>
          </a:solidFill>
          <a:ln/>
        </p:spPr>
        <p:txBody>
          <a:bodyPr/>
          <a:lstStyle/>
          <a:p>
            <a:endParaRPr lang="LID4096"/>
          </a:p>
        </p:txBody>
      </p:sp>
      <p:sp>
        <p:nvSpPr>
          <p:cNvPr id="11" name="Shape 8"/>
          <p:cNvSpPr/>
          <p:nvPr/>
        </p:nvSpPr>
        <p:spPr>
          <a:xfrm>
            <a:off x="566928" y="1700784"/>
            <a:ext cx="1865376" cy="603504"/>
          </a:xfrm>
          <a:prstGeom prst="roundRect">
            <a:avLst>
              <a:gd name="adj" fmla="val 9091"/>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12" name="Shape 9"/>
          <p:cNvSpPr/>
          <p:nvPr/>
        </p:nvSpPr>
        <p:spPr>
          <a:xfrm>
            <a:off x="566928" y="1700784"/>
            <a:ext cx="73152" cy="603504"/>
          </a:xfrm>
          <a:prstGeom prst="rect">
            <a:avLst/>
          </a:prstGeom>
          <a:solidFill>
            <a:srgbClr val="1565C0"/>
          </a:solidFill>
          <a:ln/>
        </p:spPr>
        <p:txBody>
          <a:bodyPr/>
          <a:lstStyle/>
          <a:p>
            <a:endParaRPr lang="LID4096"/>
          </a:p>
        </p:txBody>
      </p:sp>
      <p:sp>
        <p:nvSpPr>
          <p:cNvPr id="13" name="Text 10"/>
          <p:cNvSpPr/>
          <p:nvPr/>
        </p:nvSpPr>
        <p:spPr>
          <a:xfrm>
            <a:off x="749808" y="1700784"/>
            <a:ext cx="1591056" cy="603504"/>
          </a:xfrm>
          <a:prstGeom prst="rect">
            <a:avLst/>
          </a:prstGeom>
          <a:noFill/>
          <a:ln/>
        </p:spPr>
        <p:txBody>
          <a:bodyPr wrap="square" lIns="0" tIns="0" rIns="0" bIns="0" rtlCol="0" anchor="ctr"/>
          <a:lstStyle/>
          <a:p>
            <a:pPr marL="0" indent="0">
              <a:lnSpc>
                <a:spcPct val="100000"/>
              </a:lnSpc>
              <a:buNone/>
            </a:pPr>
            <a:r>
              <a:rPr lang="en-US" sz="1150" b="1" dirty="0">
                <a:solidFill>
                  <a:srgbClr val="0E2A47"/>
                </a:solidFill>
                <a:latin typeface="Trebuchet MS" pitchFamily="34" charset="0"/>
                <a:ea typeface="Trebuchet MS" pitchFamily="34" charset="-122"/>
                <a:cs typeface="Trebuchet MS" pitchFamily="34" charset="-120"/>
              </a:rPr>
              <a:t>DS18B20 Temp.</a:t>
            </a:r>
            <a:endParaRPr lang="en-US" sz="1150" dirty="0"/>
          </a:p>
          <a:p>
            <a:pPr marL="0" indent="0">
              <a:lnSpc>
                <a:spcPct val="100000"/>
              </a:lnSpc>
              <a:buNone/>
            </a:pPr>
            <a:r>
              <a:rPr lang="en-US" sz="950" dirty="0">
                <a:solidFill>
                  <a:srgbClr val="5C6B7C"/>
                </a:solidFill>
                <a:latin typeface="Consolas" pitchFamily="34" charset="0"/>
                <a:ea typeface="Consolas" pitchFamily="34" charset="-122"/>
                <a:cs typeface="Consolas" pitchFamily="34" charset="-120"/>
              </a:rPr>
              <a:t>GPIO 4 · 1-Wire</a:t>
            </a:r>
            <a:endParaRPr lang="en-US" sz="1150" dirty="0"/>
          </a:p>
        </p:txBody>
      </p:sp>
      <p:sp>
        <p:nvSpPr>
          <p:cNvPr id="14" name="Shape 11"/>
          <p:cNvSpPr/>
          <p:nvPr/>
        </p:nvSpPr>
        <p:spPr>
          <a:xfrm flipV="1">
            <a:off x="2432304" y="1792224"/>
            <a:ext cx="3519708" cy="1929384"/>
          </a:xfrm>
          <a:prstGeom prst="line">
            <a:avLst/>
          </a:prstGeom>
          <a:noFill/>
          <a:ln w="19050">
            <a:solidFill>
              <a:srgbClr val="F59E0B"/>
            </a:solidFill>
            <a:prstDash val="solid"/>
          </a:ln>
        </p:spPr>
        <p:txBody>
          <a:bodyPr/>
          <a:lstStyle/>
          <a:p>
            <a:endParaRPr lang="LID4096"/>
          </a:p>
        </p:txBody>
      </p:sp>
      <p:sp>
        <p:nvSpPr>
          <p:cNvPr id="15" name="Shape 12"/>
          <p:cNvSpPr/>
          <p:nvPr/>
        </p:nvSpPr>
        <p:spPr>
          <a:xfrm>
            <a:off x="5851428" y="1691640"/>
            <a:ext cx="201168" cy="201168"/>
          </a:xfrm>
          <a:prstGeom prst="ellipse">
            <a:avLst/>
          </a:prstGeom>
          <a:solidFill>
            <a:srgbClr val="FFFFFF"/>
          </a:solidFill>
          <a:ln w="19050">
            <a:solidFill>
              <a:srgbClr val="F59E0B"/>
            </a:solidFill>
            <a:prstDash val="solid"/>
          </a:ln>
        </p:spPr>
        <p:txBody>
          <a:bodyPr/>
          <a:lstStyle/>
          <a:p>
            <a:endParaRPr lang="LID4096"/>
          </a:p>
        </p:txBody>
      </p:sp>
      <p:sp>
        <p:nvSpPr>
          <p:cNvPr id="16" name="Shape 13"/>
          <p:cNvSpPr/>
          <p:nvPr/>
        </p:nvSpPr>
        <p:spPr>
          <a:xfrm>
            <a:off x="5906292" y="1746504"/>
            <a:ext cx="91440" cy="91440"/>
          </a:xfrm>
          <a:prstGeom prst="ellipse">
            <a:avLst/>
          </a:prstGeom>
          <a:solidFill>
            <a:srgbClr val="F59E0B"/>
          </a:solidFill>
          <a:ln/>
        </p:spPr>
        <p:txBody>
          <a:bodyPr/>
          <a:lstStyle/>
          <a:p>
            <a:endParaRPr lang="LID4096"/>
          </a:p>
        </p:txBody>
      </p:sp>
      <p:sp>
        <p:nvSpPr>
          <p:cNvPr id="17" name="Shape 14"/>
          <p:cNvSpPr/>
          <p:nvPr/>
        </p:nvSpPr>
        <p:spPr>
          <a:xfrm>
            <a:off x="566928" y="3419856"/>
            <a:ext cx="1865376" cy="603504"/>
          </a:xfrm>
          <a:prstGeom prst="roundRect">
            <a:avLst>
              <a:gd name="adj" fmla="val 9091"/>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18" name="Shape 15"/>
          <p:cNvSpPr/>
          <p:nvPr/>
        </p:nvSpPr>
        <p:spPr>
          <a:xfrm>
            <a:off x="566928" y="3419856"/>
            <a:ext cx="73152" cy="603504"/>
          </a:xfrm>
          <a:prstGeom prst="rect">
            <a:avLst/>
          </a:prstGeom>
          <a:solidFill>
            <a:srgbClr val="F59E0B"/>
          </a:solidFill>
          <a:ln/>
        </p:spPr>
        <p:txBody>
          <a:bodyPr/>
          <a:lstStyle/>
          <a:p>
            <a:endParaRPr lang="LID4096"/>
          </a:p>
        </p:txBody>
      </p:sp>
      <p:sp>
        <p:nvSpPr>
          <p:cNvPr id="19" name="Text 16"/>
          <p:cNvSpPr/>
          <p:nvPr/>
        </p:nvSpPr>
        <p:spPr>
          <a:xfrm>
            <a:off x="749808" y="3419856"/>
            <a:ext cx="1591056" cy="603504"/>
          </a:xfrm>
          <a:prstGeom prst="rect">
            <a:avLst/>
          </a:prstGeom>
          <a:noFill/>
          <a:ln/>
        </p:spPr>
        <p:txBody>
          <a:bodyPr wrap="square" lIns="0" tIns="0" rIns="0" bIns="0" rtlCol="0" anchor="ctr"/>
          <a:lstStyle/>
          <a:p>
            <a:pPr marL="0" indent="0">
              <a:lnSpc>
                <a:spcPct val="100000"/>
              </a:lnSpc>
              <a:buNone/>
            </a:pPr>
            <a:r>
              <a:rPr lang="en-US" sz="1150" b="1" dirty="0">
                <a:solidFill>
                  <a:srgbClr val="0E2A47"/>
                </a:solidFill>
                <a:latin typeface="Trebuchet MS" pitchFamily="34" charset="0"/>
                <a:ea typeface="Trebuchet MS" pitchFamily="34" charset="-122"/>
                <a:cs typeface="Trebuchet MS" pitchFamily="34" charset="-120"/>
              </a:rPr>
              <a:t>Vibration Sensor</a:t>
            </a:r>
            <a:endParaRPr lang="en-US" sz="1150" dirty="0"/>
          </a:p>
          <a:p>
            <a:pPr marL="0" indent="0">
              <a:lnSpc>
                <a:spcPct val="100000"/>
              </a:lnSpc>
              <a:buNone/>
            </a:pPr>
            <a:r>
              <a:rPr lang="en-US" sz="950" dirty="0">
                <a:solidFill>
                  <a:srgbClr val="5C6B7C"/>
                </a:solidFill>
                <a:latin typeface="Consolas" pitchFamily="34" charset="0"/>
                <a:ea typeface="Consolas" pitchFamily="34" charset="-122"/>
                <a:cs typeface="Consolas" pitchFamily="34" charset="-120"/>
              </a:rPr>
              <a:t>GPIO 34 · analog</a:t>
            </a:r>
            <a:endParaRPr lang="en-US" sz="1150" dirty="0"/>
          </a:p>
        </p:txBody>
      </p:sp>
      <p:sp>
        <p:nvSpPr>
          <p:cNvPr id="20" name="Shape 17"/>
          <p:cNvSpPr/>
          <p:nvPr/>
        </p:nvSpPr>
        <p:spPr>
          <a:xfrm>
            <a:off x="2432304" y="5440680"/>
            <a:ext cx="955365" cy="107899"/>
          </a:xfrm>
          <a:prstGeom prst="line">
            <a:avLst/>
          </a:prstGeom>
          <a:noFill/>
          <a:ln w="19050">
            <a:solidFill>
              <a:srgbClr val="0FB5D6"/>
            </a:solidFill>
            <a:prstDash val="solid"/>
          </a:ln>
        </p:spPr>
        <p:txBody>
          <a:bodyPr/>
          <a:lstStyle/>
          <a:p>
            <a:endParaRPr lang="LID4096"/>
          </a:p>
        </p:txBody>
      </p:sp>
      <p:sp>
        <p:nvSpPr>
          <p:cNvPr id="21" name="Shape 18"/>
          <p:cNvSpPr/>
          <p:nvPr/>
        </p:nvSpPr>
        <p:spPr>
          <a:xfrm>
            <a:off x="3287085" y="5447995"/>
            <a:ext cx="201168" cy="201168"/>
          </a:xfrm>
          <a:prstGeom prst="ellipse">
            <a:avLst/>
          </a:prstGeom>
          <a:solidFill>
            <a:srgbClr val="FFFFFF"/>
          </a:solidFill>
          <a:ln w="19050">
            <a:solidFill>
              <a:srgbClr val="0FB5D6"/>
            </a:solidFill>
            <a:prstDash val="solid"/>
          </a:ln>
        </p:spPr>
        <p:txBody>
          <a:bodyPr/>
          <a:lstStyle/>
          <a:p>
            <a:endParaRPr lang="LID4096"/>
          </a:p>
        </p:txBody>
      </p:sp>
      <p:sp>
        <p:nvSpPr>
          <p:cNvPr id="22" name="Shape 19"/>
          <p:cNvSpPr/>
          <p:nvPr/>
        </p:nvSpPr>
        <p:spPr>
          <a:xfrm>
            <a:off x="3341949" y="5502859"/>
            <a:ext cx="91440" cy="91440"/>
          </a:xfrm>
          <a:prstGeom prst="ellipse">
            <a:avLst/>
          </a:prstGeom>
          <a:solidFill>
            <a:srgbClr val="0FB5D6"/>
          </a:solidFill>
          <a:ln/>
        </p:spPr>
        <p:txBody>
          <a:bodyPr/>
          <a:lstStyle/>
          <a:p>
            <a:endParaRPr lang="LID4096"/>
          </a:p>
        </p:txBody>
      </p:sp>
      <p:sp>
        <p:nvSpPr>
          <p:cNvPr id="23" name="Shape 20"/>
          <p:cNvSpPr/>
          <p:nvPr/>
        </p:nvSpPr>
        <p:spPr>
          <a:xfrm>
            <a:off x="566928" y="5138928"/>
            <a:ext cx="1865376" cy="603504"/>
          </a:xfrm>
          <a:prstGeom prst="roundRect">
            <a:avLst>
              <a:gd name="adj" fmla="val 9091"/>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24" name="Shape 21"/>
          <p:cNvSpPr/>
          <p:nvPr/>
        </p:nvSpPr>
        <p:spPr>
          <a:xfrm>
            <a:off x="566928" y="5138928"/>
            <a:ext cx="73152" cy="603504"/>
          </a:xfrm>
          <a:prstGeom prst="rect">
            <a:avLst/>
          </a:prstGeom>
          <a:solidFill>
            <a:srgbClr val="0FB5D6"/>
          </a:solidFill>
          <a:ln/>
        </p:spPr>
        <p:txBody>
          <a:bodyPr/>
          <a:lstStyle/>
          <a:p>
            <a:endParaRPr lang="LID4096"/>
          </a:p>
        </p:txBody>
      </p:sp>
      <p:sp>
        <p:nvSpPr>
          <p:cNvPr id="25" name="Text 22"/>
          <p:cNvSpPr/>
          <p:nvPr/>
        </p:nvSpPr>
        <p:spPr>
          <a:xfrm>
            <a:off x="749808" y="5138928"/>
            <a:ext cx="1591056" cy="603504"/>
          </a:xfrm>
          <a:prstGeom prst="rect">
            <a:avLst/>
          </a:prstGeom>
          <a:noFill/>
          <a:ln/>
        </p:spPr>
        <p:txBody>
          <a:bodyPr wrap="square" lIns="0" tIns="0" rIns="0" bIns="0" rtlCol="0" anchor="ctr"/>
          <a:lstStyle/>
          <a:p>
            <a:pPr marL="0" indent="0">
              <a:lnSpc>
                <a:spcPct val="100000"/>
              </a:lnSpc>
              <a:buNone/>
            </a:pPr>
            <a:r>
              <a:rPr lang="en-US" sz="1150" b="1" dirty="0">
                <a:solidFill>
                  <a:srgbClr val="0E2A47"/>
                </a:solidFill>
                <a:latin typeface="Trebuchet MS" pitchFamily="34" charset="0"/>
                <a:ea typeface="Trebuchet MS" pitchFamily="34" charset="-122"/>
                <a:cs typeface="Trebuchet MS" pitchFamily="34" charset="-120"/>
              </a:rPr>
              <a:t>OLED Display</a:t>
            </a:r>
            <a:endParaRPr lang="en-US" sz="1150" dirty="0"/>
          </a:p>
          <a:p>
            <a:pPr marL="0" indent="0">
              <a:lnSpc>
                <a:spcPct val="100000"/>
              </a:lnSpc>
              <a:buNone/>
            </a:pPr>
            <a:r>
              <a:rPr lang="en-US" sz="950" dirty="0">
                <a:solidFill>
                  <a:srgbClr val="5C6B7C"/>
                </a:solidFill>
                <a:latin typeface="Consolas" pitchFamily="34" charset="0"/>
                <a:ea typeface="Consolas" pitchFamily="34" charset="-122"/>
                <a:cs typeface="Consolas" pitchFamily="34" charset="-120"/>
              </a:rPr>
              <a:t>GPIO 21/22 · I²C</a:t>
            </a:r>
            <a:endParaRPr lang="en-US" sz="1150" dirty="0"/>
          </a:p>
        </p:txBody>
      </p:sp>
      <p:sp>
        <p:nvSpPr>
          <p:cNvPr id="26" name="Shape 23"/>
          <p:cNvSpPr/>
          <p:nvPr/>
        </p:nvSpPr>
        <p:spPr>
          <a:xfrm flipH="1" flipV="1">
            <a:off x="9157442" y="1887322"/>
            <a:ext cx="599206" cy="115214"/>
          </a:xfrm>
          <a:prstGeom prst="line">
            <a:avLst/>
          </a:prstGeom>
          <a:noFill/>
          <a:ln w="19050">
            <a:solidFill>
              <a:srgbClr val="22C55E"/>
            </a:solidFill>
            <a:prstDash val="solid"/>
          </a:ln>
        </p:spPr>
        <p:txBody>
          <a:bodyPr/>
          <a:lstStyle/>
          <a:p>
            <a:endParaRPr lang="LID4096"/>
          </a:p>
        </p:txBody>
      </p:sp>
      <p:sp>
        <p:nvSpPr>
          <p:cNvPr id="27" name="Shape 24"/>
          <p:cNvSpPr/>
          <p:nvPr/>
        </p:nvSpPr>
        <p:spPr>
          <a:xfrm>
            <a:off x="9056858" y="1786738"/>
            <a:ext cx="201168" cy="201168"/>
          </a:xfrm>
          <a:prstGeom prst="ellipse">
            <a:avLst/>
          </a:prstGeom>
          <a:solidFill>
            <a:srgbClr val="FFFFFF"/>
          </a:solidFill>
          <a:ln w="19050">
            <a:solidFill>
              <a:srgbClr val="22C55E"/>
            </a:solidFill>
            <a:prstDash val="solid"/>
          </a:ln>
        </p:spPr>
        <p:txBody>
          <a:bodyPr/>
          <a:lstStyle/>
          <a:p>
            <a:endParaRPr lang="LID4096"/>
          </a:p>
        </p:txBody>
      </p:sp>
      <p:sp>
        <p:nvSpPr>
          <p:cNvPr id="28" name="Shape 25"/>
          <p:cNvSpPr/>
          <p:nvPr/>
        </p:nvSpPr>
        <p:spPr>
          <a:xfrm>
            <a:off x="9111722" y="1841602"/>
            <a:ext cx="91440" cy="91440"/>
          </a:xfrm>
          <a:prstGeom prst="ellipse">
            <a:avLst/>
          </a:prstGeom>
          <a:solidFill>
            <a:srgbClr val="22C55E"/>
          </a:solidFill>
          <a:ln/>
        </p:spPr>
        <p:txBody>
          <a:bodyPr/>
          <a:lstStyle/>
          <a:p>
            <a:endParaRPr lang="LID4096"/>
          </a:p>
        </p:txBody>
      </p:sp>
      <p:sp>
        <p:nvSpPr>
          <p:cNvPr id="29" name="Shape 26"/>
          <p:cNvSpPr/>
          <p:nvPr/>
        </p:nvSpPr>
        <p:spPr>
          <a:xfrm>
            <a:off x="9756648" y="1700784"/>
            <a:ext cx="1865376" cy="603504"/>
          </a:xfrm>
          <a:prstGeom prst="roundRect">
            <a:avLst>
              <a:gd name="adj" fmla="val 9091"/>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30" name="Shape 27"/>
          <p:cNvSpPr/>
          <p:nvPr/>
        </p:nvSpPr>
        <p:spPr>
          <a:xfrm>
            <a:off x="11548872" y="1700784"/>
            <a:ext cx="73152" cy="603504"/>
          </a:xfrm>
          <a:prstGeom prst="rect">
            <a:avLst/>
          </a:prstGeom>
          <a:solidFill>
            <a:srgbClr val="22C55E"/>
          </a:solidFill>
          <a:ln/>
        </p:spPr>
        <p:txBody>
          <a:bodyPr/>
          <a:lstStyle/>
          <a:p>
            <a:endParaRPr lang="LID4096"/>
          </a:p>
        </p:txBody>
      </p:sp>
      <p:sp>
        <p:nvSpPr>
          <p:cNvPr id="31" name="Text 28"/>
          <p:cNvSpPr/>
          <p:nvPr/>
        </p:nvSpPr>
        <p:spPr>
          <a:xfrm>
            <a:off x="9866376" y="1700784"/>
            <a:ext cx="1591056" cy="603504"/>
          </a:xfrm>
          <a:prstGeom prst="rect">
            <a:avLst/>
          </a:prstGeom>
          <a:noFill/>
          <a:ln/>
        </p:spPr>
        <p:txBody>
          <a:bodyPr wrap="square" lIns="0" tIns="0" rIns="0" bIns="0" rtlCol="0" anchor="ctr"/>
          <a:lstStyle/>
          <a:p>
            <a:pPr marL="0" indent="0">
              <a:lnSpc>
                <a:spcPct val="100000"/>
              </a:lnSpc>
              <a:buNone/>
            </a:pPr>
            <a:r>
              <a:rPr lang="en-US" sz="1150" b="1" dirty="0">
                <a:solidFill>
                  <a:srgbClr val="0E2A47"/>
                </a:solidFill>
                <a:latin typeface="Trebuchet MS" pitchFamily="34" charset="0"/>
                <a:ea typeface="Trebuchet MS" pitchFamily="34" charset="-122"/>
                <a:cs typeface="Trebuchet MS" pitchFamily="34" charset="-120"/>
              </a:rPr>
              <a:t>RGB Status LED</a:t>
            </a:r>
            <a:endParaRPr lang="en-US" sz="1150" dirty="0"/>
          </a:p>
          <a:p>
            <a:pPr marL="0" indent="0">
              <a:lnSpc>
                <a:spcPct val="100000"/>
              </a:lnSpc>
              <a:buNone/>
            </a:pPr>
            <a:r>
              <a:rPr lang="en-US" sz="950" dirty="0">
                <a:solidFill>
                  <a:srgbClr val="5C6B7C"/>
                </a:solidFill>
                <a:latin typeface="Consolas" pitchFamily="34" charset="0"/>
                <a:ea typeface="Consolas" pitchFamily="34" charset="-122"/>
                <a:cs typeface="Consolas" pitchFamily="34" charset="-120"/>
              </a:rPr>
              <a:t>GPIO 25/26/27</a:t>
            </a:r>
            <a:endParaRPr lang="en-US" sz="1150" dirty="0"/>
          </a:p>
        </p:txBody>
      </p:sp>
      <p:sp>
        <p:nvSpPr>
          <p:cNvPr id="32" name="Shape 29"/>
          <p:cNvSpPr/>
          <p:nvPr/>
        </p:nvSpPr>
        <p:spPr>
          <a:xfrm flipH="1">
            <a:off x="8943746" y="3721608"/>
            <a:ext cx="812902" cy="162763"/>
          </a:xfrm>
          <a:prstGeom prst="line">
            <a:avLst/>
          </a:prstGeom>
          <a:noFill/>
          <a:ln w="19050">
            <a:solidFill>
              <a:srgbClr val="EF4444"/>
            </a:solidFill>
            <a:prstDash val="solid"/>
          </a:ln>
        </p:spPr>
        <p:txBody>
          <a:bodyPr/>
          <a:lstStyle/>
          <a:p>
            <a:endParaRPr lang="LID4096"/>
          </a:p>
        </p:txBody>
      </p:sp>
      <p:sp>
        <p:nvSpPr>
          <p:cNvPr id="33" name="Shape 30"/>
          <p:cNvSpPr/>
          <p:nvPr/>
        </p:nvSpPr>
        <p:spPr>
          <a:xfrm>
            <a:off x="8843162" y="3783787"/>
            <a:ext cx="201168" cy="201168"/>
          </a:xfrm>
          <a:prstGeom prst="ellipse">
            <a:avLst/>
          </a:prstGeom>
          <a:solidFill>
            <a:srgbClr val="FFFFFF"/>
          </a:solidFill>
          <a:ln w="19050">
            <a:solidFill>
              <a:srgbClr val="EF4444"/>
            </a:solidFill>
            <a:prstDash val="solid"/>
          </a:ln>
        </p:spPr>
        <p:txBody>
          <a:bodyPr/>
          <a:lstStyle/>
          <a:p>
            <a:endParaRPr lang="LID4096"/>
          </a:p>
        </p:txBody>
      </p:sp>
      <p:sp>
        <p:nvSpPr>
          <p:cNvPr id="34" name="Shape 31"/>
          <p:cNvSpPr/>
          <p:nvPr/>
        </p:nvSpPr>
        <p:spPr>
          <a:xfrm>
            <a:off x="8898026" y="3838651"/>
            <a:ext cx="91440" cy="91440"/>
          </a:xfrm>
          <a:prstGeom prst="ellipse">
            <a:avLst/>
          </a:prstGeom>
          <a:solidFill>
            <a:srgbClr val="EF4444"/>
          </a:solidFill>
          <a:ln/>
        </p:spPr>
        <p:txBody>
          <a:bodyPr/>
          <a:lstStyle/>
          <a:p>
            <a:endParaRPr lang="LID4096"/>
          </a:p>
        </p:txBody>
      </p:sp>
      <p:sp>
        <p:nvSpPr>
          <p:cNvPr id="35" name="Shape 32"/>
          <p:cNvSpPr/>
          <p:nvPr/>
        </p:nvSpPr>
        <p:spPr>
          <a:xfrm>
            <a:off x="9756648" y="3419856"/>
            <a:ext cx="1865376" cy="603504"/>
          </a:xfrm>
          <a:prstGeom prst="roundRect">
            <a:avLst>
              <a:gd name="adj" fmla="val 9091"/>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36" name="Shape 33"/>
          <p:cNvSpPr/>
          <p:nvPr/>
        </p:nvSpPr>
        <p:spPr>
          <a:xfrm>
            <a:off x="11548872" y="3419856"/>
            <a:ext cx="73152" cy="603504"/>
          </a:xfrm>
          <a:prstGeom prst="rect">
            <a:avLst/>
          </a:prstGeom>
          <a:solidFill>
            <a:srgbClr val="EF4444"/>
          </a:solidFill>
          <a:ln/>
        </p:spPr>
        <p:txBody>
          <a:bodyPr/>
          <a:lstStyle/>
          <a:p>
            <a:endParaRPr lang="LID4096"/>
          </a:p>
        </p:txBody>
      </p:sp>
      <p:sp>
        <p:nvSpPr>
          <p:cNvPr id="37" name="Text 34"/>
          <p:cNvSpPr/>
          <p:nvPr/>
        </p:nvSpPr>
        <p:spPr>
          <a:xfrm>
            <a:off x="9866376" y="3419856"/>
            <a:ext cx="1591056" cy="603504"/>
          </a:xfrm>
          <a:prstGeom prst="rect">
            <a:avLst/>
          </a:prstGeom>
          <a:noFill/>
          <a:ln/>
        </p:spPr>
        <p:txBody>
          <a:bodyPr wrap="square" lIns="0" tIns="0" rIns="0" bIns="0" rtlCol="0" anchor="ctr"/>
          <a:lstStyle/>
          <a:p>
            <a:pPr marL="0" indent="0">
              <a:lnSpc>
                <a:spcPct val="100000"/>
              </a:lnSpc>
              <a:buNone/>
            </a:pPr>
            <a:r>
              <a:rPr lang="en-US" sz="1150" b="1" dirty="0">
                <a:solidFill>
                  <a:srgbClr val="0E2A47"/>
                </a:solidFill>
                <a:latin typeface="Trebuchet MS" pitchFamily="34" charset="0"/>
                <a:ea typeface="Trebuchet MS" pitchFamily="34" charset="-122"/>
                <a:cs typeface="Trebuchet MS" pitchFamily="34" charset="-120"/>
              </a:rPr>
              <a:t>Buzzer</a:t>
            </a:r>
            <a:endParaRPr lang="en-US" sz="1150" dirty="0"/>
          </a:p>
          <a:p>
            <a:pPr marL="0" indent="0">
              <a:lnSpc>
                <a:spcPct val="100000"/>
              </a:lnSpc>
              <a:buNone/>
            </a:pPr>
            <a:r>
              <a:rPr lang="en-US" sz="950" dirty="0">
                <a:solidFill>
                  <a:srgbClr val="5C6B7C"/>
                </a:solidFill>
                <a:latin typeface="Consolas" pitchFamily="34" charset="0"/>
                <a:ea typeface="Consolas" pitchFamily="34" charset="-122"/>
                <a:cs typeface="Consolas" pitchFamily="34" charset="-120"/>
              </a:rPr>
              <a:t>GPIO 14 · digital</a:t>
            </a:r>
            <a:endParaRPr lang="en-US" sz="1150" dirty="0"/>
          </a:p>
        </p:txBody>
      </p:sp>
      <p:sp>
        <p:nvSpPr>
          <p:cNvPr id="38" name="Shape 35"/>
          <p:cNvSpPr/>
          <p:nvPr/>
        </p:nvSpPr>
        <p:spPr>
          <a:xfrm flipH="1">
            <a:off x="5382158" y="5440680"/>
            <a:ext cx="4374490" cy="202997"/>
          </a:xfrm>
          <a:prstGeom prst="line">
            <a:avLst/>
          </a:prstGeom>
          <a:noFill/>
          <a:ln w="19050">
            <a:solidFill>
              <a:srgbClr val="1565C0"/>
            </a:solidFill>
            <a:prstDash val="solid"/>
          </a:ln>
        </p:spPr>
        <p:txBody>
          <a:bodyPr/>
          <a:lstStyle/>
          <a:p>
            <a:endParaRPr lang="LID4096"/>
          </a:p>
        </p:txBody>
      </p:sp>
      <p:sp>
        <p:nvSpPr>
          <p:cNvPr id="39" name="Shape 36"/>
          <p:cNvSpPr/>
          <p:nvPr/>
        </p:nvSpPr>
        <p:spPr>
          <a:xfrm>
            <a:off x="5281574" y="5543093"/>
            <a:ext cx="201168" cy="201168"/>
          </a:xfrm>
          <a:prstGeom prst="ellipse">
            <a:avLst/>
          </a:prstGeom>
          <a:solidFill>
            <a:srgbClr val="FFFFFF"/>
          </a:solidFill>
          <a:ln w="19050">
            <a:solidFill>
              <a:srgbClr val="1565C0"/>
            </a:solidFill>
            <a:prstDash val="solid"/>
          </a:ln>
        </p:spPr>
        <p:txBody>
          <a:bodyPr/>
          <a:lstStyle/>
          <a:p>
            <a:endParaRPr lang="LID4096"/>
          </a:p>
        </p:txBody>
      </p:sp>
      <p:sp>
        <p:nvSpPr>
          <p:cNvPr id="40" name="Shape 37"/>
          <p:cNvSpPr/>
          <p:nvPr/>
        </p:nvSpPr>
        <p:spPr>
          <a:xfrm>
            <a:off x="5336438" y="5597957"/>
            <a:ext cx="91440" cy="91440"/>
          </a:xfrm>
          <a:prstGeom prst="ellipse">
            <a:avLst/>
          </a:prstGeom>
          <a:solidFill>
            <a:srgbClr val="1565C0"/>
          </a:solidFill>
          <a:ln/>
        </p:spPr>
        <p:txBody>
          <a:bodyPr/>
          <a:lstStyle/>
          <a:p>
            <a:endParaRPr lang="LID4096"/>
          </a:p>
        </p:txBody>
      </p:sp>
      <p:sp>
        <p:nvSpPr>
          <p:cNvPr id="41" name="Shape 38"/>
          <p:cNvSpPr/>
          <p:nvPr/>
        </p:nvSpPr>
        <p:spPr>
          <a:xfrm>
            <a:off x="9756648" y="5138928"/>
            <a:ext cx="1865376" cy="603504"/>
          </a:xfrm>
          <a:prstGeom prst="roundRect">
            <a:avLst>
              <a:gd name="adj" fmla="val 9091"/>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42" name="Shape 39"/>
          <p:cNvSpPr/>
          <p:nvPr/>
        </p:nvSpPr>
        <p:spPr>
          <a:xfrm>
            <a:off x="11548872" y="5138928"/>
            <a:ext cx="73152" cy="603504"/>
          </a:xfrm>
          <a:prstGeom prst="rect">
            <a:avLst/>
          </a:prstGeom>
          <a:solidFill>
            <a:srgbClr val="1565C0"/>
          </a:solidFill>
          <a:ln/>
        </p:spPr>
        <p:txBody>
          <a:bodyPr/>
          <a:lstStyle/>
          <a:p>
            <a:endParaRPr lang="LID4096"/>
          </a:p>
        </p:txBody>
      </p:sp>
      <p:sp>
        <p:nvSpPr>
          <p:cNvPr id="43" name="Text 40"/>
          <p:cNvSpPr/>
          <p:nvPr/>
        </p:nvSpPr>
        <p:spPr>
          <a:xfrm>
            <a:off x="9866376" y="5138928"/>
            <a:ext cx="1591056" cy="603504"/>
          </a:xfrm>
          <a:prstGeom prst="rect">
            <a:avLst/>
          </a:prstGeom>
          <a:noFill/>
          <a:ln/>
        </p:spPr>
        <p:txBody>
          <a:bodyPr wrap="square" lIns="0" tIns="0" rIns="0" bIns="0" rtlCol="0" anchor="ctr"/>
          <a:lstStyle/>
          <a:p>
            <a:pPr marL="0" indent="0">
              <a:lnSpc>
                <a:spcPct val="100000"/>
              </a:lnSpc>
              <a:buNone/>
            </a:pPr>
            <a:r>
              <a:rPr lang="en-US" sz="1150" b="1" dirty="0">
                <a:solidFill>
                  <a:srgbClr val="0E2A47"/>
                </a:solidFill>
                <a:latin typeface="Trebuchet MS" pitchFamily="34" charset="0"/>
                <a:ea typeface="Trebuchet MS" pitchFamily="34" charset="-122"/>
                <a:cs typeface="Trebuchet MS" pitchFamily="34" charset="-120"/>
              </a:rPr>
              <a:t>Servo Motor</a:t>
            </a:r>
            <a:endParaRPr lang="en-US" sz="1150" dirty="0"/>
          </a:p>
          <a:p>
            <a:pPr marL="0" indent="0">
              <a:lnSpc>
                <a:spcPct val="100000"/>
              </a:lnSpc>
              <a:buNone/>
            </a:pPr>
            <a:r>
              <a:rPr lang="en-US" sz="950" dirty="0">
                <a:solidFill>
                  <a:srgbClr val="5C6B7C"/>
                </a:solidFill>
                <a:latin typeface="Consolas" pitchFamily="34" charset="0"/>
                <a:ea typeface="Consolas" pitchFamily="34" charset="-122"/>
                <a:cs typeface="Consolas" pitchFamily="34" charset="-120"/>
              </a:rPr>
              <a:t>GPIO 13 · PWM</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FFFFFF"/>
          </a:solidFill>
          <a:ln/>
        </p:spPr>
        <p:txBody>
          <a:bodyPr/>
          <a:lstStyle/>
          <a:p>
            <a:endParaRPr lang="LID4096"/>
          </a:p>
        </p:txBody>
      </p:sp>
      <p:sp>
        <p:nvSpPr>
          <p:cNvPr id="3" name="Shape 1"/>
          <p:cNvSpPr/>
          <p:nvPr/>
        </p:nvSpPr>
        <p:spPr>
          <a:xfrm>
            <a:off x="0" y="0"/>
            <a:ext cx="201168" cy="1371600"/>
          </a:xfrm>
          <a:prstGeom prst="rect">
            <a:avLst/>
          </a:prstGeom>
          <a:solidFill>
            <a:srgbClr val="0FB5D6"/>
          </a:solidFill>
          <a:ln/>
        </p:spPr>
        <p:txBody>
          <a:bodyPr/>
          <a:lstStyle/>
          <a:p>
            <a:endParaRPr lang="LID4096"/>
          </a:p>
        </p:txBody>
      </p:sp>
      <p:sp>
        <p:nvSpPr>
          <p:cNvPr id="4" name="Text 2"/>
          <p:cNvSpPr/>
          <p:nvPr/>
        </p:nvSpPr>
        <p:spPr>
          <a:xfrm>
            <a:off x="640080" y="310896"/>
            <a:ext cx="10058400" cy="292608"/>
          </a:xfrm>
          <a:prstGeom prst="rect">
            <a:avLst/>
          </a:prstGeom>
          <a:noFill/>
          <a:ln/>
        </p:spPr>
        <p:txBody>
          <a:bodyPr wrap="square" lIns="0" tIns="0" rIns="0" bIns="0" rtlCol="0" anchor="ctr"/>
          <a:lstStyle/>
          <a:p>
            <a:pPr marL="0" indent="0">
              <a:buNone/>
            </a:pPr>
            <a:r>
              <a:rPr lang="en-US" sz="1200" b="1" kern="0" spc="300" dirty="0">
                <a:solidFill>
                  <a:srgbClr val="1565C0"/>
                </a:solidFill>
                <a:latin typeface="Trebuchet MS" pitchFamily="34" charset="0"/>
                <a:ea typeface="Trebuchet MS" pitchFamily="34" charset="-122"/>
                <a:cs typeface="Trebuchet MS" pitchFamily="34" charset="-120"/>
              </a:rPr>
              <a:t>WOKWI COMPONENTS</a:t>
            </a:r>
            <a:endParaRPr lang="en-US" sz="1200" dirty="0"/>
          </a:p>
        </p:txBody>
      </p:sp>
      <p:sp>
        <p:nvSpPr>
          <p:cNvPr id="5" name="Text 3"/>
          <p:cNvSpPr/>
          <p:nvPr/>
        </p:nvSpPr>
        <p:spPr>
          <a:xfrm>
            <a:off x="640080" y="566928"/>
            <a:ext cx="10972800" cy="640080"/>
          </a:xfrm>
          <a:prstGeom prst="rect">
            <a:avLst/>
          </a:prstGeom>
          <a:noFill/>
          <a:ln/>
        </p:spPr>
        <p:txBody>
          <a:bodyPr wrap="square" lIns="0" tIns="0" rIns="0" bIns="0" rtlCol="0" anchor="ctr"/>
          <a:lstStyle/>
          <a:p>
            <a:pPr marL="0" indent="0">
              <a:buNone/>
            </a:pPr>
            <a:r>
              <a:rPr lang="en-US" sz="2800" b="1" dirty="0">
                <a:solidFill>
                  <a:srgbClr val="0E2A47"/>
                </a:solidFill>
                <a:latin typeface="Trebuchet MS" pitchFamily="34" charset="0"/>
                <a:ea typeface="Trebuchet MS" pitchFamily="34" charset="-122"/>
                <a:cs typeface="Trebuchet MS" pitchFamily="34" charset="-120"/>
              </a:rPr>
              <a:t>Hardware that powers the simulation</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280232587"/>
              </p:ext>
            </p:extLst>
          </p:nvPr>
        </p:nvGraphicFramePr>
        <p:xfrm>
          <a:off x="640080" y="1600200"/>
          <a:ext cx="7315200" cy="4608576"/>
        </p:xfrm>
        <a:graphic>
          <a:graphicData uri="http://schemas.openxmlformats.org/drawingml/2006/table">
            <a:tbl>
              <a:tblPr/>
              <a:tblGrid>
                <a:gridCol w="22860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576072">
                <a:tc>
                  <a:txBody>
                    <a:bodyPr/>
                    <a:lstStyle/>
                    <a:p>
                      <a:pPr marL="0" indent="0" algn="l">
                        <a:buNone/>
                      </a:pPr>
                      <a:r>
                        <a:rPr lang="en-US" sz="1500" b="1" dirty="0">
                          <a:solidFill>
                            <a:srgbClr val="FFFFFF"/>
                          </a:solidFill>
                          <a:latin typeface="Trebuchet MS" pitchFamily="34" charset="0"/>
                          <a:ea typeface="Trebuchet MS" pitchFamily="34" charset="-122"/>
                          <a:cs typeface="Trebuchet MS" pitchFamily="34" charset="-120"/>
                        </a:rPr>
                        <a:t>Component</a:t>
                      </a:r>
                      <a:endParaRPr lang="en-US" sz="1500" dirty="0">
                        <a:latin typeface="Trebuchet MS" charset="0"/>
                        <a:ea typeface="Trebuchet MS" charset="0"/>
                        <a:cs typeface="Trebuchet MS" charset="0"/>
                      </a:endParaRPr>
                    </a:p>
                  </a:txBody>
                  <a:tcPr marL="127000" marR="127000" marT="50800" marB="50800" anchor="ctr">
                    <a:lnL w="12700" cap="flat" cmpd="sng" algn="ctr">
                      <a:solidFill>
                        <a:srgbClr val="D3E0EE"/>
                      </a:solidFill>
                      <a:prstDash val="solid"/>
                      <a:round/>
                      <a:headEnd type="none" w="med" len="med"/>
                      <a:tailEnd type="none" w="med" len="med"/>
                    </a:lnL>
                    <a:lnR w="12700" cap="flat" cmpd="sng" algn="ctr">
                      <a:solidFill>
                        <a:srgbClr val="D3E0EE"/>
                      </a:solidFill>
                      <a:prstDash val="solid"/>
                      <a:round/>
                      <a:headEnd type="none" w="med" len="med"/>
                      <a:tailEnd type="none" w="med" len="med"/>
                    </a:lnR>
                    <a:lnT w="12700" cap="flat" cmpd="sng" algn="ctr">
                      <a:solidFill>
                        <a:srgbClr val="D3E0EE"/>
                      </a:solidFill>
                      <a:prstDash val="solid"/>
                      <a:round/>
                      <a:headEnd type="none" w="med" len="med"/>
                      <a:tailEnd type="none" w="med" len="med"/>
                    </a:lnT>
                    <a:lnB w="12700" cap="flat" cmpd="sng" algn="ctr">
                      <a:solidFill>
                        <a:srgbClr val="D3E0EE"/>
                      </a:solidFill>
                      <a:prstDash val="solid"/>
                      <a:round/>
                      <a:headEnd type="none" w="med" len="med"/>
                      <a:tailEnd type="none" w="med" len="med"/>
                    </a:lnB>
                    <a:solidFill>
                      <a:srgbClr val="0E2A47"/>
                    </a:solidFill>
                  </a:tcPr>
                </a:tc>
                <a:tc>
                  <a:txBody>
                    <a:bodyPr/>
                    <a:lstStyle/>
                    <a:p>
                      <a:pPr marL="0" indent="0" algn="l">
                        <a:buNone/>
                      </a:pPr>
                      <a:r>
                        <a:rPr lang="en-US" sz="1500" b="1" dirty="0">
                          <a:solidFill>
                            <a:srgbClr val="FFFFFF"/>
                          </a:solidFill>
                          <a:latin typeface="Trebuchet MS" pitchFamily="34" charset="0"/>
                          <a:ea typeface="Trebuchet MS" pitchFamily="34" charset="-122"/>
                          <a:cs typeface="Trebuchet MS" pitchFamily="34" charset="-120"/>
                        </a:rPr>
                        <a:t>Purpose</a:t>
                      </a:r>
                      <a:endParaRPr lang="en-US" sz="1500" dirty="0">
                        <a:latin typeface="Trebuchet MS" charset="0"/>
                        <a:ea typeface="Trebuchet MS" charset="0"/>
                        <a:cs typeface="Trebuchet MS" charset="0"/>
                      </a:endParaRPr>
                    </a:p>
                  </a:txBody>
                  <a:tcPr marL="127000" marR="127000" marT="50800" marB="50800" anchor="ctr">
                    <a:lnL w="12700" cap="flat" cmpd="sng" algn="ctr">
                      <a:solidFill>
                        <a:srgbClr val="D3E0EE"/>
                      </a:solidFill>
                      <a:prstDash val="solid"/>
                      <a:round/>
                      <a:headEnd type="none" w="med" len="med"/>
                      <a:tailEnd type="none" w="med" len="med"/>
                    </a:lnL>
                    <a:lnR w="12700" cap="flat" cmpd="sng" algn="ctr">
                      <a:solidFill>
                        <a:srgbClr val="D3E0EE"/>
                      </a:solidFill>
                      <a:prstDash val="solid"/>
                      <a:round/>
                      <a:headEnd type="none" w="med" len="med"/>
                      <a:tailEnd type="none" w="med" len="med"/>
                    </a:lnR>
                    <a:lnT w="12700" cap="flat" cmpd="sng" algn="ctr">
                      <a:solidFill>
                        <a:srgbClr val="D3E0EE"/>
                      </a:solidFill>
                      <a:prstDash val="solid"/>
                      <a:round/>
                      <a:headEnd type="none" w="med" len="med"/>
                      <a:tailEnd type="none" w="med" len="med"/>
                    </a:lnT>
                    <a:lnB w="12700" cap="flat" cmpd="sng" algn="ctr">
                      <a:solidFill>
                        <a:srgbClr val="D3E0EE"/>
                      </a:solidFill>
                      <a:prstDash val="solid"/>
                      <a:round/>
                      <a:headEnd type="none" w="med" len="med"/>
                      <a:tailEnd type="none" w="med" len="med"/>
                    </a:lnB>
                    <a:solidFill>
                      <a:srgbClr val="0E2A47"/>
                    </a:solidFill>
                  </a:tcPr>
                </a:tc>
                <a:extLst>
                  <a:ext uri="{0D108BD9-81ED-4DB2-BD59-A6C34878D82A}">
                    <a16:rowId xmlns:a16="http://schemas.microsoft.com/office/drawing/2014/main" val="10000"/>
                  </a:ext>
                </a:extLst>
              </a:tr>
              <a:tr h="576072">
                <a:tc>
                  <a:txBody>
                    <a:bodyPr/>
                    <a:lstStyle/>
                    <a:p>
                      <a:pPr marL="0" indent="0" algn="l">
                        <a:buNone/>
                      </a:pPr>
                      <a:r>
                        <a:rPr lang="en-US" sz="1400" b="1" dirty="0">
                          <a:solidFill>
                            <a:srgbClr val="1565C0"/>
                          </a:solidFill>
                          <a:latin typeface="Trebuchet MS" pitchFamily="34" charset="0"/>
                          <a:ea typeface="Trebuchet MS" pitchFamily="34" charset="-122"/>
                          <a:cs typeface="Trebuchet MS" pitchFamily="34" charset="-120"/>
                        </a:rPr>
                        <a:t>ESP32</a:t>
                      </a:r>
                      <a:endParaRPr lang="en-US" sz="1400" dirty="0">
                        <a:latin typeface="Trebuchet MS" charset="0"/>
                        <a:ea typeface="Trebuchet MS" charset="0"/>
                        <a:cs typeface="Trebuchet MS" charset="0"/>
                      </a:endParaRPr>
                    </a:p>
                  </a:txBody>
                  <a:tcPr marL="127000" marR="127000" marT="50800" marB="50800" anchor="ctr">
                    <a:lnL w="12700" cap="flat" cmpd="sng" algn="ctr">
                      <a:solidFill>
                        <a:srgbClr val="D3E0EE"/>
                      </a:solidFill>
                      <a:prstDash val="solid"/>
                      <a:round/>
                      <a:headEnd type="none" w="med" len="med"/>
                      <a:tailEnd type="none" w="med" len="med"/>
                    </a:lnL>
                    <a:lnR w="12700" cap="flat" cmpd="sng" algn="ctr">
                      <a:solidFill>
                        <a:srgbClr val="D3E0EE"/>
                      </a:solidFill>
                      <a:prstDash val="solid"/>
                      <a:round/>
                      <a:headEnd type="none" w="med" len="med"/>
                      <a:tailEnd type="none" w="med" len="med"/>
                    </a:lnR>
                    <a:lnT w="12700" cap="flat" cmpd="sng" algn="ctr">
                      <a:solidFill>
                        <a:srgbClr val="D3E0EE"/>
                      </a:solidFill>
                      <a:prstDash val="solid"/>
                      <a:round/>
                      <a:headEnd type="none" w="med" len="med"/>
                      <a:tailEnd type="none" w="med" len="med"/>
                    </a:lnT>
                    <a:lnB w="12700" cap="flat" cmpd="sng" algn="ctr">
                      <a:solidFill>
                        <a:srgbClr val="D3E0EE"/>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D3D"/>
                          </a:solidFill>
                          <a:latin typeface="Calibri" pitchFamily="34" charset="0"/>
                          <a:ea typeface="Calibri" pitchFamily="34" charset="-122"/>
                          <a:cs typeface="Calibri" pitchFamily="34" charset="-120"/>
                        </a:rPr>
                        <a:t>Main controller for data acquisition</a:t>
                      </a:r>
                      <a:endParaRPr lang="en-US" sz="1400" dirty="0">
                        <a:latin typeface="Calibri" charset="0"/>
                        <a:ea typeface="Calibri" charset="0"/>
                        <a:cs typeface="Calibri" charset="0"/>
                      </a:endParaRPr>
                    </a:p>
                  </a:txBody>
                  <a:tcPr marL="127000" marR="127000" marT="50800" marB="50800" anchor="ctr">
                    <a:lnL w="12700" cap="flat" cmpd="sng" algn="ctr">
                      <a:solidFill>
                        <a:srgbClr val="D3E0EE"/>
                      </a:solidFill>
                      <a:prstDash val="solid"/>
                      <a:round/>
                      <a:headEnd type="none" w="med" len="med"/>
                      <a:tailEnd type="none" w="med" len="med"/>
                    </a:lnL>
                    <a:lnR w="12700" cap="flat" cmpd="sng" algn="ctr">
                      <a:solidFill>
                        <a:srgbClr val="D3E0EE"/>
                      </a:solidFill>
                      <a:prstDash val="solid"/>
                      <a:round/>
                      <a:headEnd type="none" w="med" len="med"/>
                      <a:tailEnd type="none" w="med" len="med"/>
                    </a:lnR>
                    <a:lnT w="12700" cap="flat" cmpd="sng" algn="ctr">
                      <a:solidFill>
                        <a:srgbClr val="D3E0EE"/>
                      </a:solidFill>
                      <a:prstDash val="solid"/>
                      <a:round/>
                      <a:headEnd type="none" w="med" len="med"/>
                      <a:tailEnd type="none" w="med" len="med"/>
                    </a:lnT>
                    <a:lnB w="12700" cap="flat" cmpd="sng" algn="ctr">
                      <a:solidFill>
                        <a:srgbClr val="D3E0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6072">
                <a:tc>
                  <a:txBody>
                    <a:bodyPr/>
                    <a:lstStyle/>
                    <a:p>
                      <a:pPr marL="0" indent="0" algn="l">
                        <a:buNone/>
                      </a:pPr>
                      <a:r>
                        <a:rPr lang="en-US" sz="1400" b="1" dirty="0">
                          <a:solidFill>
                            <a:srgbClr val="1565C0"/>
                          </a:solidFill>
                          <a:latin typeface="Trebuchet MS" pitchFamily="34" charset="0"/>
                          <a:ea typeface="Trebuchet MS" pitchFamily="34" charset="-122"/>
                          <a:cs typeface="Trebuchet MS" pitchFamily="34" charset="-120"/>
                        </a:rPr>
                        <a:t>DS18B20</a:t>
                      </a:r>
                      <a:endParaRPr lang="en-US" sz="1400" dirty="0">
                        <a:latin typeface="Trebuchet MS" charset="0"/>
                        <a:ea typeface="Trebuchet MS" charset="0"/>
                        <a:cs typeface="Trebuchet MS" charset="0"/>
                      </a:endParaRPr>
                    </a:p>
                  </a:txBody>
                  <a:tcPr marL="127000" marR="127000" marT="50800" marB="50800" anchor="ctr">
                    <a:lnL w="12700" cap="flat" cmpd="sng" algn="ctr">
                      <a:solidFill>
                        <a:srgbClr val="D3E0EE"/>
                      </a:solidFill>
                      <a:prstDash val="solid"/>
                      <a:round/>
                      <a:headEnd type="none" w="med" len="med"/>
                      <a:tailEnd type="none" w="med" len="med"/>
                    </a:lnL>
                    <a:lnR w="12700" cap="flat" cmpd="sng" algn="ctr">
                      <a:solidFill>
                        <a:srgbClr val="D3E0EE"/>
                      </a:solidFill>
                      <a:prstDash val="solid"/>
                      <a:round/>
                      <a:headEnd type="none" w="med" len="med"/>
                      <a:tailEnd type="none" w="med" len="med"/>
                    </a:lnR>
                    <a:lnT w="12700" cap="flat" cmpd="sng" algn="ctr">
                      <a:solidFill>
                        <a:srgbClr val="D3E0EE"/>
                      </a:solidFill>
                      <a:prstDash val="solid"/>
                      <a:round/>
                      <a:headEnd type="none" w="med" len="med"/>
                      <a:tailEnd type="none" w="med" len="med"/>
                    </a:lnT>
                    <a:lnB w="12700" cap="flat" cmpd="sng" algn="ctr">
                      <a:solidFill>
                        <a:srgbClr val="D3E0EE"/>
                      </a:solidFill>
                      <a:prstDash val="solid"/>
                      <a:round/>
                      <a:headEnd type="none" w="med" len="med"/>
                      <a:tailEnd type="none" w="med" len="med"/>
                    </a:lnB>
                    <a:solidFill>
                      <a:srgbClr val="EEF4FB"/>
                    </a:solidFill>
                  </a:tcPr>
                </a:tc>
                <a:tc>
                  <a:txBody>
                    <a:bodyPr/>
                    <a:lstStyle/>
                    <a:p>
                      <a:pPr marL="0" indent="0" algn="l">
                        <a:buNone/>
                      </a:pPr>
                      <a:r>
                        <a:rPr lang="en-US" sz="1400" dirty="0">
                          <a:solidFill>
                            <a:srgbClr val="1F2D3D"/>
                          </a:solidFill>
                          <a:latin typeface="Calibri" pitchFamily="34" charset="0"/>
                          <a:ea typeface="Calibri" pitchFamily="34" charset="-122"/>
                          <a:cs typeface="Calibri" pitchFamily="34" charset="-120"/>
                        </a:rPr>
                        <a:t>Measures machine temperature</a:t>
                      </a:r>
                      <a:endParaRPr lang="en-US" sz="1400" dirty="0">
                        <a:latin typeface="Calibri" charset="0"/>
                        <a:ea typeface="Calibri" charset="0"/>
                        <a:cs typeface="Calibri" charset="0"/>
                      </a:endParaRPr>
                    </a:p>
                  </a:txBody>
                  <a:tcPr marL="127000" marR="127000" marT="50800" marB="50800" anchor="ctr">
                    <a:lnL w="12700" cap="flat" cmpd="sng" algn="ctr">
                      <a:solidFill>
                        <a:srgbClr val="D3E0EE"/>
                      </a:solidFill>
                      <a:prstDash val="solid"/>
                      <a:round/>
                      <a:headEnd type="none" w="med" len="med"/>
                      <a:tailEnd type="none" w="med" len="med"/>
                    </a:lnL>
                    <a:lnR w="12700" cap="flat" cmpd="sng" algn="ctr">
                      <a:solidFill>
                        <a:srgbClr val="D3E0EE"/>
                      </a:solidFill>
                      <a:prstDash val="solid"/>
                      <a:round/>
                      <a:headEnd type="none" w="med" len="med"/>
                      <a:tailEnd type="none" w="med" len="med"/>
                    </a:lnR>
                    <a:lnT w="12700" cap="flat" cmpd="sng" algn="ctr">
                      <a:solidFill>
                        <a:srgbClr val="D3E0EE"/>
                      </a:solidFill>
                      <a:prstDash val="solid"/>
                      <a:round/>
                      <a:headEnd type="none" w="med" len="med"/>
                      <a:tailEnd type="none" w="med" len="med"/>
                    </a:lnT>
                    <a:lnB w="12700" cap="flat" cmpd="sng" algn="ctr">
                      <a:solidFill>
                        <a:srgbClr val="D3E0EE"/>
                      </a:solidFill>
                      <a:prstDash val="solid"/>
                      <a:round/>
                      <a:headEnd type="none" w="med" len="med"/>
                      <a:tailEnd type="none" w="med" len="med"/>
                    </a:lnB>
                    <a:solidFill>
                      <a:srgbClr val="EEF4FB"/>
                    </a:solidFill>
                  </a:tcPr>
                </a:tc>
                <a:extLst>
                  <a:ext uri="{0D108BD9-81ED-4DB2-BD59-A6C34878D82A}">
                    <a16:rowId xmlns:a16="http://schemas.microsoft.com/office/drawing/2014/main" val="10002"/>
                  </a:ext>
                </a:extLst>
              </a:tr>
              <a:tr h="576072">
                <a:tc>
                  <a:txBody>
                    <a:bodyPr/>
                    <a:lstStyle/>
                    <a:p>
                      <a:pPr marL="0" indent="0" algn="l">
                        <a:buNone/>
                      </a:pPr>
                      <a:r>
                        <a:rPr lang="en-US" sz="1400" b="1" dirty="0">
                          <a:solidFill>
                            <a:srgbClr val="1565C0"/>
                          </a:solidFill>
                          <a:latin typeface="Trebuchet MS" pitchFamily="34" charset="0"/>
                          <a:ea typeface="Trebuchet MS" pitchFamily="34" charset="-122"/>
                          <a:cs typeface="Trebuchet MS" pitchFamily="34" charset="-120"/>
                        </a:rPr>
                        <a:t>Vibration Sensor</a:t>
                      </a:r>
                      <a:endParaRPr lang="en-US" sz="1400" dirty="0">
                        <a:latin typeface="Trebuchet MS" charset="0"/>
                        <a:ea typeface="Trebuchet MS" charset="0"/>
                        <a:cs typeface="Trebuchet MS" charset="0"/>
                      </a:endParaRPr>
                    </a:p>
                  </a:txBody>
                  <a:tcPr marL="127000" marR="127000" marT="50800" marB="50800" anchor="ctr">
                    <a:lnL w="12700" cap="flat" cmpd="sng" algn="ctr">
                      <a:solidFill>
                        <a:srgbClr val="D3E0EE"/>
                      </a:solidFill>
                      <a:prstDash val="solid"/>
                      <a:round/>
                      <a:headEnd type="none" w="med" len="med"/>
                      <a:tailEnd type="none" w="med" len="med"/>
                    </a:lnL>
                    <a:lnR w="12700" cap="flat" cmpd="sng" algn="ctr">
                      <a:solidFill>
                        <a:srgbClr val="D3E0EE"/>
                      </a:solidFill>
                      <a:prstDash val="solid"/>
                      <a:round/>
                      <a:headEnd type="none" w="med" len="med"/>
                      <a:tailEnd type="none" w="med" len="med"/>
                    </a:lnR>
                    <a:lnT w="12700" cap="flat" cmpd="sng" algn="ctr">
                      <a:solidFill>
                        <a:srgbClr val="D3E0EE"/>
                      </a:solidFill>
                      <a:prstDash val="solid"/>
                      <a:round/>
                      <a:headEnd type="none" w="med" len="med"/>
                      <a:tailEnd type="none" w="med" len="med"/>
                    </a:lnT>
                    <a:lnB w="12700" cap="flat" cmpd="sng" algn="ctr">
                      <a:solidFill>
                        <a:srgbClr val="D3E0EE"/>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D3D"/>
                          </a:solidFill>
                          <a:latin typeface="Calibri" pitchFamily="34" charset="0"/>
                          <a:ea typeface="Calibri" pitchFamily="34" charset="-122"/>
                          <a:cs typeface="Calibri" pitchFamily="34" charset="-120"/>
                        </a:rPr>
                        <a:t>Detects abnormal machine vibration</a:t>
                      </a:r>
                      <a:endParaRPr lang="en-US" sz="1400" dirty="0">
                        <a:latin typeface="Calibri" charset="0"/>
                        <a:ea typeface="Calibri" charset="0"/>
                        <a:cs typeface="Calibri" charset="0"/>
                      </a:endParaRPr>
                    </a:p>
                  </a:txBody>
                  <a:tcPr marL="127000" marR="127000" marT="50800" marB="50800" anchor="ctr">
                    <a:lnL w="12700" cap="flat" cmpd="sng" algn="ctr">
                      <a:solidFill>
                        <a:srgbClr val="D3E0EE"/>
                      </a:solidFill>
                      <a:prstDash val="solid"/>
                      <a:round/>
                      <a:headEnd type="none" w="med" len="med"/>
                      <a:tailEnd type="none" w="med" len="med"/>
                    </a:lnL>
                    <a:lnR w="12700" cap="flat" cmpd="sng" algn="ctr">
                      <a:solidFill>
                        <a:srgbClr val="D3E0EE"/>
                      </a:solidFill>
                      <a:prstDash val="solid"/>
                      <a:round/>
                      <a:headEnd type="none" w="med" len="med"/>
                      <a:tailEnd type="none" w="med" len="med"/>
                    </a:lnR>
                    <a:lnT w="12700" cap="flat" cmpd="sng" algn="ctr">
                      <a:solidFill>
                        <a:srgbClr val="D3E0EE"/>
                      </a:solidFill>
                      <a:prstDash val="solid"/>
                      <a:round/>
                      <a:headEnd type="none" w="med" len="med"/>
                      <a:tailEnd type="none" w="med" len="med"/>
                    </a:lnT>
                    <a:lnB w="12700" cap="flat" cmpd="sng" algn="ctr">
                      <a:solidFill>
                        <a:srgbClr val="D3E0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6072">
                <a:tc>
                  <a:txBody>
                    <a:bodyPr/>
                    <a:lstStyle/>
                    <a:p>
                      <a:pPr marL="0" indent="0" algn="l">
                        <a:buNone/>
                      </a:pPr>
                      <a:r>
                        <a:rPr lang="en-US" sz="1400" b="1" dirty="0">
                          <a:solidFill>
                            <a:srgbClr val="1565C0"/>
                          </a:solidFill>
                          <a:latin typeface="Trebuchet MS" pitchFamily="34" charset="0"/>
                          <a:ea typeface="Trebuchet MS" pitchFamily="34" charset="-122"/>
                          <a:cs typeface="Trebuchet MS" pitchFamily="34" charset="-120"/>
                        </a:rPr>
                        <a:t>RGB LED</a:t>
                      </a:r>
                      <a:endParaRPr lang="en-US" sz="1400" dirty="0">
                        <a:latin typeface="Trebuchet MS" charset="0"/>
                        <a:ea typeface="Trebuchet MS" charset="0"/>
                        <a:cs typeface="Trebuchet MS" charset="0"/>
                      </a:endParaRPr>
                    </a:p>
                  </a:txBody>
                  <a:tcPr marL="127000" marR="127000" marT="50800" marB="50800" anchor="ctr">
                    <a:lnL w="12700" cap="flat" cmpd="sng" algn="ctr">
                      <a:solidFill>
                        <a:srgbClr val="D3E0EE"/>
                      </a:solidFill>
                      <a:prstDash val="solid"/>
                      <a:round/>
                      <a:headEnd type="none" w="med" len="med"/>
                      <a:tailEnd type="none" w="med" len="med"/>
                    </a:lnL>
                    <a:lnR w="12700" cap="flat" cmpd="sng" algn="ctr">
                      <a:solidFill>
                        <a:srgbClr val="D3E0EE"/>
                      </a:solidFill>
                      <a:prstDash val="solid"/>
                      <a:round/>
                      <a:headEnd type="none" w="med" len="med"/>
                      <a:tailEnd type="none" w="med" len="med"/>
                    </a:lnR>
                    <a:lnT w="12700" cap="flat" cmpd="sng" algn="ctr">
                      <a:solidFill>
                        <a:srgbClr val="D3E0EE"/>
                      </a:solidFill>
                      <a:prstDash val="solid"/>
                      <a:round/>
                      <a:headEnd type="none" w="med" len="med"/>
                      <a:tailEnd type="none" w="med" len="med"/>
                    </a:lnT>
                    <a:lnB w="12700" cap="flat" cmpd="sng" algn="ctr">
                      <a:solidFill>
                        <a:srgbClr val="D3E0EE"/>
                      </a:solidFill>
                      <a:prstDash val="solid"/>
                      <a:round/>
                      <a:headEnd type="none" w="med" len="med"/>
                      <a:tailEnd type="none" w="med" len="med"/>
                    </a:lnB>
                    <a:solidFill>
                      <a:srgbClr val="EEF4FB"/>
                    </a:solidFill>
                  </a:tcPr>
                </a:tc>
                <a:tc>
                  <a:txBody>
                    <a:bodyPr/>
                    <a:lstStyle/>
                    <a:p>
                      <a:pPr marL="0" indent="0" algn="l">
                        <a:buNone/>
                      </a:pPr>
                      <a:r>
                        <a:rPr lang="en-US" sz="1400" dirty="0">
                          <a:solidFill>
                            <a:srgbClr val="1F2D3D"/>
                          </a:solidFill>
                          <a:latin typeface="Calibri" pitchFamily="34" charset="0"/>
                          <a:ea typeface="Calibri" pitchFamily="34" charset="-122"/>
                          <a:cs typeface="Calibri" pitchFamily="34" charset="-120"/>
                        </a:rPr>
                        <a:t>Indicates machine health — green, yellow, red</a:t>
                      </a:r>
                      <a:endParaRPr lang="en-US" sz="1400" dirty="0">
                        <a:latin typeface="Calibri" charset="0"/>
                        <a:ea typeface="Calibri" charset="0"/>
                        <a:cs typeface="Calibri" charset="0"/>
                      </a:endParaRPr>
                    </a:p>
                  </a:txBody>
                  <a:tcPr marL="127000" marR="127000" marT="50800" marB="50800" anchor="ctr">
                    <a:lnL w="12700" cap="flat" cmpd="sng" algn="ctr">
                      <a:solidFill>
                        <a:srgbClr val="D3E0EE"/>
                      </a:solidFill>
                      <a:prstDash val="solid"/>
                      <a:round/>
                      <a:headEnd type="none" w="med" len="med"/>
                      <a:tailEnd type="none" w="med" len="med"/>
                    </a:lnL>
                    <a:lnR w="12700" cap="flat" cmpd="sng" algn="ctr">
                      <a:solidFill>
                        <a:srgbClr val="D3E0EE"/>
                      </a:solidFill>
                      <a:prstDash val="solid"/>
                      <a:round/>
                      <a:headEnd type="none" w="med" len="med"/>
                      <a:tailEnd type="none" w="med" len="med"/>
                    </a:lnR>
                    <a:lnT w="12700" cap="flat" cmpd="sng" algn="ctr">
                      <a:solidFill>
                        <a:srgbClr val="D3E0EE"/>
                      </a:solidFill>
                      <a:prstDash val="solid"/>
                      <a:round/>
                      <a:headEnd type="none" w="med" len="med"/>
                      <a:tailEnd type="none" w="med" len="med"/>
                    </a:lnT>
                    <a:lnB w="12700" cap="flat" cmpd="sng" algn="ctr">
                      <a:solidFill>
                        <a:srgbClr val="D3E0EE"/>
                      </a:solidFill>
                      <a:prstDash val="solid"/>
                      <a:round/>
                      <a:headEnd type="none" w="med" len="med"/>
                      <a:tailEnd type="none" w="med" len="med"/>
                    </a:lnB>
                    <a:solidFill>
                      <a:srgbClr val="EEF4FB"/>
                    </a:solidFill>
                  </a:tcPr>
                </a:tc>
                <a:extLst>
                  <a:ext uri="{0D108BD9-81ED-4DB2-BD59-A6C34878D82A}">
                    <a16:rowId xmlns:a16="http://schemas.microsoft.com/office/drawing/2014/main" val="10004"/>
                  </a:ext>
                </a:extLst>
              </a:tr>
              <a:tr h="576072">
                <a:tc>
                  <a:txBody>
                    <a:bodyPr/>
                    <a:lstStyle/>
                    <a:p>
                      <a:pPr marL="0" indent="0" algn="l">
                        <a:buNone/>
                      </a:pPr>
                      <a:r>
                        <a:rPr lang="en-US" sz="1400" b="1" dirty="0">
                          <a:solidFill>
                            <a:srgbClr val="1565C0"/>
                          </a:solidFill>
                          <a:latin typeface="Trebuchet MS" pitchFamily="34" charset="0"/>
                          <a:ea typeface="Trebuchet MS" pitchFamily="34" charset="-122"/>
                          <a:cs typeface="Trebuchet MS" pitchFamily="34" charset="-120"/>
                        </a:rPr>
                        <a:t>OLED Display</a:t>
                      </a:r>
                      <a:endParaRPr lang="en-US" sz="1400" dirty="0">
                        <a:latin typeface="Trebuchet MS" charset="0"/>
                        <a:ea typeface="Trebuchet MS" charset="0"/>
                        <a:cs typeface="Trebuchet MS" charset="0"/>
                      </a:endParaRPr>
                    </a:p>
                  </a:txBody>
                  <a:tcPr marL="127000" marR="127000" marT="50800" marB="50800" anchor="ctr">
                    <a:lnL w="12700" cap="flat" cmpd="sng" algn="ctr">
                      <a:solidFill>
                        <a:srgbClr val="D3E0EE"/>
                      </a:solidFill>
                      <a:prstDash val="solid"/>
                      <a:round/>
                      <a:headEnd type="none" w="med" len="med"/>
                      <a:tailEnd type="none" w="med" len="med"/>
                    </a:lnL>
                    <a:lnR w="12700" cap="flat" cmpd="sng" algn="ctr">
                      <a:solidFill>
                        <a:srgbClr val="D3E0EE"/>
                      </a:solidFill>
                      <a:prstDash val="solid"/>
                      <a:round/>
                      <a:headEnd type="none" w="med" len="med"/>
                      <a:tailEnd type="none" w="med" len="med"/>
                    </a:lnR>
                    <a:lnT w="12700" cap="flat" cmpd="sng" algn="ctr">
                      <a:solidFill>
                        <a:srgbClr val="D3E0EE"/>
                      </a:solidFill>
                      <a:prstDash val="solid"/>
                      <a:round/>
                      <a:headEnd type="none" w="med" len="med"/>
                      <a:tailEnd type="none" w="med" len="med"/>
                    </a:lnT>
                    <a:lnB w="12700" cap="flat" cmpd="sng" algn="ctr">
                      <a:solidFill>
                        <a:srgbClr val="D3E0EE"/>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D3D"/>
                          </a:solidFill>
                          <a:latin typeface="Calibri" pitchFamily="34" charset="0"/>
                          <a:ea typeface="Calibri" pitchFamily="34" charset="-122"/>
                          <a:cs typeface="Calibri" pitchFamily="34" charset="-120"/>
                        </a:rPr>
                        <a:t>Shows machine status and health score</a:t>
                      </a:r>
                      <a:endParaRPr lang="en-US" sz="1400" dirty="0">
                        <a:latin typeface="Calibri" charset="0"/>
                        <a:ea typeface="Calibri" charset="0"/>
                        <a:cs typeface="Calibri" charset="0"/>
                      </a:endParaRPr>
                    </a:p>
                  </a:txBody>
                  <a:tcPr marL="127000" marR="127000" marT="50800" marB="50800" anchor="ctr">
                    <a:lnL w="12700" cap="flat" cmpd="sng" algn="ctr">
                      <a:solidFill>
                        <a:srgbClr val="D3E0EE"/>
                      </a:solidFill>
                      <a:prstDash val="solid"/>
                      <a:round/>
                      <a:headEnd type="none" w="med" len="med"/>
                      <a:tailEnd type="none" w="med" len="med"/>
                    </a:lnL>
                    <a:lnR w="12700" cap="flat" cmpd="sng" algn="ctr">
                      <a:solidFill>
                        <a:srgbClr val="D3E0EE"/>
                      </a:solidFill>
                      <a:prstDash val="solid"/>
                      <a:round/>
                      <a:headEnd type="none" w="med" len="med"/>
                      <a:tailEnd type="none" w="med" len="med"/>
                    </a:lnR>
                    <a:lnT w="12700" cap="flat" cmpd="sng" algn="ctr">
                      <a:solidFill>
                        <a:srgbClr val="D3E0EE"/>
                      </a:solidFill>
                      <a:prstDash val="solid"/>
                      <a:round/>
                      <a:headEnd type="none" w="med" len="med"/>
                      <a:tailEnd type="none" w="med" len="med"/>
                    </a:lnT>
                    <a:lnB w="12700" cap="flat" cmpd="sng" algn="ctr">
                      <a:solidFill>
                        <a:srgbClr val="D3E0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76072">
                <a:tc>
                  <a:txBody>
                    <a:bodyPr/>
                    <a:lstStyle/>
                    <a:p>
                      <a:pPr marL="0" indent="0" algn="l">
                        <a:buNone/>
                      </a:pPr>
                      <a:r>
                        <a:rPr lang="en-US" sz="1400" b="1" dirty="0">
                          <a:solidFill>
                            <a:srgbClr val="1565C0"/>
                          </a:solidFill>
                          <a:latin typeface="Trebuchet MS" pitchFamily="34" charset="0"/>
                          <a:ea typeface="Trebuchet MS" pitchFamily="34" charset="-122"/>
                          <a:cs typeface="Trebuchet MS" pitchFamily="34" charset="-120"/>
                        </a:rPr>
                        <a:t>Buzzer</a:t>
                      </a:r>
                      <a:endParaRPr lang="en-US" sz="1400" dirty="0">
                        <a:latin typeface="Trebuchet MS" charset="0"/>
                        <a:ea typeface="Trebuchet MS" charset="0"/>
                        <a:cs typeface="Trebuchet MS" charset="0"/>
                      </a:endParaRPr>
                    </a:p>
                  </a:txBody>
                  <a:tcPr marL="127000" marR="127000" marT="50800" marB="50800" anchor="ctr">
                    <a:lnL w="12700" cap="flat" cmpd="sng" algn="ctr">
                      <a:solidFill>
                        <a:srgbClr val="D3E0EE"/>
                      </a:solidFill>
                      <a:prstDash val="solid"/>
                      <a:round/>
                      <a:headEnd type="none" w="med" len="med"/>
                      <a:tailEnd type="none" w="med" len="med"/>
                    </a:lnL>
                    <a:lnR w="12700" cap="flat" cmpd="sng" algn="ctr">
                      <a:solidFill>
                        <a:srgbClr val="D3E0EE"/>
                      </a:solidFill>
                      <a:prstDash val="solid"/>
                      <a:round/>
                      <a:headEnd type="none" w="med" len="med"/>
                      <a:tailEnd type="none" w="med" len="med"/>
                    </a:lnR>
                    <a:lnT w="12700" cap="flat" cmpd="sng" algn="ctr">
                      <a:solidFill>
                        <a:srgbClr val="D3E0EE"/>
                      </a:solidFill>
                      <a:prstDash val="solid"/>
                      <a:round/>
                      <a:headEnd type="none" w="med" len="med"/>
                      <a:tailEnd type="none" w="med" len="med"/>
                    </a:lnT>
                    <a:lnB w="12700" cap="flat" cmpd="sng" algn="ctr">
                      <a:solidFill>
                        <a:srgbClr val="D3E0EE"/>
                      </a:solidFill>
                      <a:prstDash val="solid"/>
                      <a:round/>
                      <a:headEnd type="none" w="med" len="med"/>
                      <a:tailEnd type="none" w="med" len="med"/>
                    </a:lnB>
                    <a:solidFill>
                      <a:srgbClr val="EEF4FB"/>
                    </a:solidFill>
                  </a:tcPr>
                </a:tc>
                <a:tc>
                  <a:txBody>
                    <a:bodyPr/>
                    <a:lstStyle/>
                    <a:p>
                      <a:pPr marL="0" indent="0" algn="l">
                        <a:buNone/>
                      </a:pPr>
                      <a:r>
                        <a:rPr lang="en-US" sz="1400" dirty="0">
                          <a:solidFill>
                            <a:srgbClr val="1F2D3D"/>
                          </a:solidFill>
                          <a:latin typeface="Calibri" pitchFamily="34" charset="0"/>
                          <a:ea typeface="Calibri" pitchFamily="34" charset="-122"/>
                          <a:cs typeface="Calibri" pitchFamily="34" charset="-120"/>
                        </a:rPr>
                        <a:t>Sounds an alarm during critical failures</a:t>
                      </a:r>
                      <a:endParaRPr lang="en-US" sz="1400" dirty="0">
                        <a:latin typeface="Calibri" charset="0"/>
                        <a:ea typeface="Calibri" charset="0"/>
                        <a:cs typeface="Calibri" charset="0"/>
                      </a:endParaRPr>
                    </a:p>
                  </a:txBody>
                  <a:tcPr marL="127000" marR="127000" marT="50800" marB="50800" anchor="ctr">
                    <a:lnL w="12700" cap="flat" cmpd="sng" algn="ctr">
                      <a:solidFill>
                        <a:srgbClr val="D3E0EE"/>
                      </a:solidFill>
                      <a:prstDash val="solid"/>
                      <a:round/>
                      <a:headEnd type="none" w="med" len="med"/>
                      <a:tailEnd type="none" w="med" len="med"/>
                    </a:lnL>
                    <a:lnR w="12700" cap="flat" cmpd="sng" algn="ctr">
                      <a:solidFill>
                        <a:srgbClr val="D3E0EE"/>
                      </a:solidFill>
                      <a:prstDash val="solid"/>
                      <a:round/>
                      <a:headEnd type="none" w="med" len="med"/>
                      <a:tailEnd type="none" w="med" len="med"/>
                    </a:lnR>
                    <a:lnT w="12700" cap="flat" cmpd="sng" algn="ctr">
                      <a:solidFill>
                        <a:srgbClr val="D3E0EE"/>
                      </a:solidFill>
                      <a:prstDash val="solid"/>
                      <a:round/>
                      <a:headEnd type="none" w="med" len="med"/>
                      <a:tailEnd type="none" w="med" len="med"/>
                    </a:lnT>
                    <a:lnB w="12700" cap="flat" cmpd="sng" algn="ctr">
                      <a:solidFill>
                        <a:srgbClr val="D3E0EE"/>
                      </a:solidFill>
                      <a:prstDash val="solid"/>
                      <a:round/>
                      <a:headEnd type="none" w="med" len="med"/>
                      <a:tailEnd type="none" w="med" len="med"/>
                    </a:lnB>
                    <a:solidFill>
                      <a:srgbClr val="EEF4FB"/>
                    </a:solidFill>
                  </a:tcPr>
                </a:tc>
                <a:extLst>
                  <a:ext uri="{0D108BD9-81ED-4DB2-BD59-A6C34878D82A}">
                    <a16:rowId xmlns:a16="http://schemas.microsoft.com/office/drawing/2014/main" val="10006"/>
                  </a:ext>
                </a:extLst>
              </a:tr>
              <a:tr h="576072">
                <a:tc>
                  <a:txBody>
                    <a:bodyPr/>
                    <a:lstStyle/>
                    <a:p>
                      <a:pPr marL="0" indent="0" algn="l">
                        <a:buNone/>
                      </a:pPr>
                      <a:r>
                        <a:rPr lang="en-US" sz="1400" b="1" dirty="0">
                          <a:solidFill>
                            <a:srgbClr val="1565C0"/>
                          </a:solidFill>
                          <a:latin typeface="Trebuchet MS" pitchFamily="34" charset="0"/>
                          <a:ea typeface="Trebuchet MS" pitchFamily="34" charset="-122"/>
                          <a:cs typeface="Trebuchet MS" pitchFamily="34" charset="-120"/>
                        </a:rPr>
                        <a:t>Servo Motor</a:t>
                      </a:r>
                      <a:endParaRPr lang="en-US" sz="1400" dirty="0">
                        <a:latin typeface="Trebuchet MS" charset="0"/>
                        <a:ea typeface="Trebuchet MS" charset="0"/>
                        <a:cs typeface="Trebuchet MS" charset="0"/>
                      </a:endParaRPr>
                    </a:p>
                  </a:txBody>
                  <a:tcPr marL="127000" marR="127000" marT="50800" marB="50800" anchor="ctr">
                    <a:lnL w="12700" cap="flat" cmpd="sng" algn="ctr">
                      <a:solidFill>
                        <a:srgbClr val="D3E0EE"/>
                      </a:solidFill>
                      <a:prstDash val="solid"/>
                      <a:round/>
                      <a:headEnd type="none" w="med" len="med"/>
                      <a:tailEnd type="none" w="med" len="med"/>
                    </a:lnL>
                    <a:lnR w="12700" cap="flat" cmpd="sng" algn="ctr">
                      <a:solidFill>
                        <a:srgbClr val="D3E0EE"/>
                      </a:solidFill>
                      <a:prstDash val="solid"/>
                      <a:round/>
                      <a:headEnd type="none" w="med" len="med"/>
                      <a:tailEnd type="none" w="med" len="med"/>
                    </a:lnR>
                    <a:lnT w="12700" cap="flat" cmpd="sng" algn="ctr">
                      <a:solidFill>
                        <a:srgbClr val="D3E0EE"/>
                      </a:solidFill>
                      <a:prstDash val="solid"/>
                      <a:round/>
                      <a:headEnd type="none" w="med" len="med"/>
                      <a:tailEnd type="none" w="med" len="med"/>
                    </a:lnT>
                    <a:lnB w="12700" cap="flat" cmpd="sng" algn="ctr">
                      <a:solidFill>
                        <a:srgbClr val="D3E0EE"/>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D3D"/>
                          </a:solidFill>
                          <a:latin typeface="Calibri" pitchFamily="34" charset="0"/>
                          <a:ea typeface="Calibri" pitchFamily="34" charset="-122"/>
                          <a:cs typeface="Calibri" pitchFamily="34" charset="-120"/>
                        </a:rPr>
                        <a:t>Simulates machine operation</a:t>
                      </a:r>
                      <a:endParaRPr lang="en-US" sz="1400" dirty="0">
                        <a:latin typeface="Calibri" charset="0"/>
                        <a:ea typeface="Calibri" charset="0"/>
                        <a:cs typeface="Calibri" charset="0"/>
                      </a:endParaRPr>
                    </a:p>
                  </a:txBody>
                  <a:tcPr marL="127000" marR="127000" marT="50800" marB="50800" anchor="ctr">
                    <a:lnL w="12700" cap="flat" cmpd="sng" algn="ctr">
                      <a:solidFill>
                        <a:srgbClr val="D3E0EE"/>
                      </a:solidFill>
                      <a:prstDash val="solid"/>
                      <a:round/>
                      <a:headEnd type="none" w="med" len="med"/>
                      <a:tailEnd type="none" w="med" len="med"/>
                    </a:lnL>
                    <a:lnR w="12700" cap="flat" cmpd="sng" algn="ctr">
                      <a:solidFill>
                        <a:srgbClr val="D3E0EE"/>
                      </a:solidFill>
                      <a:prstDash val="solid"/>
                      <a:round/>
                      <a:headEnd type="none" w="med" len="med"/>
                      <a:tailEnd type="none" w="med" len="med"/>
                    </a:lnR>
                    <a:lnT w="12700" cap="flat" cmpd="sng" algn="ctr">
                      <a:solidFill>
                        <a:srgbClr val="D3E0EE"/>
                      </a:solidFill>
                      <a:prstDash val="solid"/>
                      <a:round/>
                      <a:headEnd type="none" w="med" len="med"/>
                      <a:tailEnd type="none" w="med" len="med"/>
                    </a:lnT>
                    <a:lnB w="12700" cap="flat" cmpd="sng" algn="ctr">
                      <a:solidFill>
                        <a:srgbClr val="D3E0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4"/>
          <p:cNvSpPr/>
          <p:nvPr/>
        </p:nvSpPr>
        <p:spPr>
          <a:xfrm>
            <a:off x="8275320" y="1600200"/>
            <a:ext cx="3246120" cy="4617720"/>
          </a:xfrm>
          <a:prstGeom prst="rect">
            <a:avLst/>
          </a:prstGeom>
          <a:solidFill>
            <a:srgbClr val="0E2A47"/>
          </a:solidFill>
          <a:ln/>
          <a:effectLst>
            <a:outerShdw blurRad="114300" dist="38100" dir="5400000" algn="bl" rotWithShape="0">
              <a:srgbClr val="0E2A47">
                <a:alpha val="16000"/>
              </a:srgbClr>
            </a:outerShdw>
          </a:effectLst>
        </p:spPr>
        <p:txBody>
          <a:bodyPr/>
          <a:lstStyle/>
          <a:p>
            <a:endParaRPr lang="LID4096"/>
          </a:p>
        </p:txBody>
      </p:sp>
      <p:sp>
        <p:nvSpPr>
          <p:cNvPr id="8" name="Shape 5"/>
          <p:cNvSpPr/>
          <p:nvPr/>
        </p:nvSpPr>
        <p:spPr>
          <a:xfrm>
            <a:off x="8275320" y="1600200"/>
            <a:ext cx="3246120" cy="109728"/>
          </a:xfrm>
          <a:prstGeom prst="rect">
            <a:avLst/>
          </a:prstGeom>
          <a:solidFill>
            <a:srgbClr val="0FB5D6"/>
          </a:solidFill>
          <a:ln/>
        </p:spPr>
        <p:txBody>
          <a:bodyPr/>
          <a:lstStyle/>
          <a:p>
            <a:endParaRPr lang="LID4096"/>
          </a:p>
        </p:txBody>
      </p:sp>
      <p:sp>
        <p:nvSpPr>
          <p:cNvPr id="9" name="Text 6"/>
          <p:cNvSpPr/>
          <p:nvPr/>
        </p:nvSpPr>
        <p:spPr>
          <a:xfrm>
            <a:off x="8458200" y="1828800"/>
            <a:ext cx="2880360" cy="914400"/>
          </a:xfrm>
          <a:prstGeom prst="rect">
            <a:avLst/>
          </a:prstGeom>
          <a:noFill/>
          <a:ln/>
        </p:spPr>
        <p:txBody>
          <a:bodyPr wrap="square" lIns="0" tIns="0" rIns="0" bIns="0" rtlCol="0" anchor="ctr"/>
          <a:lstStyle/>
          <a:p>
            <a:pPr marL="0" indent="0">
              <a:buNone/>
            </a:pPr>
            <a:r>
              <a:rPr lang="en-US" sz="6000" b="1" dirty="0">
                <a:solidFill>
                  <a:srgbClr val="0FB5D6"/>
                </a:solidFill>
                <a:latin typeface="Trebuchet MS" pitchFamily="34" charset="0"/>
                <a:ea typeface="Trebuchet MS" pitchFamily="34" charset="-122"/>
                <a:cs typeface="Trebuchet MS" pitchFamily="34" charset="-120"/>
              </a:rPr>
              <a:t>7</a:t>
            </a:r>
            <a:endParaRPr lang="en-US" sz="6000" dirty="0"/>
          </a:p>
        </p:txBody>
      </p:sp>
      <p:sp>
        <p:nvSpPr>
          <p:cNvPr id="10" name="Text 7"/>
          <p:cNvSpPr/>
          <p:nvPr/>
        </p:nvSpPr>
        <p:spPr>
          <a:xfrm>
            <a:off x="8476488" y="2743200"/>
            <a:ext cx="2880360" cy="365760"/>
          </a:xfrm>
          <a:prstGeom prst="rect">
            <a:avLst/>
          </a:prstGeom>
          <a:noFill/>
          <a:ln/>
        </p:spPr>
        <p:txBody>
          <a:bodyPr wrap="square" lIns="0" tIns="0" rIns="0" bIns="0" rtlCol="0" anchor="ctr"/>
          <a:lstStyle/>
          <a:p>
            <a:pPr marL="0" indent="0">
              <a:buNone/>
            </a:pPr>
            <a:r>
              <a:rPr lang="en-US" sz="1400" dirty="0">
                <a:solidFill>
                  <a:srgbClr val="C7D9EC"/>
                </a:solidFill>
                <a:latin typeface="Calibri" pitchFamily="34" charset="0"/>
                <a:ea typeface="Calibri" pitchFamily="34" charset="-122"/>
                <a:cs typeface="Calibri" pitchFamily="34" charset="-120"/>
              </a:rPr>
              <a:t>simulated components</a:t>
            </a:r>
            <a:endParaRPr lang="en-US" sz="1400" dirty="0"/>
          </a:p>
        </p:txBody>
      </p:sp>
      <p:sp>
        <p:nvSpPr>
          <p:cNvPr id="11" name="Text 8"/>
          <p:cNvSpPr/>
          <p:nvPr/>
        </p:nvSpPr>
        <p:spPr>
          <a:xfrm>
            <a:off x="8476488" y="3429000"/>
            <a:ext cx="2880360" cy="2560320"/>
          </a:xfrm>
          <a:prstGeom prst="rect">
            <a:avLst/>
          </a:prstGeom>
          <a:noFill/>
          <a:ln/>
        </p:spPr>
        <p:txBody>
          <a:bodyPr wrap="square" lIns="0" tIns="0" rIns="0" bIns="0" rtlCol="0" anchor="t"/>
          <a:lstStyle/>
          <a:p>
            <a:pPr marL="0" indent="0">
              <a:spcAft>
                <a:spcPts val="800"/>
              </a:spcAft>
              <a:buNone/>
            </a:pPr>
            <a:r>
              <a:rPr lang="en-US" sz="1400" b="1" dirty="0">
                <a:solidFill>
                  <a:srgbClr val="FFFFFF"/>
                </a:solidFill>
                <a:latin typeface="Trebuchet MS" pitchFamily="34" charset="0"/>
                <a:ea typeface="Trebuchet MS" pitchFamily="34" charset="-122"/>
                <a:cs typeface="Trebuchet MS" pitchFamily="34" charset="-120"/>
              </a:rPr>
              <a:t>Status colours</a:t>
            </a:r>
            <a:endParaRPr lang="en-US" sz="1400" dirty="0"/>
          </a:p>
          <a:p>
            <a:pPr marL="0" indent="0">
              <a:spcAft>
                <a:spcPts val="500"/>
              </a:spcAft>
              <a:buNone/>
            </a:pPr>
            <a:r>
              <a:rPr lang="en-US" sz="1300" dirty="0">
                <a:solidFill>
                  <a:srgbClr val="22C55E"/>
                </a:solidFill>
                <a:latin typeface="Calibri" pitchFamily="34" charset="0"/>
                <a:ea typeface="Calibri" pitchFamily="34" charset="-122"/>
                <a:cs typeface="Calibri" pitchFamily="34" charset="-120"/>
              </a:rPr>
              <a:t>● Green — healthy</a:t>
            </a:r>
            <a:endParaRPr lang="en-US" sz="1400" dirty="0"/>
          </a:p>
          <a:p>
            <a:pPr marL="0" indent="0">
              <a:spcAft>
                <a:spcPts val="500"/>
              </a:spcAft>
              <a:buNone/>
            </a:pPr>
            <a:r>
              <a:rPr lang="en-US" sz="1300" dirty="0">
                <a:solidFill>
                  <a:srgbClr val="F59E0B"/>
                </a:solidFill>
                <a:latin typeface="Calibri" pitchFamily="34" charset="0"/>
                <a:ea typeface="Calibri" pitchFamily="34" charset="-122"/>
                <a:cs typeface="Calibri" pitchFamily="34" charset="-120"/>
              </a:rPr>
              <a:t>● Yellow — warning</a:t>
            </a:r>
            <a:endParaRPr lang="en-US" sz="1400" dirty="0"/>
          </a:p>
          <a:p>
            <a:pPr marL="0" indent="0">
              <a:buNone/>
            </a:pPr>
            <a:r>
              <a:rPr lang="en-US" sz="1300" dirty="0">
                <a:solidFill>
                  <a:srgbClr val="EF4444"/>
                </a:solidFill>
                <a:latin typeface="Calibri" pitchFamily="34" charset="0"/>
                <a:ea typeface="Calibri" pitchFamily="34" charset="-122"/>
                <a:cs typeface="Calibri" pitchFamily="34" charset="-120"/>
              </a:rPr>
              <a:t>● Red — critical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2A47"/>
        </a:solidFill>
        <a:effectLst/>
      </p:bgPr>
    </p:bg>
    <p:spTree>
      <p:nvGrpSpPr>
        <p:cNvPr id="1" name=""/>
        <p:cNvGrpSpPr/>
        <p:nvPr/>
      </p:nvGrpSpPr>
      <p:grpSpPr>
        <a:xfrm>
          <a:off x="0" y="0"/>
          <a:ext cx="0" cy="0"/>
          <a:chOff x="0" y="0"/>
          <a:chExt cx="0" cy="0"/>
        </a:xfrm>
      </p:grpSpPr>
      <p:sp>
        <p:nvSpPr>
          <p:cNvPr id="2" name="Shape 0"/>
          <p:cNvSpPr/>
          <p:nvPr/>
        </p:nvSpPr>
        <p:spPr>
          <a:xfrm>
            <a:off x="0" y="0"/>
            <a:ext cx="201168" cy="1371600"/>
          </a:xfrm>
          <a:prstGeom prst="rect">
            <a:avLst/>
          </a:prstGeom>
          <a:solidFill>
            <a:srgbClr val="0FB5D6"/>
          </a:solidFill>
          <a:ln/>
        </p:spPr>
        <p:txBody>
          <a:bodyPr/>
          <a:lstStyle/>
          <a:p>
            <a:endParaRPr lang="LID4096"/>
          </a:p>
        </p:txBody>
      </p:sp>
      <p:sp>
        <p:nvSpPr>
          <p:cNvPr id="3" name="Text 1"/>
          <p:cNvSpPr/>
          <p:nvPr/>
        </p:nvSpPr>
        <p:spPr>
          <a:xfrm>
            <a:off x="640080" y="310896"/>
            <a:ext cx="10058400" cy="292608"/>
          </a:xfrm>
          <a:prstGeom prst="rect">
            <a:avLst/>
          </a:prstGeom>
          <a:noFill/>
          <a:ln/>
        </p:spPr>
        <p:txBody>
          <a:bodyPr wrap="square" lIns="0" tIns="0" rIns="0" bIns="0" rtlCol="0" anchor="ctr"/>
          <a:lstStyle/>
          <a:p>
            <a:pPr marL="0" indent="0">
              <a:buNone/>
            </a:pPr>
            <a:r>
              <a:rPr lang="en-US" sz="1200" b="1" kern="0" spc="300" dirty="0">
                <a:solidFill>
                  <a:srgbClr val="0FB5D6"/>
                </a:solidFill>
                <a:latin typeface="Trebuchet MS" pitchFamily="34" charset="0"/>
                <a:ea typeface="Trebuchet MS" pitchFamily="34" charset="-122"/>
                <a:cs typeface="Trebuchet MS" pitchFamily="34" charset="-120"/>
              </a:rPr>
              <a:t>PREDICTIVE MAINTENANCE</a:t>
            </a:r>
            <a:endParaRPr lang="en-US" sz="1200" dirty="0"/>
          </a:p>
        </p:txBody>
      </p:sp>
      <p:sp>
        <p:nvSpPr>
          <p:cNvPr id="4" name="Text 2"/>
          <p:cNvSpPr/>
          <p:nvPr/>
        </p:nvSpPr>
        <p:spPr>
          <a:xfrm>
            <a:off x="640080" y="566928"/>
            <a:ext cx="10972800" cy="64008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How the health score drives decisions</a:t>
            </a:r>
            <a:endParaRPr lang="en-US" sz="2800" dirty="0"/>
          </a:p>
        </p:txBody>
      </p:sp>
      <p:sp>
        <p:nvSpPr>
          <p:cNvPr id="5" name="Shape 3"/>
          <p:cNvSpPr/>
          <p:nvPr/>
        </p:nvSpPr>
        <p:spPr>
          <a:xfrm>
            <a:off x="640080" y="1600200"/>
            <a:ext cx="10908792" cy="1417320"/>
          </a:xfrm>
          <a:prstGeom prst="rect">
            <a:avLst/>
          </a:prstGeom>
          <a:solidFill>
            <a:srgbClr val="12325A"/>
          </a:solidFill>
          <a:ln w="12700">
            <a:solidFill>
              <a:srgbClr val="2C5F95"/>
            </a:solidFill>
            <a:prstDash val="solid"/>
          </a:ln>
        </p:spPr>
        <p:txBody>
          <a:bodyPr/>
          <a:lstStyle/>
          <a:p>
            <a:endParaRPr lang="LID4096"/>
          </a:p>
        </p:txBody>
      </p:sp>
      <p:sp>
        <p:nvSpPr>
          <p:cNvPr id="6" name="Text 4"/>
          <p:cNvSpPr/>
          <p:nvPr/>
        </p:nvSpPr>
        <p:spPr>
          <a:xfrm>
            <a:off x="914400" y="1783080"/>
            <a:ext cx="3657600" cy="320040"/>
          </a:xfrm>
          <a:prstGeom prst="rect">
            <a:avLst/>
          </a:prstGeom>
          <a:noFill/>
          <a:ln/>
        </p:spPr>
        <p:txBody>
          <a:bodyPr wrap="square" lIns="0" tIns="0" rIns="0" bIns="0" rtlCol="0" anchor="ctr"/>
          <a:lstStyle/>
          <a:p>
            <a:pPr marL="0" indent="0">
              <a:buNone/>
            </a:pPr>
            <a:r>
              <a:rPr lang="en-US" sz="1200" b="1" kern="0" spc="200" dirty="0">
                <a:solidFill>
                  <a:srgbClr val="0FB5D6"/>
                </a:solidFill>
                <a:latin typeface="Trebuchet MS" pitchFamily="34" charset="0"/>
                <a:ea typeface="Trebuchet MS" pitchFamily="34" charset="-122"/>
                <a:cs typeface="Trebuchet MS" pitchFamily="34" charset="-120"/>
              </a:rPr>
              <a:t>HEALTH SCORE</a:t>
            </a:r>
            <a:endParaRPr lang="en-US" sz="1200" dirty="0"/>
          </a:p>
        </p:txBody>
      </p:sp>
      <p:sp>
        <p:nvSpPr>
          <p:cNvPr id="7" name="Text 5"/>
          <p:cNvSpPr/>
          <p:nvPr/>
        </p:nvSpPr>
        <p:spPr>
          <a:xfrm>
            <a:off x="914400" y="2084832"/>
            <a:ext cx="10332720" cy="502920"/>
          </a:xfrm>
          <a:prstGeom prst="rect">
            <a:avLst/>
          </a:prstGeom>
          <a:noFill/>
          <a:ln/>
        </p:spPr>
        <p:txBody>
          <a:bodyPr wrap="square" lIns="0" tIns="0" rIns="0" bIns="0" rtlCol="0" anchor="ctr"/>
          <a:lstStyle/>
          <a:p>
            <a:pPr marL="0" indent="0">
              <a:buNone/>
            </a:pPr>
            <a:r>
              <a:rPr lang="en-US" sz="2100" b="1" dirty="0">
                <a:solidFill>
                  <a:srgbClr val="FFFFFF"/>
                </a:solidFill>
                <a:latin typeface="Trebuchet MS" pitchFamily="34" charset="0"/>
                <a:ea typeface="Trebuchet MS" pitchFamily="34" charset="-122"/>
                <a:cs typeface="Trebuchet MS" pitchFamily="34" charset="-120"/>
              </a:rPr>
              <a:t>Health Score = 100 − </a:t>
            </a:r>
            <a:r>
              <a:rPr lang="en-US" sz="2100" b="1" dirty="0">
                <a:solidFill>
                  <a:srgbClr val="F59E0B"/>
                </a:solidFill>
                <a:latin typeface="Trebuchet MS" pitchFamily="34" charset="0"/>
                <a:ea typeface="Trebuchet MS" pitchFamily="34" charset="-122"/>
                <a:cs typeface="Trebuchet MS" pitchFamily="34" charset="-120"/>
              </a:rPr>
              <a:t>( 0.4 × Temperature Risk </a:t>
            </a:r>
            <a:r>
              <a:rPr lang="en-US" sz="2100" b="1" dirty="0">
                <a:solidFill>
                  <a:srgbClr val="FFFFFF"/>
                </a:solidFill>
                <a:latin typeface="Trebuchet MS" pitchFamily="34" charset="0"/>
                <a:ea typeface="Trebuchet MS" pitchFamily="34" charset="-122"/>
                <a:cs typeface="Trebuchet MS" pitchFamily="34" charset="-120"/>
              </a:rPr>
              <a:t>+ </a:t>
            </a:r>
            <a:r>
              <a:rPr lang="en-US" sz="2100" b="1" dirty="0">
                <a:solidFill>
                  <a:srgbClr val="0FB5D6"/>
                </a:solidFill>
                <a:latin typeface="Trebuchet MS" pitchFamily="34" charset="0"/>
                <a:ea typeface="Trebuchet MS" pitchFamily="34" charset="-122"/>
                <a:cs typeface="Trebuchet MS" pitchFamily="34" charset="-120"/>
              </a:rPr>
              <a:t>0.6 × Vibration Risk )</a:t>
            </a:r>
            <a:endParaRPr lang="en-US" sz="2100" dirty="0"/>
          </a:p>
        </p:txBody>
      </p:sp>
      <p:sp>
        <p:nvSpPr>
          <p:cNvPr id="8" name="Text 6"/>
          <p:cNvSpPr/>
          <p:nvPr/>
        </p:nvSpPr>
        <p:spPr>
          <a:xfrm>
            <a:off x="914400" y="2670048"/>
            <a:ext cx="10332720" cy="274320"/>
          </a:xfrm>
          <a:prstGeom prst="rect">
            <a:avLst/>
          </a:prstGeom>
          <a:noFill/>
          <a:ln/>
        </p:spPr>
        <p:txBody>
          <a:bodyPr wrap="square" lIns="0" tIns="0" rIns="0" bIns="0" rtlCol="0" anchor="ctr"/>
          <a:lstStyle/>
          <a:p>
            <a:pPr marL="0" indent="0">
              <a:buNone/>
            </a:pPr>
            <a:r>
              <a:rPr lang="en-US" sz="1300" i="1" dirty="0">
                <a:solidFill>
                  <a:srgbClr val="B9CDE3"/>
                </a:solidFill>
                <a:latin typeface="Calibri" pitchFamily="34" charset="0"/>
                <a:ea typeface="Calibri" pitchFamily="34" charset="-122"/>
                <a:cs typeface="Calibri" pitchFamily="34" charset="-120"/>
              </a:rPr>
              <a:t>A lower score signals a higher likelihood of failure — alerts fire when thresholds are exceeded.</a:t>
            </a:r>
            <a:endParaRPr lang="en-US" sz="1300" dirty="0"/>
          </a:p>
        </p:txBody>
      </p:sp>
      <p:sp>
        <p:nvSpPr>
          <p:cNvPr id="9" name="Shape 7"/>
          <p:cNvSpPr/>
          <p:nvPr/>
        </p:nvSpPr>
        <p:spPr>
          <a:xfrm>
            <a:off x="640080" y="3383280"/>
            <a:ext cx="3392424" cy="2788920"/>
          </a:xfrm>
          <a:prstGeom prst="rect">
            <a:avLst/>
          </a:prstGeom>
          <a:solidFill>
            <a:srgbClr val="FFFFFF"/>
          </a:solidFill>
          <a:ln/>
          <a:effectLst>
            <a:outerShdw blurRad="114300" dist="38100" dir="5400000" algn="bl" rotWithShape="0">
              <a:srgbClr val="0E2A47">
                <a:alpha val="16000"/>
              </a:srgbClr>
            </a:outerShdw>
          </a:effectLst>
        </p:spPr>
        <p:txBody>
          <a:bodyPr/>
          <a:lstStyle/>
          <a:p>
            <a:endParaRPr lang="LID4096"/>
          </a:p>
        </p:txBody>
      </p:sp>
      <p:sp>
        <p:nvSpPr>
          <p:cNvPr id="10" name="Shape 8"/>
          <p:cNvSpPr/>
          <p:nvPr/>
        </p:nvSpPr>
        <p:spPr>
          <a:xfrm>
            <a:off x="640080" y="3383280"/>
            <a:ext cx="3392424" cy="640080"/>
          </a:xfrm>
          <a:prstGeom prst="rect">
            <a:avLst/>
          </a:prstGeom>
          <a:solidFill>
            <a:srgbClr val="22C55E"/>
          </a:solidFill>
          <a:ln/>
        </p:spPr>
        <p:txBody>
          <a:bodyPr/>
          <a:lstStyle/>
          <a:p>
            <a:endParaRPr lang="LID4096"/>
          </a:p>
        </p:txBody>
      </p:sp>
      <p:sp>
        <p:nvSpPr>
          <p:cNvPr id="11" name="Text 9"/>
          <p:cNvSpPr/>
          <p:nvPr/>
        </p:nvSpPr>
        <p:spPr>
          <a:xfrm>
            <a:off x="868680" y="3383280"/>
            <a:ext cx="2935224" cy="640080"/>
          </a:xfrm>
          <a:prstGeom prst="rect">
            <a:avLst/>
          </a:prstGeom>
          <a:noFill/>
          <a:ln/>
        </p:spPr>
        <p:txBody>
          <a:bodyPr wrap="square" lIns="0" tIns="0" rIns="0" bIns="0" rtlCol="0" anchor="ctr"/>
          <a:lstStyle/>
          <a:p>
            <a:pPr marL="0" indent="0">
              <a:buNone/>
            </a:pPr>
            <a:r>
              <a:rPr lang="en-US" sz="1800" b="1" dirty="0">
                <a:solidFill>
                  <a:srgbClr val="FFFFFF"/>
                </a:solidFill>
                <a:latin typeface="Trebuchet MS" pitchFamily="34" charset="0"/>
                <a:ea typeface="Trebuchet MS" pitchFamily="34" charset="-122"/>
                <a:cs typeface="Trebuchet MS" pitchFamily="34" charset="-120"/>
              </a:rPr>
              <a:t>Healthy</a:t>
            </a:r>
            <a:endParaRPr lang="en-US" sz="1800" dirty="0"/>
          </a:p>
        </p:txBody>
      </p:sp>
      <p:sp>
        <p:nvSpPr>
          <p:cNvPr id="12" name="Text 10"/>
          <p:cNvSpPr/>
          <p:nvPr/>
        </p:nvSpPr>
        <p:spPr>
          <a:xfrm>
            <a:off x="868680" y="4206240"/>
            <a:ext cx="2935224" cy="365760"/>
          </a:xfrm>
          <a:prstGeom prst="rect">
            <a:avLst/>
          </a:prstGeom>
          <a:noFill/>
          <a:ln/>
        </p:spPr>
        <p:txBody>
          <a:bodyPr wrap="square" lIns="0" tIns="0" rIns="0" bIns="0" rtlCol="0" anchor="ctr"/>
          <a:lstStyle/>
          <a:p>
            <a:pPr marL="0" indent="0">
              <a:buNone/>
            </a:pPr>
            <a:r>
              <a:rPr lang="en-US" sz="1500" b="1" dirty="0">
                <a:solidFill>
                  <a:srgbClr val="22C55E"/>
                </a:solidFill>
                <a:latin typeface="Trebuchet MS" pitchFamily="34" charset="0"/>
                <a:ea typeface="Trebuchet MS" pitchFamily="34" charset="-122"/>
                <a:cs typeface="Trebuchet MS" pitchFamily="34" charset="-120"/>
              </a:rPr>
              <a:t>Score 70–100</a:t>
            </a:r>
            <a:endParaRPr lang="en-US" sz="1500" dirty="0"/>
          </a:p>
        </p:txBody>
      </p:sp>
      <p:sp>
        <p:nvSpPr>
          <p:cNvPr id="13" name="Text 11"/>
          <p:cNvSpPr/>
          <p:nvPr/>
        </p:nvSpPr>
        <p:spPr>
          <a:xfrm>
            <a:off x="868680" y="4663440"/>
            <a:ext cx="2935224" cy="1280160"/>
          </a:xfrm>
          <a:prstGeom prst="rect">
            <a:avLst/>
          </a:prstGeom>
          <a:noFill/>
          <a:ln/>
        </p:spPr>
        <p:txBody>
          <a:bodyPr wrap="square" lIns="0" tIns="0" rIns="0" bIns="0" rtlCol="0" anchor="t"/>
          <a:lstStyle/>
          <a:p>
            <a:pPr marL="0" indent="0">
              <a:lnSpc>
                <a:spcPct val="115000"/>
              </a:lnSpc>
              <a:buNone/>
            </a:pPr>
            <a:r>
              <a:rPr lang="en-US" sz="1350" dirty="0">
                <a:solidFill>
                  <a:srgbClr val="1F2D3D"/>
                </a:solidFill>
                <a:latin typeface="Calibri" pitchFamily="34" charset="0"/>
                <a:ea typeface="Calibri" pitchFamily="34" charset="-122"/>
                <a:cs typeface="Calibri" pitchFamily="34" charset="-120"/>
              </a:rPr>
              <a:t>Green LED · servo running · jobs assigned freely</a:t>
            </a:r>
            <a:endParaRPr lang="en-US" sz="1350" dirty="0"/>
          </a:p>
        </p:txBody>
      </p:sp>
      <p:sp>
        <p:nvSpPr>
          <p:cNvPr id="14" name="Shape 12"/>
          <p:cNvSpPr/>
          <p:nvPr/>
        </p:nvSpPr>
        <p:spPr>
          <a:xfrm>
            <a:off x="4398264" y="3383280"/>
            <a:ext cx="3392424" cy="2788920"/>
          </a:xfrm>
          <a:prstGeom prst="rect">
            <a:avLst/>
          </a:prstGeom>
          <a:solidFill>
            <a:srgbClr val="FFFFFF"/>
          </a:solidFill>
          <a:ln/>
          <a:effectLst>
            <a:outerShdw blurRad="114300" dist="38100" dir="5400000" algn="bl" rotWithShape="0">
              <a:srgbClr val="0E2A47">
                <a:alpha val="16000"/>
              </a:srgbClr>
            </a:outerShdw>
          </a:effectLst>
        </p:spPr>
        <p:txBody>
          <a:bodyPr/>
          <a:lstStyle/>
          <a:p>
            <a:endParaRPr lang="LID4096"/>
          </a:p>
        </p:txBody>
      </p:sp>
      <p:sp>
        <p:nvSpPr>
          <p:cNvPr id="15" name="Shape 13"/>
          <p:cNvSpPr/>
          <p:nvPr/>
        </p:nvSpPr>
        <p:spPr>
          <a:xfrm>
            <a:off x="4398264" y="3383280"/>
            <a:ext cx="3392424" cy="640080"/>
          </a:xfrm>
          <a:prstGeom prst="rect">
            <a:avLst/>
          </a:prstGeom>
          <a:solidFill>
            <a:srgbClr val="F59E0B"/>
          </a:solidFill>
          <a:ln/>
        </p:spPr>
        <p:txBody>
          <a:bodyPr/>
          <a:lstStyle/>
          <a:p>
            <a:endParaRPr lang="LID4096"/>
          </a:p>
        </p:txBody>
      </p:sp>
      <p:sp>
        <p:nvSpPr>
          <p:cNvPr id="16" name="Text 14"/>
          <p:cNvSpPr/>
          <p:nvPr/>
        </p:nvSpPr>
        <p:spPr>
          <a:xfrm>
            <a:off x="4626864" y="3383280"/>
            <a:ext cx="2935224" cy="640080"/>
          </a:xfrm>
          <a:prstGeom prst="rect">
            <a:avLst/>
          </a:prstGeom>
          <a:noFill/>
          <a:ln/>
        </p:spPr>
        <p:txBody>
          <a:bodyPr wrap="square" lIns="0" tIns="0" rIns="0" bIns="0" rtlCol="0" anchor="ctr"/>
          <a:lstStyle/>
          <a:p>
            <a:pPr marL="0" indent="0">
              <a:buNone/>
            </a:pPr>
            <a:r>
              <a:rPr lang="en-US" sz="1800" b="1" dirty="0">
                <a:solidFill>
                  <a:srgbClr val="FFFFFF"/>
                </a:solidFill>
                <a:latin typeface="Trebuchet MS" pitchFamily="34" charset="0"/>
                <a:ea typeface="Trebuchet MS" pitchFamily="34" charset="-122"/>
                <a:cs typeface="Trebuchet MS" pitchFamily="34" charset="-120"/>
              </a:rPr>
              <a:t>Warning</a:t>
            </a:r>
            <a:endParaRPr lang="en-US" sz="1800" dirty="0"/>
          </a:p>
        </p:txBody>
      </p:sp>
      <p:sp>
        <p:nvSpPr>
          <p:cNvPr id="17" name="Text 15"/>
          <p:cNvSpPr/>
          <p:nvPr/>
        </p:nvSpPr>
        <p:spPr>
          <a:xfrm>
            <a:off x="4626864" y="4206240"/>
            <a:ext cx="2935224" cy="365760"/>
          </a:xfrm>
          <a:prstGeom prst="rect">
            <a:avLst/>
          </a:prstGeom>
          <a:noFill/>
          <a:ln/>
        </p:spPr>
        <p:txBody>
          <a:bodyPr wrap="square" lIns="0" tIns="0" rIns="0" bIns="0" rtlCol="0" anchor="ctr"/>
          <a:lstStyle/>
          <a:p>
            <a:pPr marL="0" indent="0">
              <a:buNone/>
            </a:pPr>
            <a:r>
              <a:rPr lang="en-US" sz="1500" b="1" dirty="0">
                <a:solidFill>
                  <a:srgbClr val="F59E0B"/>
                </a:solidFill>
                <a:latin typeface="Trebuchet MS" pitchFamily="34" charset="0"/>
                <a:ea typeface="Trebuchet MS" pitchFamily="34" charset="-122"/>
                <a:cs typeface="Trebuchet MS" pitchFamily="34" charset="-120"/>
              </a:rPr>
              <a:t>Score 40–69</a:t>
            </a:r>
            <a:endParaRPr lang="en-US" sz="1500" dirty="0"/>
          </a:p>
        </p:txBody>
      </p:sp>
      <p:sp>
        <p:nvSpPr>
          <p:cNvPr id="18" name="Text 16"/>
          <p:cNvSpPr/>
          <p:nvPr/>
        </p:nvSpPr>
        <p:spPr>
          <a:xfrm>
            <a:off x="4626864" y="4663440"/>
            <a:ext cx="2935224" cy="1280160"/>
          </a:xfrm>
          <a:prstGeom prst="rect">
            <a:avLst/>
          </a:prstGeom>
          <a:noFill/>
          <a:ln/>
        </p:spPr>
        <p:txBody>
          <a:bodyPr wrap="square" lIns="0" tIns="0" rIns="0" bIns="0" rtlCol="0" anchor="t"/>
          <a:lstStyle/>
          <a:p>
            <a:pPr marL="0" indent="0">
              <a:lnSpc>
                <a:spcPct val="115000"/>
              </a:lnSpc>
              <a:buNone/>
            </a:pPr>
            <a:r>
              <a:rPr lang="en-US" sz="1350" dirty="0">
                <a:solidFill>
                  <a:srgbClr val="1F2D3D"/>
                </a:solidFill>
                <a:latin typeface="Calibri" pitchFamily="34" charset="0"/>
                <a:ea typeface="Calibri" pitchFamily="34" charset="-122"/>
                <a:cs typeface="Calibri" pitchFamily="34" charset="-120"/>
              </a:rPr>
              <a:t>Yellow LED · maintenance alert raised · monitor closely</a:t>
            </a:r>
            <a:endParaRPr lang="en-US" sz="1350" dirty="0"/>
          </a:p>
        </p:txBody>
      </p:sp>
      <p:sp>
        <p:nvSpPr>
          <p:cNvPr id="19" name="Shape 17"/>
          <p:cNvSpPr/>
          <p:nvPr/>
        </p:nvSpPr>
        <p:spPr>
          <a:xfrm>
            <a:off x="8156448" y="3383280"/>
            <a:ext cx="3392424" cy="2788920"/>
          </a:xfrm>
          <a:prstGeom prst="rect">
            <a:avLst/>
          </a:prstGeom>
          <a:solidFill>
            <a:srgbClr val="FFFFFF"/>
          </a:solidFill>
          <a:ln/>
          <a:effectLst>
            <a:outerShdw blurRad="114300" dist="38100" dir="5400000" algn="bl" rotWithShape="0">
              <a:srgbClr val="0E2A47">
                <a:alpha val="16000"/>
              </a:srgbClr>
            </a:outerShdw>
          </a:effectLst>
        </p:spPr>
        <p:txBody>
          <a:bodyPr/>
          <a:lstStyle/>
          <a:p>
            <a:endParaRPr lang="LID4096"/>
          </a:p>
        </p:txBody>
      </p:sp>
      <p:sp>
        <p:nvSpPr>
          <p:cNvPr id="20" name="Shape 18"/>
          <p:cNvSpPr/>
          <p:nvPr/>
        </p:nvSpPr>
        <p:spPr>
          <a:xfrm>
            <a:off x="8156448" y="3383280"/>
            <a:ext cx="3392424" cy="640080"/>
          </a:xfrm>
          <a:prstGeom prst="rect">
            <a:avLst/>
          </a:prstGeom>
          <a:solidFill>
            <a:srgbClr val="EF4444"/>
          </a:solidFill>
          <a:ln/>
        </p:spPr>
        <p:txBody>
          <a:bodyPr/>
          <a:lstStyle/>
          <a:p>
            <a:endParaRPr lang="LID4096"/>
          </a:p>
        </p:txBody>
      </p:sp>
      <p:sp>
        <p:nvSpPr>
          <p:cNvPr id="21" name="Text 19"/>
          <p:cNvSpPr/>
          <p:nvPr/>
        </p:nvSpPr>
        <p:spPr>
          <a:xfrm>
            <a:off x="8385048" y="3383280"/>
            <a:ext cx="2935224" cy="640080"/>
          </a:xfrm>
          <a:prstGeom prst="rect">
            <a:avLst/>
          </a:prstGeom>
          <a:noFill/>
          <a:ln/>
        </p:spPr>
        <p:txBody>
          <a:bodyPr wrap="square" lIns="0" tIns="0" rIns="0" bIns="0" rtlCol="0" anchor="ctr"/>
          <a:lstStyle/>
          <a:p>
            <a:pPr marL="0" indent="0">
              <a:buNone/>
            </a:pPr>
            <a:r>
              <a:rPr lang="en-US" sz="1800" b="1" dirty="0">
                <a:solidFill>
                  <a:srgbClr val="FFFFFF"/>
                </a:solidFill>
                <a:latin typeface="Trebuchet MS" pitchFamily="34" charset="0"/>
                <a:ea typeface="Trebuchet MS" pitchFamily="34" charset="-122"/>
                <a:cs typeface="Trebuchet MS" pitchFamily="34" charset="-120"/>
              </a:rPr>
              <a:t>Critical</a:t>
            </a:r>
            <a:endParaRPr lang="en-US" sz="1800" dirty="0"/>
          </a:p>
        </p:txBody>
      </p:sp>
      <p:sp>
        <p:nvSpPr>
          <p:cNvPr id="22" name="Text 20"/>
          <p:cNvSpPr/>
          <p:nvPr/>
        </p:nvSpPr>
        <p:spPr>
          <a:xfrm>
            <a:off x="8385048" y="4206240"/>
            <a:ext cx="2935224" cy="365760"/>
          </a:xfrm>
          <a:prstGeom prst="rect">
            <a:avLst/>
          </a:prstGeom>
          <a:noFill/>
          <a:ln/>
        </p:spPr>
        <p:txBody>
          <a:bodyPr wrap="square" lIns="0" tIns="0" rIns="0" bIns="0" rtlCol="0" anchor="ctr"/>
          <a:lstStyle/>
          <a:p>
            <a:pPr marL="0" indent="0">
              <a:buNone/>
            </a:pPr>
            <a:r>
              <a:rPr lang="en-US" sz="1500" b="1" dirty="0">
                <a:solidFill>
                  <a:srgbClr val="EF4444"/>
                </a:solidFill>
                <a:latin typeface="Trebuchet MS" pitchFamily="34" charset="0"/>
                <a:ea typeface="Trebuchet MS" pitchFamily="34" charset="-122"/>
                <a:cs typeface="Trebuchet MS" pitchFamily="34" charset="-120"/>
              </a:rPr>
              <a:t>Below 40</a:t>
            </a:r>
            <a:endParaRPr lang="en-US" sz="1500" dirty="0"/>
          </a:p>
        </p:txBody>
      </p:sp>
      <p:sp>
        <p:nvSpPr>
          <p:cNvPr id="23" name="Text 21"/>
          <p:cNvSpPr/>
          <p:nvPr/>
        </p:nvSpPr>
        <p:spPr>
          <a:xfrm>
            <a:off x="8385048" y="4663440"/>
            <a:ext cx="2935224" cy="1280160"/>
          </a:xfrm>
          <a:prstGeom prst="rect">
            <a:avLst/>
          </a:prstGeom>
          <a:noFill/>
          <a:ln/>
        </p:spPr>
        <p:txBody>
          <a:bodyPr wrap="square" lIns="0" tIns="0" rIns="0" bIns="0" rtlCol="0" anchor="t"/>
          <a:lstStyle/>
          <a:p>
            <a:pPr marL="0" indent="0">
              <a:lnSpc>
                <a:spcPct val="115000"/>
              </a:lnSpc>
              <a:buNone/>
            </a:pPr>
            <a:r>
              <a:rPr lang="en-US" sz="1350" dirty="0">
                <a:solidFill>
                  <a:srgbClr val="1F2D3D"/>
                </a:solidFill>
                <a:latin typeface="Calibri" pitchFamily="34" charset="0"/>
                <a:ea typeface="Calibri" pitchFamily="34" charset="-122"/>
                <a:cs typeface="Calibri" pitchFamily="34" charset="-120"/>
              </a:rPr>
              <a:t>Red LED · buzzer alarm · machine excluded from scheduling</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9F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FFFFFF"/>
          </a:solidFill>
          <a:ln/>
        </p:spPr>
        <p:txBody>
          <a:bodyPr/>
          <a:lstStyle/>
          <a:p>
            <a:endParaRPr lang="LID4096"/>
          </a:p>
        </p:txBody>
      </p:sp>
      <p:sp>
        <p:nvSpPr>
          <p:cNvPr id="3" name="Shape 1"/>
          <p:cNvSpPr/>
          <p:nvPr/>
        </p:nvSpPr>
        <p:spPr>
          <a:xfrm>
            <a:off x="0" y="0"/>
            <a:ext cx="201168" cy="1371600"/>
          </a:xfrm>
          <a:prstGeom prst="rect">
            <a:avLst/>
          </a:prstGeom>
          <a:solidFill>
            <a:srgbClr val="0FB5D6"/>
          </a:solidFill>
          <a:ln/>
        </p:spPr>
        <p:txBody>
          <a:bodyPr/>
          <a:lstStyle/>
          <a:p>
            <a:endParaRPr lang="LID4096"/>
          </a:p>
        </p:txBody>
      </p:sp>
      <p:sp>
        <p:nvSpPr>
          <p:cNvPr id="4" name="Text 2"/>
          <p:cNvSpPr/>
          <p:nvPr/>
        </p:nvSpPr>
        <p:spPr>
          <a:xfrm>
            <a:off x="640080" y="310896"/>
            <a:ext cx="10058400" cy="292608"/>
          </a:xfrm>
          <a:prstGeom prst="rect">
            <a:avLst/>
          </a:prstGeom>
          <a:noFill/>
          <a:ln/>
        </p:spPr>
        <p:txBody>
          <a:bodyPr wrap="square" lIns="0" tIns="0" rIns="0" bIns="0" rtlCol="0" anchor="ctr"/>
          <a:lstStyle/>
          <a:p>
            <a:pPr marL="0" indent="0">
              <a:buNone/>
            </a:pPr>
            <a:r>
              <a:rPr lang="en-US" sz="1200" b="1" kern="0" spc="300" dirty="0">
                <a:solidFill>
                  <a:srgbClr val="1565C0"/>
                </a:solidFill>
                <a:latin typeface="Trebuchet MS" pitchFamily="34" charset="0"/>
                <a:ea typeface="Trebuchet MS" pitchFamily="34" charset="-122"/>
                <a:cs typeface="Trebuchet MS" pitchFamily="34" charset="-120"/>
              </a:rPr>
              <a:t>CLASS DESIGN</a:t>
            </a:r>
            <a:endParaRPr lang="en-US" sz="1200" dirty="0"/>
          </a:p>
        </p:txBody>
      </p:sp>
      <p:sp>
        <p:nvSpPr>
          <p:cNvPr id="5" name="Text 3"/>
          <p:cNvSpPr/>
          <p:nvPr/>
        </p:nvSpPr>
        <p:spPr>
          <a:xfrm>
            <a:off x="640080" y="566928"/>
            <a:ext cx="10972800" cy="640080"/>
          </a:xfrm>
          <a:prstGeom prst="rect">
            <a:avLst/>
          </a:prstGeom>
          <a:noFill/>
          <a:ln/>
        </p:spPr>
        <p:txBody>
          <a:bodyPr wrap="square" lIns="0" tIns="0" rIns="0" bIns="0" rtlCol="0" anchor="ctr"/>
          <a:lstStyle/>
          <a:p>
            <a:pPr marL="0" indent="0">
              <a:buNone/>
            </a:pPr>
            <a:r>
              <a:rPr lang="en-US" sz="2800" b="1" dirty="0">
                <a:solidFill>
                  <a:srgbClr val="0E2A47"/>
                </a:solidFill>
                <a:latin typeface="Trebuchet MS" pitchFamily="34" charset="0"/>
                <a:ea typeface="Trebuchet MS" pitchFamily="34" charset="-122"/>
                <a:cs typeface="Trebuchet MS" pitchFamily="34" charset="-120"/>
              </a:rPr>
              <a:t>How the six C++ classes relate</a:t>
            </a:r>
            <a:endParaRPr lang="en-US" sz="2800" dirty="0"/>
          </a:p>
        </p:txBody>
      </p:sp>
      <p:sp>
        <p:nvSpPr>
          <p:cNvPr id="6" name="Shape 4"/>
          <p:cNvSpPr/>
          <p:nvPr/>
        </p:nvSpPr>
        <p:spPr>
          <a:xfrm>
            <a:off x="3200400" y="2926080"/>
            <a:ext cx="1618488" cy="685800"/>
          </a:xfrm>
          <a:prstGeom prst="line">
            <a:avLst/>
          </a:prstGeom>
          <a:noFill/>
          <a:ln w="19050">
            <a:solidFill>
              <a:srgbClr val="9FB3C8"/>
            </a:solidFill>
            <a:prstDash val="solid"/>
            <a:tailEnd type="triangle"/>
          </a:ln>
        </p:spPr>
        <p:txBody>
          <a:bodyPr/>
          <a:lstStyle/>
          <a:p>
            <a:endParaRPr lang="LID4096"/>
          </a:p>
        </p:txBody>
      </p:sp>
      <p:sp>
        <p:nvSpPr>
          <p:cNvPr id="7" name="Shape 5"/>
          <p:cNvSpPr/>
          <p:nvPr/>
        </p:nvSpPr>
        <p:spPr>
          <a:xfrm>
            <a:off x="3410712" y="2587752"/>
            <a:ext cx="1133856" cy="310896"/>
          </a:xfrm>
          <a:prstGeom prst="roundRect">
            <a:avLst>
              <a:gd name="adj" fmla="val 14706"/>
            </a:avLst>
          </a:prstGeom>
          <a:solidFill>
            <a:srgbClr val="FFFFFF"/>
          </a:solidFill>
          <a:ln w="12700">
            <a:solidFill>
              <a:srgbClr val="D3E0EE"/>
            </a:solidFill>
            <a:prstDash val="solid"/>
          </a:ln>
        </p:spPr>
        <p:txBody>
          <a:bodyPr/>
          <a:lstStyle/>
          <a:p>
            <a:endParaRPr lang="LID4096"/>
          </a:p>
        </p:txBody>
      </p:sp>
      <p:sp>
        <p:nvSpPr>
          <p:cNvPr id="8" name="Text 6"/>
          <p:cNvSpPr/>
          <p:nvPr/>
        </p:nvSpPr>
        <p:spPr>
          <a:xfrm>
            <a:off x="3410712" y="2587752"/>
            <a:ext cx="1133856" cy="310896"/>
          </a:xfrm>
          <a:prstGeom prst="rect">
            <a:avLst/>
          </a:prstGeom>
          <a:noFill/>
          <a:ln/>
        </p:spPr>
        <p:txBody>
          <a:bodyPr wrap="square" lIns="0" tIns="0" rIns="0" bIns="0" rtlCol="0" anchor="ctr"/>
          <a:lstStyle/>
          <a:p>
            <a:pPr marL="0" indent="0" algn="ctr">
              <a:buNone/>
            </a:pPr>
            <a:r>
              <a:rPr lang="en-US" sz="1000" b="1" dirty="0">
                <a:solidFill>
                  <a:srgbClr val="1565C0"/>
                </a:solidFill>
                <a:latin typeface="Trebuchet MS" pitchFamily="34" charset="0"/>
                <a:ea typeface="Trebuchet MS" pitchFamily="34" charset="-122"/>
                <a:cs typeface="Trebuchet MS" pitchFamily="34" charset="-120"/>
              </a:rPr>
              <a:t>owns 1..*</a:t>
            </a:r>
            <a:endParaRPr lang="en-US" sz="1000" dirty="0"/>
          </a:p>
        </p:txBody>
      </p:sp>
      <p:sp>
        <p:nvSpPr>
          <p:cNvPr id="9" name="Shape 7"/>
          <p:cNvSpPr/>
          <p:nvPr/>
        </p:nvSpPr>
        <p:spPr>
          <a:xfrm flipV="1">
            <a:off x="3200400" y="4434840"/>
            <a:ext cx="1618488" cy="640080"/>
          </a:xfrm>
          <a:prstGeom prst="line">
            <a:avLst/>
          </a:prstGeom>
          <a:noFill/>
          <a:ln w="19050">
            <a:solidFill>
              <a:srgbClr val="9FB3C8"/>
            </a:solidFill>
            <a:prstDash val="solid"/>
            <a:tailEnd type="triangle"/>
          </a:ln>
        </p:spPr>
        <p:txBody>
          <a:bodyPr/>
          <a:lstStyle/>
          <a:p>
            <a:endParaRPr lang="LID4096"/>
          </a:p>
        </p:txBody>
      </p:sp>
      <p:sp>
        <p:nvSpPr>
          <p:cNvPr id="10" name="Shape 8"/>
          <p:cNvSpPr/>
          <p:nvPr/>
        </p:nvSpPr>
        <p:spPr>
          <a:xfrm>
            <a:off x="3410712" y="4462272"/>
            <a:ext cx="1133856" cy="310896"/>
          </a:xfrm>
          <a:prstGeom prst="roundRect">
            <a:avLst>
              <a:gd name="adj" fmla="val 14706"/>
            </a:avLst>
          </a:prstGeom>
          <a:solidFill>
            <a:srgbClr val="FFFFFF"/>
          </a:solidFill>
          <a:ln w="12700">
            <a:solidFill>
              <a:srgbClr val="D3E0EE"/>
            </a:solidFill>
            <a:prstDash val="solid"/>
          </a:ln>
        </p:spPr>
        <p:txBody>
          <a:bodyPr/>
          <a:lstStyle/>
          <a:p>
            <a:endParaRPr lang="LID4096"/>
          </a:p>
        </p:txBody>
      </p:sp>
      <p:sp>
        <p:nvSpPr>
          <p:cNvPr id="11" name="Text 9"/>
          <p:cNvSpPr/>
          <p:nvPr/>
        </p:nvSpPr>
        <p:spPr>
          <a:xfrm>
            <a:off x="3410712" y="4462272"/>
            <a:ext cx="1133856" cy="310896"/>
          </a:xfrm>
          <a:prstGeom prst="rect">
            <a:avLst/>
          </a:prstGeom>
          <a:noFill/>
          <a:ln/>
        </p:spPr>
        <p:txBody>
          <a:bodyPr wrap="square" lIns="0" tIns="0" rIns="0" bIns="0" rtlCol="0" anchor="ctr"/>
          <a:lstStyle/>
          <a:p>
            <a:pPr marL="0" indent="0" algn="ctr">
              <a:buNone/>
            </a:pPr>
            <a:r>
              <a:rPr lang="en-US" sz="1000" b="1" dirty="0">
                <a:solidFill>
                  <a:srgbClr val="1565C0"/>
                </a:solidFill>
                <a:latin typeface="Trebuchet MS" pitchFamily="34" charset="0"/>
                <a:ea typeface="Trebuchet MS" pitchFamily="34" charset="-122"/>
                <a:cs typeface="Trebuchet MS" pitchFamily="34" charset="-120"/>
              </a:rPr>
              <a:t>displays</a:t>
            </a:r>
            <a:endParaRPr lang="en-US" sz="1000" dirty="0"/>
          </a:p>
        </p:txBody>
      </p:sp>
      <p:sp>
        <p:nvSpPr>
          <p:cNvPr id="12" name="Shape 10"/>
          <p:cNvSpPr/>
          <p:nvPr/>
        </p:nvSpPr>
        <p:spPr>
          <a:xfrm flipH="1">
            <a:off x="7379208" y="2926080"/>
            <a:ext cx="1627632" cy="685800"/>
          </a:xfrm>
          <a:prstGeom prst="line">
            <a:avLst/>
          </a:prstGeom>
          <a:noFill/>
          <a:ln w="19050">
            <a:solidFill>
              <a:srgbClr val="9FB3C8"/>
            </a:solidFill>
            <a:prstDash val="solid"/>
            <a:tailEnd type="triangle"/>
          </a:ln>
        </p:spPr>
        <p:txBody>
          <a:bodyPr/>
          <a:lstStyle/>
          <a:p>
            <a:endParaRPr lang="LID4096"/>
          </a:p>
        </p:txBody>
      </p:sp>
      <p:sp>
        <p:nvSpPr>
          <p:cNvPr id="13" name="Shape 11"/>
          <p:cNvSpPr/>
          <p:nvPr/>
        </p:nvSpPr>
        <p:spPr>
          <a:xfrm>
            <a:off x="7616952" y="2587752"/>
            <a:ext cx="1133856" cy="310896"/>
          </a:xfrm>
          <a:prstGeom prst="roundRect">
            <a:avLst>
              <a:gd name="adj" fmla="val 14706"/>
            </a:avLst>
          </a:prstGeom>
          <a:solidFill>
            <a:srgbClr val="FFFFFF"/>
          </a:solidFill>
          <a:ln w="12700">
            <a:solidFill>
              <a:srgbClr val="D3E0EE"/>
            </a:solidFill>
            <a:prstDash val="solid"/>
          </a:ln>
        </p:spPr>
        <p:txBody>
          <a:bodyPr/>
          <a:lstStyle/>
          <a:p>
            <a:endParaRPr lang="LID4096"/>
          </a:p>
        </p:txBody>
      </p:sp>
      <p:sp>
        <p:nvSpPr>
          <p:cNvPr id="14" name="Text 12"/>
          <p:cNvSpPr/>
          <p:nvPr/>
        </p:nvSpPr>
        <p:spPr>
          <a:xfrm>
            <a:off x="7616952" y="2587752"/>
            <a:ext cx="1133856" cy="310896"/>
          </a:xfrm>
          <a:prstGeom prst="rect">
            <a:avLst/>
          </a:prstGeom>
          <a:noFill/>
          <a:ln/>
        </p:spPr>
        <p:txBody>
          <a:bodyPr wrap="square" lIns="0" tIns="0" rIns="0" bIns="0" rtlCol="0" anchor="ctr"/>
          <a:lstStyle/>
          <a:p>
            <a:pPr marL="0" indent="0" algn="ctr">
              <a:buNone/>
            </a:pPr>
            <a:r>
              <a:rPr lang="en-US" sz="1000" b="1" dirty="0">
                <a:solidFill>
                  <a:srgbClr val="1565C0"/>
                </a:solidFill>
                <a:latin typeface="Trebuchet MS" pitchFamily="34" charset="0"/>
                <a:ea typeface="Trebuchet MS" pitchFamily="34" charset="-122"/>
                <a:cs typeface="Trebuchet MS" pitchFamily="34" charset="-120"/>
              </a:rPr>
              <a:t>monitors</a:t>
            </a:r>
            <a:endParaRPr lang="en-US" sz="1000" dirty="0"/>
          </a:p>
        </p:txBody>
      </p:sp>
      <p:sp>
        <p:nvSpPr>
          <p:cNvPr id="15" name="Shape 13"/>
          <p:cNvSpPr/>
          <p:nvPr/>
        </p:nvSpPr>
        <p:spPr>
          <a:xfrm flipH="1" flipV="1">
            <a:off x="7379208" y="4434840"/>
            <a:ext cx="1627632" cy="640080"/>
          </a:xfrm>
          <a:prstGeom prst="line">
            <a:avLst/>
          </a:prstGeom>
          <a:noFill/>
          <a:ln w="19050">
            <a:solidFill>
              <a:srgbClr val="9FB3C8"/>
            </a:solidFill>
            <a:prstDash val="solid"/>
            <a:tailEnd type="triangle"/>
          </a:ln>
        </p:spPr>
        <p:txBody>
          <a:bodyPr/>
          <a:lstStyle/>
          <a:p>
            <a:endParaRPr lang="LID4096"/>
          </a:p>
        </p:txBody>
      </p:sp>
      <p:sp>
        <p:nvSpPr>
          <p:cNvPr id="16" name="Shape 14"/>
          <p:cNvSpPr/>
          <p:nvPr/>
        </p:nvSpPr>
        <p:spPr>
          <a:xfrm>
            <a:off x="7616952" y="4462272"/>
            <a:ext cx="1133856" cy="310896"/>
          </a:xfrm>
          <a:prstGeom prst="roundRect">
            <a:avLst>
              <a:gd name="adj" fmla="val 14706"/>
            </a:avLst>
          </a:prstGeom>
          <a:solidFill>
            <a:srgbClr val="FFFFFF"/>
          </a:solidFill>
          <a:ln w="12700">
            <a:solidFill>
              <a:srgbClr val="D3E0EE"/>
            </a:solidFill>
            <a:prstDash val="solid"/>
          </a:ln>
        </p:spPr>
        <p:txBody>
          <a:bodyPr/>
          <a:lstStyle/>
          <a:p>
            <a:endParaRPr lang="LID4096"/>
          </a:p>
        </p:txBody>
      </p:sp>
      <p:sp>
        <p:nvSpPr>
          <p:cNvPr id="17" name="Text 15"/>
          <p:cNvSpPr/>
          <p:nvPr/>
        </p:nvSpPr>
        <p:spPr>
          <a:xfrm>
            <a:off x="7616952" y="4462272"/>
            <a:ext cx="1133856" cy="310896"/>
          </a:xfrm>
          <a:prstGeom prst="rect">
            <a:avLst/>
          </a:prstGeom>
          <a:noFill/>
          <a:ln/>
        </p:spPr>
        <p:txBody>
          <a:bodyPr wrap="square" lIns="0" tIns="0" rIns="0" bIns="0" rtlCol="0" anchor="ctr"/>
          <a:lstStyle/>
          <a:p>
            <a:pPr marL="0" indent="0" algn="ctr">
              <a:buNone/>
            </a:pPr>
            <a:r>
              <a:rPr lang="en-US" sz="1000" b="1" dirty="0">
                <a:solidFill>
                  <a:srgbClr val="1565C0"/>
                </a:solidFill>
                <a:latin typeface="Trebuchet MS" pitchFamily="34" charset="0"/>
                <a:ea typeface="Trebuchet MS" pitchFamily="34" charset="-122"/>
                <a:cs typeface="Trebuchet MS" pitchFamily="34" charset="-120"/>
              </a:rPr>
              <a:t>assigns</a:t>
            </a:r>
            <a:endParaRPr lang="en-US" sz="1000" dirty="0"/>
          </a:p>
        </p:txBody>
      </p:sp>
      <p:sp>
        <p:nvSpPr>
          <p:cNvPr id="18" name="Shape 16"/>
          <p:cNvSpPr/>
          <p:nvPr/>
        </p:nvSpPr>
        <p:spPr>
          <a:xfrm flipV="1">
            <a:off x="6099048" y="4800600"/>
            <a:ext cx="0" cy="320040"/>
          </a:xfrm>
          <a:prstGeom prst="line">
            <a:avLst/>
          </a:prstGeom>
          <a:noFill/>
          <a:ln w="19050">
            <a:solidFill>
              <a:srgbClr val="9FB3C8"/>
            </a:solidFill>
            <a:prstDash val="solid"/>
            <a:tailEnd type="triangle"/>
          </a:ln>
        </p:spPr>
        <p:txBody>
          <a:bodyPr/>
          <a:lstStyle/>
          <a:p>
            <a:endParaRPr lang="LID4096"/>
          </a:p>
        </p:txBody>
      </p:sp>
      <p:sp>
        <p:nvSpPr>
          <p:cNvPr id="19" name="Shape 17"/>
          <p:cNvSpPr/>
          <p:nvPr/>
        </p:nvSpPr>
        <p:spPr>
          <a:xfrm>
            <a:off x="5532120" y="4800600"/>
            <a:ext cx="1133856" cy="310896"/>
          </a:xfrm>
          <a:prstGeom prst="roundRect">
            <a:avLst>
              <a:gd name="adj" fmla="val 14706"/>
            </a:avLst>
          </a:prstGeom>
          <a:solidFill>
            <a:srgbClr val="FFFFFF"/>
          </a:solidFill>
          <a:ln w="12700">
            <a:solidFill>
              <a:srgbClr val="D3E0EE"/>
            </a:solidFill>
            <a:prstDash val="solid"/>
          </a:ln>
        </p:spPr>
        <p:txBody>
          <a:bodyPr/>
          <a:lstStyle/>
          <a:p>
            <a:endParaRPr lang="LID4096"/>
          </a:p>
        </p:txBody>
      </p:sp>
      <p:sp>
        <p:nvSpPr>
          <p:cNvPr id="20" name="Text 18"/>
          <p:cNvSpPr/>
          <p:nvPr/>
        </p:nvSpPr>
        <p:spPr>
          <a:xfrm>
            <a:off x="5532120" y="4800600"/>
            <a:ext cx="1133856" cy="310896"/>
          </a:xfrm>
          <a:prstGeom prst="rect">
            <a:avLst/>
          </a:prstGeom>
          <a:noFill/>
          <a:ln/>
        </p:spPr>
        <p:txBody>
          <a:bodyPr wrap="square" lIns="0" tIns="0" rIns="0" bIns="0" rtlCol="0" anchor="ctr"/>
          <a:lstStyle/>
          <a:p>
            <a:pPr marL="0" indent="0" algn="ctr">
              <a:buNone/>
            </a:pPr>
            <a:r>
              <a:rPr lang="en-US" sz="1000" b="1" dirty="0">
                <a:solidFill>
                  <a:srgbClr val="1565C0"/>
                </a:solidFill>
                <a:latin typeface="Trebuchet MS" pitchFamily="34" charset="0"/>
                <a:ea typeface="Trebuchet MS" pitchFamily="34" charset="-122"/>
                <a:cs typeface="Trebuchet MS" pitchFamily="34" charset="-120"/>
              </a:rPr>
              <a:t>runs on</a:t>
            </a:r>
            <a:endParaRPr lang="en-US" sz="1000" dirty="0"/>
          </a:p>
        </p:txBody>
      </p:sp>
      <p:sp>
        <p:nvSpPr>
          <p:cNvPr id="21" name="Shape 19"/>
          <p:cNvSpPr/>
          <p:nvPr/>
        </p:nvSpPr>
        <p:spPr>
          <a:xfrm flipH="1">
            <a:off x="7379208" y="5440680"/>
            <a:ext cx="1627632" cy="182880"/>
          </a:xfrm>
          <a:prstGeom prst="line">
            <a:avLst/>
          </a:prstGeom>
          <a:noFill/>
          <a:ln w="19050">
            <a:solidFill>
              <a:srgbClr val="9FB3C8"/>
            </a:solidFill>
            <a:prstDash val="solid"/>
            <a:tailEnd type="triangle"/>
          </a:ln>
        </p:spPr>
        <p:txBody>
          <a:bodyPr/>
          <a:lstStyle/>
          <a:p>
            <a:endParaRPr lang="LID4096"/>
          </a:p>
        </p:txBody>
      </p:sp>
      <p:sp>
        <p:nvSpPr>
          <p:cNvPr id="22" name="Shape 20"/>
          <p:cNvSpPr/>
          <p:nvPr/>
        </p:nvSpPr>
        <p:spPr>
          <a:xfrm>
            <a:off x="7662672" y="5376672"/>
            <a:ext cx="1133856" cy="310896"/>
          </a:xfrm>
          <a:prstGeom prst="roundRect">
            <a:avLst>
              <a:gd name="adj" fmla="val 14706"/>
            </a:avLst>
          </a:prstGeom>
          <a:solidFill>
            <a:srgbClr val="FFFFFF"/>
          </a:solidFill>
          <a:ln w="12700">
            <a:solidFill>
              <a:srgbClr val="D3E0EE"/>
            </a:solidFill>
            <a:prstDash val="solid"/>
          </a:ln>
        </p:spPr>
        <p:txBody>
          <a:bodyPr/>
          <a:lstStyle/>
          <a:p>
            <a:endParaRPr lang="LID4096"/>
          </a:p>
        </p:txBody>
      </p:sp>
      <p:sp>
        <p:nvSpPr>
          <p:cNvPr id="23" name="Text 21"/>
          <p:cNvSpPr/>
          <p:nvPr/>
        </p:nvSpPr>
        <p:spPr>
          <a:xfrm>
            <a:off x="7662672" y="5376672"/>
            <a:ext cx="1133856" cy="310896"/>
          </a:xfrm>
          <a:prstGeom prst="rect">
            <a:avLst/>
          </a:prstGeom>
          <a:noFill/>
          <a:ln/>
        </p:spPr>
        <p:txBody>
          <a:bodyPr wrap="square" lIns="0" tIns="0" rIns="0" bIns="0" rtlCol="0" anchor="ctr"/>
          <a:lstStyle/>
          <a:p>
            <a:pPr marL="0" indent="0" algn="ctr">
              <a:buNone/>
            </a:pPr>
            <a:r>
              <a:rPr lang="en-US" sz="1000" b="1" dirty="0">
                <a:solidFill>
                  <a:srgbClr val="1565C0"/>
                </a:solidFill>
                <a:latin typeface="Trebuchet MS" pitchFamily="34" charset="0"/>
                <a:ea typeface="Trebuchet MS" pitchFamily="34" charset="-122"/>
                <a:cs typeface="Trebuchet MS" pitchFamily="34" charset="-120"/>
              </a:rPr>
              <a:t>manages</a:t>
            </a:r>
            <a:endParaRPr lang="en-US" sz="1000" dirty="0"/>
          </a:p>
        </p:txBody>
      </p:sp>
      <p:sp>
        <p:nvSpPr>
          <p:cNvPr id="24" name="Shape 22"/>
          <p:cNvSpPr/>
          <p:nvPr/>
        </p:nvSpPr>
        <p:spPr>
          <a:xfrm>
            <a:off x="731520" y="1828800"/>
            <a:ext cx="2468880" cy="1371600"/>
          </a:xfrm>
          <a:prstGeom prst="rect">
            <a:avLst/>
          </a:prstGeom>
          <a:solidFill>
            <a:srgbClr val="FFFFFF"/>
          </a:solidFill>
          <a:ln w="15875">
            <a:solidFill>
              <a:srgbClr val="1565C0"/>
            </a:solidFill>
            <a:prstDash val="solid"/>
          </a:ln>
          <a:effectLst>
            <a:outerShdw blurRad="114300" dist="38100" dir="5400000" algn="bl" rotWithShape="0">
              <a:srgbClr val="0E2A47">
                <a:alpha val="16000"/>
              </a:srgbClr>
            </a:outerShdw>
          </a:effectLst>
        </p:spPr>
        <p:txBody>
          <a:bodyPr/>
          <a:lstStyle/>
          <a:p>
            <a:endParaRPr lang="LID4096"/>
          </a:p>
        </p:txBody>
      </p:sp>
      <p:sp>
        <p:nvSpPr>
          <p:cNvPr id="25" name="Shape 23"/>
          <p:cNvSpPr/>
          <p:nvPr/>
        </p:nvSpPr>
        <p:spPr>
          <a:xfrm>
            <a:off x="731520" y="1828800"/>
            <a:ext cx="2468880" cy="402336"/>
          </a:xfrm>
          <a:prstGeom prst="rect">
            <a:avLst/>
          </a:prstGeom>
          <a:solidFill>
            <a:srgbClr val="1565C0"/>
          </a:solidFill>
          <a:ln/>
        </p:spPr>
        <p:txBody>
          <a:bodyPr/>
          <a:lstStyle/>
          <a:p>
            <a:endParaRPr lang="LID4096"/>
          </a:p>
        </p:txBody>
      </p:sp>
      <p:sp>
        <p:nvSpPr>
          <p:cNvPr id="26" name="Text 24"/>
          <p:cNvSpPr/>
          <p:nvPr/>
        </p:nvSpPr>
        <p:spPr>
          <a:xfrm>
            <a:off x="841248" y="1828800"/>
            <a:ext cx="2249424" cy="402336"/>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Sensor</a:t>
            </a:r>
            <a:endParaRPr lang="en-US" sz="1300" dirty="0"/>
          </a:p>
        </p:txBody>
      </p:sp>
      <p:sp>
        <p:nvSpPr>
          <p:cNvPr id="27" name="Text 25"/>
          <p:cNvSpPr/>
          <p:nvPr/>
        </p:nvSpPr>
        <p:spPr>
          <a:xfrm>
            <a:off x="859536" y="2304288"/>
            <a:ext cx="2212848" cy="822960"/>
          </a:xfrm>
          <a:prstGeom prst="rect">
            <a:avLst/>
          </a:prstGeom>
          <a:noFill/>
          <a:ln/>
        </p:spPr>
        <p:txBody>
          <a:bodyPr wrap="square" lIns="0" tIns="0" rIns="0" bIns="0" rtlCol="0" anchor="t"/>
          <a:lstStyle/>
          <a:p>
            <a:pPr marL="0" indent="0" algn="l">
              <a:lnSpc>
                <a:spcPct val="108000"/>
              </a:lnSpc>
              <a:buNone/>
            </a:pPr>
            <a:r>
              <a:rPr lang="en-US" sz="950" dirty="0">
                <a:solidFill>
                  <a:srgbClr val="1F2D3D"/>
                </a:solidFill>
                <a:latin typeface="Consolas" pitchFamily="34" charset="0"/>
                <a:ea typeface="Consolas" pitchFamily="34" charset="-122"/>
                <a:cs typeface="Consolas" pitchFamily="34" charset="-120"/>
              </a:rPr>
              <a:t>+ readValue() : double</a:t>
            </a:r>
            <a:endParaRPr lang="en-US" sz="950" dirty="0"/>
          </a:p>
          <a:p>
            <a:pPr marL="0" indent="0" algn="l">
              <a:lnSpc>
                <a:spcPct val="108000"/>
              </a:lnSpc>
              <a:buNone/>
            </a:pPr>
            <a:r>
              <a:rPr lang="en-US" sz="950" dirty="0">
                <a:solidFill>
                  <a:srgbClr val="1F2D3D"/>
                </a:solidFill>
                <a:latin typeface="Consolas" pitchFamily="34" charset="0"/>
                <a:ea typeface="Consolas" pitchFamily="34" charset="-122"/>
                <a:cs typeface="Consolas" pitchFamily="34" charset="-120"/>
              </a:rPr>
              <a:t>+ sendData() : void</a:t>
            </a:r>
            <a:endParaRPr lang="en-US" sz="950" dirty="0"/>
          </a:p>
          <a:p>
            <a:pPr marL="0" indent="0" algn="l">
              <a:lnSpc>
                <a:spcPct val="108000"/>
              </a:lnSpc>
              <a:buNone/>
            </a:pPr>
            <a:r>
              <a:rPr lang="en-US" sz="950" dirty="0">
                <a:solidFill>
                  <a:srgbClr val="1F2D3D"/>
                </a:solidFill>
                <a:latin typeface="Consolas" pitchFamily="34" charset="0"/>
                <a:ea typeface="Consolas" pitchFamily="34" charset="-122"/>
                <a:cs typeface="Consolas" pitchFamily="34" charset="-120"/>
              </a:rPr>
              <a:t>- type, currentValue</a:t>
            </a:r>
            <a:endParaRPr lang="en-US" sz="950" dirty="0"/>
          </a:p>
        </p:txBody>
      </p:sp>
      <p:sp>
        <p:nvSpPr>
          <p:cNvPr id="28" name="Shape 26"/>
          <p:cNvSpPr/>
          <p:nvPr/>
        </p:nvSpPr>
        <p:spPr>
          <a:xfrm>
            <a:off x="4818888" y="3200400"/>
            <a:ext cx="2560320" cy="1600200"/>
          </a:xfrm>
          <a:prstGeom prst="rect">
            <a:avLst/>
          </a:prstGeom>
          <a:solidFill>
            <a:srgbClr val="FFFFFF"/>
          </a:solidFill>
          <a:ln w="15875">
            <a:solidFill>
              <a:srgbClr val="0E2A47"/>
            </a:solidFill>
            <a:prstDash val="solid"/>
          </a:ln>
          <a:effectLst>
            <a:outerShdw blurRad="114300" dist="38100" dir="5400000" algn="bl" rotWithShape="0">
              <a:srgbClr val="0E2A47">
                <a:alpha val="16000"/>
              </a:srgbClr>
            </a:outerShdw>
          </a:effectLst>
        </p:spPr>
        <p:txBody>
          <a:bodyPr/>
          <a:lstStyle/>
          <a:p>
            <a:endParaRPr lang="LID4096"/>
          </a:p>
        </p:txBody>
      </p:sp>
      <p:sp>
        <p:nvSpPr>
          <p:cNvPr id="29" name="Shape 27"/>
          <p:cNvSpPr/>
          <p:nvPr/>
        </p:nvSpPr>
        <p:spPr>
          <a:xfrm>
            <a:off x="4818888" y="3200400"/>
            <a:ext cx="2560320" cy="402336"/>
          </a:xfrm>
          <a:prstGeom prst="rect">
            <a:avLst/>
          </a:prstGeom>
          <a:solidFill>
            <a:srgbClr val="0E2A47"/>
          </a:solidFill>
          <a:ln/>
        </p:spPr>
        <p:txBody>
          <a:bodyPr/>
          <a:lstStyle/>
          <a:p>
            <a:endParaRPr lang="LID4096"/>
          </a:p>
        </p:txBody>
      </p:sp>
      <p:sp>
        <p:nvSpPr>
          <p:cNvPr id="30" name="Text 28"/>
          <p:cNvSpPr/>
          <p:nvPr/>
        </p:nvSpPr>
        <p:spPr>
          <a:xfrm>
            <a:off x="4928616" y="3200400"/>
            <a:ext cx="2340864" cy="402336"/>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Machine</a:t>
            </a:r>
            <a:endParaRPr lang="en-US" sz="1300" dirty="0"/>
          </a:p>
        </p:txBody>
      </p:sp>
      <p:sp>
        <p:nvSpPr>
          <p:cNvPr id="31" name="Text 29"/>
          <p:cNvSpPr/>
          <p:nvPr/>
        </p:nvSpPr>
        <p:spPr>
          <a:xfrm>
            <a:off x="4946904" y="3675888"/>
            <a:ext cx="2304288" cy="1051560"/>
          </a:xfrm>
          <a:prstGeom prst="rect">
            <a:avLst/>
          </a:prstGeom>
          <a:noFill/>
          <a:ln/>
        </p:spPr>
        <p:txBody>
          <a:bodyPr wrap="square" lIns="0" tIns="0" rIns="0" bIns="0" rtlCol="0" anchor="t"/>
          <a:lstStyle/>
          <a:p>
            <a:pPr marL="0" indent="0" algn="l">
              <a:lnSpc>
                <a:spcPct val="108000"/>
              </a:lnSpc>
              <a:buNone/>
            </a:pPr>
            <a:r>
              <a:rPr lang="en-US" sz="950" dirty="0">
                <a:solidFill>
                  <a:srgbClr val="1F2D3D"/>
                </a:solidFill>
                <a:latin typeface="Consolas" pitchFamily="34" charset="0"/>
                <a:ea typeface="Consolas" pitchFamily="34" charset="-122"/>
                <a:cs typeface="Consolas" pitchFamily="34" charset="-120"/>
              </a:rPr>
              <a:t>+ calculateHealthScore()</a:t>
            </a:r>
            <a:endParaRPr lang="en-US" sz="950" dirty="0"/>
          </a:p>
          <a:p>
            <a:pPr marL="0" indent="0" algn="l">
              <a:lnSpc>
                <a:spcPct val="108000"/>
              </a:lnSpc>
              <a:buNone/>
            </a:pPr>
            <a:r>
              <a:rPr lang="en-US" sz="950" dirty="0">
                <a:solidFill>
                  <a:srgbClr val="1F2D3D"/>
                </a:solidFill>
                <a:latin typeface="Consolas" pitchFamily="34" charset="0"/>
                <a:ea typeface="Consolas" pitchFamily="34" charset="-122"/>
                <a:cs typeface="Consolas" pitchFamily="34" charset="-120"/>
              </a:rPr>
              <a:t>- temperature, vibration</a:t>
            </a:r>
            <a:endParaRPr lang="en-US" sz="950" dirty="0"/>
          </a:p>
          <a:p>
            <a:pPr marL="0" indent="0" algn="l">
              <a:lnSpc>
                <a:spcPct val="108000"/>
              </a:lnSpc>
              <a:buNone/>
            </a:pPr>
            <a:r>
              <a:rPr lang="en-US" sz="950" dirty="0">
                <a:solidFill>
                  <a:srgbClr val="1F2D3D"/>
                </a:solidFill>
                <a:latin typeface="Consolas" pitchFamily="34" charset="0"/>
                <a:ea typeface="Consolas" pitchFamily="34" charset="-122"/>
                <a:cs typeface="Consolas" pitchFamily="34" charset="-120"/>
              </a:rPr>
              <a:t>- healthScore, status</a:t>
            </a:r>
            <a:endParaRPr lang="en-US" sz="950" dirty="0"/>
          </a:p>
        </p:txBody>
      </p:sp>
      <p:sp>
        <p:nvSpPr>
          <p:cNvPr id="32" name="Shape 30"/>
          <p:cNvSpPr/>
          <p:nvPr/>
        </p:nvSpPr>
        <p:spPr>
          <a:xfrm>
            <a:off x="9006840" y="1828800"/>
            <a:ext cx="2468880" cy="1371600"/>
          </a:xfrm>
          <a:prstGeom prst="rect">
            <a:avLst/>
          </a:prstGeom>
          <a:solidFill>
            <a:srgbClr val="FFFFFF"/>
          </a:solidFill>
          <a:ln w="15875">
            <a:solidFill>
              <a:srgbClr val="0E7C66"/>
            </a:solidFill>
            <a:prstDash val="solid"/>
          </a:ln>
          <a:effectLst>
            <a:outerShdw blurRad="114300" dist="38100" dir="5400000" algn="bl" rotWithShape="0">
              <a:srgbClr val="0E2A47">
                <a:alpha val="16000"/>
              </a:srgbClr>
            </a:outerShdw>
          </a:effectLst>
        </p:spPr>
        <p:txBody>
          <a:bodyPr/>
          <a:lstStyle/>
          <a:p>
            <a:endParaRPr lang="LID4096"/>
          </a:p>
        </p:txBody>
      </p:sp>
      <p:sp>
        <p:nvSpPr>
          <p:cNvPr id="33" name="Shape 31"/>
          <p:cNvSpPr/>
          <p:nvPr/>
        </p:nvSpPr>
        <p:spPr>
          <a:xfrm>
            <a:off x="9006840" y="1828800"/>
            <a:ext cx="2468880" cy="402336"/>
          </a:xfrm>
          <a:prstGeom prst="rect">
            <a:avLst/>
          </a:prstGeom>
          <a:solidFill>
            <a:srgbClr val="0E7C66"/>
          </a:solidFill>
          <a:ln/>
        </p:spPr>
        <p:txBody>
          <a:bodyPr/>
          <a:lstStyle/>
          <a:p>
            <a:endParaRPr lang="LID4096"/>
          </a:p>
        </p:txBody>
      </p:sp>
      <p:sp>
        <p:nvSpPr>
          <p:cNvPr id="34" name="Text 32"/>
          <p:cNvSpPr/>
          <p:nvPr/>
        </p:nvSpPr>
        <p:spPr>
          <a:xfrm>
            <a:off x="9116568" y="1828800"/>
            <a:ext cx="2249424" cy="402336"/>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MaintenanceManager</a:t>
            </a:r>
            <a:endParaRPr lang="en-US" sz="1300" dirty="0"/>
          </a:p>
        </p:txBody>
      </p:sp>
      <p:sp>
        <p:nvSpPr>
          <p:cNvPr id="35" name="Text 33"/>
          <p:cNvSpPr/>
          <p:nvPr/>
        </p:nvSpPr>
        <p:spPr>
          <a:xfrm>
            <a:off x="9134856" y="2304288"/>
            <a:ext cx="2212848" cy="822960"/>
          </a:xfrm>
          <a:prstGeom prst="rect">
            <a:avLst/>
          </a:prstGeom>
          <a:noFill/>
          <a:ln/>
        </p:spPr>
        <p:txBody>
          <a:bodyPr wrap="square" lIns="0" tIns="0" rIns="0" bIns="0" rtlCol="0" anchor="t"/>
          <a:lstStyle/>
          <a:p>
            <a:pPr marL="0" indent="0" algn="l">
              <a:lnSpc>
                <a:spcPct val="108000"/>
              </a:lnSpc>
              <a:buNone/>
            </a:pPr>
            <a:r>
              <a:rPr lang="en-US" sz="950" dirty="0">
                <a:solidFill>
                  <a:srgbClr val="1F2D3D"/>
                </a:solidFill>
                <a:latin typeface="Consolas" pitchFamily="34" charset="0"/>
                <a:ea typeface="Consolas" pitchFamily="34" charset="-122"/>
                <a:cs typeface="Consolas" pitchFamily="34" charset="-120"/>
              </a:rPr>
              <a:t>+ predictFailure() : bool</a:t>
            </a:r>
            <a:endParaRPr lang="en-US" sz="950" dirty="0"/>
          </a:p>
          <a:p>
            <a:pPr marL="0" indent="0" algn="l">
              <a:lnSpc>
                <a:spcPct val="108000"/>
              </a:lnSpc>
              <a:buNone/>
            </a:pPr>
            <a:r>
              <a:rPr lang="en-US" sz="950" dirty="0">
                <a:solidFill>
                  <a:srgbClr val="1F2D3D"/>
                </a:solidFill>
                <a:latin typeface="Consolas" pitchFamily="34" charset="0"/>
                <a:ea typeface="Consolas" pitchFamily="34" charset="-122"/>
                <a:cs typeface="Consolas" pitchFamily="34" charset="-120"/>
              </a:rPr>
              <a:t>+ generateAlert() : void</a:t>
            </a:r>
            <a:endParaRPr lang="en-US" sz="950" dirty="0"/>
          </a:p>
        </p:txBody>
      </p:sp>
      <p:sp>
        <p:nvSpPr>
          <p:cNvPr id="36" name="Shape 34"/>
          <p:cNvSpPr/>
          <p:nvPr/>
        </p:nvSpPr>
        <p:spPr>
          <a:xfrm>
            <a:off x="9006840" y="4709160"/>
            <a:ext cx="2468880" cy="1371600"/>
          </a:xfrm>
          <a:prstGeom prst="rect">
            <a:avLst/>
          </a:prstGeom>
          <a:solidFill>
            <a:srgbClr val="FFFFFF"/>
          </a:solidFill>
          <a:ln w="15875">
            <a:solidFill>
              <a:srgbClr val="B26A00"/>
            </a:solidFill>
            <a:prstDash val="solid"/>
          </a:ln>
          <a:effectLst>
            <a:outerShdw blurRad="114300" dist="38100" dir="5400000" algn="bl" rotWithShape="0">
              <a:srgbClr val="0E2A47">
                <a:alpha val="16000"/>
              </a:srgbClr>
            </a:outerShdw>
          </a:effectLst>
        </p:spPr>
        <p:txBody>
          <a:bodyPr/>
          <a:lstStyle/>
          <a:p>
            <a:endParaRPr lang="LID4096"/>
          </a:p>
        </p:txBody>
      </p:sp>
      <p:sp>
        <p:nvSpPr>
          <p:cNvPr id="37" name="Shape 35"/>
          <p:cNvSpPr/>
          <p:nvPr/>
        </p:nvSpPr>
        <p:spPr>
          <a:xfrm>
            <a:off x="9006840" y="4709160"/>
            <a:ext cx="2468880" cy="402336"/>
          </a:xfrm>
          <a:prstGeom prst="rect">
            <a:avLst/>
          </a:prstGeom>
          <a:solidFill>
            <a:srgbClr val="B26A00"/>
          </a:solidFill>
          <a:ln/>
        </p:spPr>
        <p:txBody>
          <a:bodyPr/>
          <a:lstStyle/>
          <a:p>
            <a:endParaRPr lang="LID4096"/>
          </a:p>
        </p:txBody>
      </p:sp>
      <p:sp>
        <p:nvSpPr>
          <p:cNvPr id="38" name="Text 36"/>
          <p:cNvSpPr/>
          <p:nvPr/>
        </p:nvSpPr>
        <p:spPr>
          <a:xfrm>
            <a:off x="9116568" y="4709160"/>
            <a:ext cx="2249424" cy="402336"/>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Scheduler</a:t>
            </a:r>
            <a:endParaRPr lang="en-US" sz="1300" dirty="0"/>
          </a:p>
        </p:txBody>
      </p:sp>
      <p:sp>
        <p:nvSpPr>
          <p:cNvPr id="39" name="Text 37"/>
          <p:cNvSpPr/>
          <p:nvPr/>
        </p:nvSpPr>
        <p:spPr>
          <a:xfrm>
            <a:off x="9134856" y="5184648"/>
            <a:ext cx="2212848" cy="822960"/>
          </a:xfrm>
          <a:prstGeom prst="rect">
            <a:avLst/>
          </a:prstGeom>
          <a:noFill/>
          <a:ln/>
        </p:spPr>
        <p:txBody>
          <a:bodyPr wrap="square" lIns="0" tIns="0" rIns="0" bIns="0" rtlCol="0" anchor="t"/>
          <a:lstStyle/>
          <a:p>
            <a:pPr marL="0" indent="0" algn="l">
              <a:lnSpc>
                <a:spcPct val="108000"/>
              </a:lnSpc>
              <a:buNone/>
            </a:pPr>
            <a:r>
              <a:rPr lang="en-US" sz="950" dirty="0">
                <a:solidFill>
                  <a:srgbClr val="1F2D3D"/>
                </a:solidFill>
                <a:latin typeface="Consolas" pitchFamily="34" charset="0"/>
                <a:ea typeface="Consolas" pitchFamily="34" charset="-122"/>
                <a:cs typeface="Consolas" pitchFamily="34" charset="-120"/>
              </a:rPr>
              <a:t>+ recommendMachine()</a:t>
            </a:r>
            <a:endParaRPr lang="en-US" sz="950" dirty="0"/>
          </a:p>
          <a:p>
            <a:pPr marL="0" indent="0" algn="l">
              <a:lnSpc>
                <a:spcPct val="108000"/>
              </a:lnSpc>
              <a:buNone/>
            </a:pPr>
            <a:r>
              <a:rPr lang="en-US" sz="950" dirty="0">
                <a:solidFill>
                  <a:srgbClr val="1F2D3D"/>
                </a:solidFill>
                <a:latin typeface="Consolas" pitchFamily="34" charset="0"/>
                <a:ea typeface="Consolas" pitchFamily="34" charset="-122"/>
                <a:cs typeface="Consolas" pitchFamily="34" charset="-120"/>
              </a:rPr>
              <a:t>+ assignJob() : void</a:t>
            </a:r>
            <a:endParaRPr lang="en-US" sz="950" dirty="0"/>
          </a:p>
        </p:txBody>
      </p:sp>
      <p:sp>
        <p:nvSpPr>
          <p:cNvPr id="40" name="Shape 38"/>
          <p:cNvSpPr/>
          <p:nvPr/>
        </p:nvSpPr>
        <p:spPr>
          <a:xfrm>
            <a:off x="4818888" y="5120640"/>
            <a:ext cx="2560320" cy="1280160"/>
          </a:xfrm>
          <a:prstGeom prst="rect">
            <a:avLst/>
          </a:prstGeom>
          <a:solidFill>
            <a:srgbClr val="FFFFFF"/>
          </a:solidFill>
          <a:ln w="15875">
            <a:solidFill>
              <a:srgbClr val="1565C0"/>
            </a:solidFill>
            <a:prstDash val="solid"/>
          </a:ln>
          <a:effectLst>
            <a:outerShdw blurRad="114300" dist="38100" dir="5400000" algn="bl" rotWithShape="0">
              <a:srgbClr val="0E2A47">
                <a:alpha val="16000"/>
              </a:srgbClr>
            </a:outerShdw>
          </a:effectLst>
        </p:spPr>
        <p:txBody>
          <a:bodyPr/>
          <a:lstStyle/>
          <a:p>
            <a:endParaRPr lang="LID4096"/>
          </a:p>
        </p:txBody>
      </p:sp>
      <p:sp>
        <p:nvSpPr>
          <p:cNvPr id="41" name="Shape 39"/>
          <p:cNvSpPr/>
          <p:nvPr/>
        </p:nvSpPr>
        <p:spPr>
          <a:xfrm>
            <a:off x="4818888" y="5120640"/>
            <a:ext cx="2560320" cy="402336"/>
          </a:xfrm>
          <a:prstGeom prst="rect">
            <a:avLst/>
          </a:prstGeom>
          <a:solidFill>
            <a:srgbClr val="1565C0"/>
          </a:solidFill>
          <a:ln/>
        </p:spPr>
        <p:txBody>
          <a:bodyPr/>
          <a:lstStyle/>
          <a:p>
            <a:endParaRPr lang="LID4096"/>
          </a:p>
        </p:txBody>
      </p:sp>
      <p:sp>
        <p:nvSpPr>
          <p:cNvPr id="42" name="Text 40"/>
          <p:cNvSpPr/>
          <p:nvPr/>
        </p:nvSpPr>
        <p:spPr>
          <a:xfrm>
            <a:off x="4928616" y="5120640"/>
            <a:ext cx="2340864" cy="402336"/>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Job</a:t>
            </a:r>
            <a:endParaRPr lang="en-US" sz="1300" dirty="0"/>
          </a:p>
        </p:txBody>
      </p:sp>
      <p:sp>
        <p:nvSpPr>
          <p:cNvPr id="43" name="Text 41"/>
          <p:cNvSpPr/>
          <p:nvPr/>
        </p:nvSpPr>
        <p:spPr>
          <a:xfrm>
            <a:off x="4946904" y="5596128"/>
            <a:ext cx="2304288" cy="731520"/>
          </a:xfrm>
          <a:prstGeom prst="rect">
            <a:avLst/>
          </a:prstGeom>
          <a:noFill/>
          <a:ln/>
        </p:spPr>
        <p:txBody>
          <a:bodyPr wrap="square" lIns="0" tIns="0" rIns="0" bIns="0" rtlCol="0" anchor="t"/>
          <a:lstStyle/>
          <a:p>
            <a:pPr marL="0" indent="0" algn="l">
              <a:lnSpc>
                <a:spcPct val="108000"/>
              </a:lnSpc>
              <a:buNone/>
            </a:pPr>
            <a:r>
              <a:rPr lang="en-US" sz="950" dirty="0">
                <a:solidFill>
                  <a:srgbClr val="1F2D3D"/>
                </a:solidFill>
                <a:latin typeface="Consolas" pitchFamily="34" charset="0"/>
                <a:ea typeface="Consolas" pitchFamily="34" charset="-122"/>
                <a:cs typeface="Consolas" pitchFamily="34" charset="-120"/>
              </a:rPr>
              <a:t>- jobID, priority</a:t>
            </a:r>
            <a:endParaRPr lang="en-US" sz="950" dirty="0"/>
          </a:p>
          <a:p>
            <a:pPr marL="0" indent="0" algn="l">
              <a:lnSpc>
                <a:spcPct val="108000"/>
              </a:lnSpc>
              <a:buNone/>
            </a:pPr>
            <a:r>
              <a:rPr lang="en-US" sz="950" dirty="0">
                <a:solidFill>
                  <a:srgbClr val="1F2D3D"/>
                </a:solidFill>
                <a:latin typeface="Consolas" pitchFamily="34" charset="0"/>
                <a:ea typeface="Consolas" pitchFamily="34" charset="-122"/>
                <a:cs typeface="Consolas" pitchFamily="34" charset="-120"/>
              </a:rPr>
              <a:t>+ getDuration() : int</a:t>
            </a:r>
            <a:endParaRPr lang="en-US" sz="950" dirty="0"/>
          </a:p>
        </p:txBody>
      </p:sp>
      <p:sp>
        <p:nvSpPr>
          <p:cNvPr id="44" name="Shape 42"/>
          <p:cNvSpPr/>
          <p:nvPr/>
        </p:nvSpPr>
        <p:spPr>
          <a:xfrm>
            <a:off x="731520" y="4709160"/>
            <a:ext cx="2468880" cy="1371600"/>
          </a:xfrm>
          <a:prstGeom prst="rect">
            <a:avLst/>
          </a:prstGeom>
          <a:solidFill>
            <a:srgbClr val="FFFFFF"/>
          </a:solidFill>
          <a:ln w="15875">
            <a:solidFill>
              <a:srgbClr val="0FB5D6"/>
            </a:solidFill>
            <a:prstDash val="solid"/>
          </a:ln>
          <a:effectLst>
            <a:outerShdw blurRad="114300" dist="38100" dir="5400000" algn="bl" rotWithShape="0">
              <a:srgbClr val="0E2A47">
                <a:alpha val="16000"/>
              </a:srgbClr>
            </a:outerShdw>
          </a:effectLst>
        </p:spPr>
        <p:txBody>
          <a:bodyPr/>
          <a:lstStyle/>
          <a:p>
            <a:endParaRPr lang="LID4096"/>
          </a:p>
        </p:txBody>
      </p:sp>
      <p:sp>
        <p:nvSpPr>
          <p:cNvPr id="45" name="Shape 43"/>
          <p:cNvSpPr/>
          <p:nvPr/>
        </p:nvSpPr>
        <p:spPr>
          <a:xfrm>
            <a:off x="731520" y="4709160"/>
            <a:ext cx="2468880" cy="402336"/>
          </a:xfrm>
          <a:prstGeom prst="rect">
            <a:avLst/>
          </a:prstGeom>
          <a:solidFill>
            <a:srgbClr val="0FB5D6"/>
          </a:solidFill>
          <a:ln/>
        </p:spPr>
        <p:txBody>
          <a:bodyPr/>
          <a:lstStyle/>
          <a:p>
            <a:endParaRPr lang="LID4096"/>
          </a:p>
        </p:txBody>
      </p:sp>
      <p:sp>
        <p:nvSpPr>
          <p:cNvPr id="46" name="Text 44"/>
          <p:cNvSpPr/>
          <p:nvPr/>
        </p:nvSpPr>
        <p:spPr>
          <a:xfrm>
            <a:off x="841248" y="4709160"/>
            <a:ext cx="2249424" cy="402336"/>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Dashboard</a:t>
            </a:r>
            <a:endParaRPr lang="en-US" sz="1300" dirty="0"/>
          </a:p>
        </p:txBody>
      </p:sp>
      <p:sp>
        <p:nvSpPr>
          <p:cNvPr id="47" name="Text 45"/>
          <p:cNvSpPr/>
          <p:nvPr/>
        </p:nvSpPr>
        <p:spPr>
          <a:xfrm>
            <a:off x="859536" y="5184648"/>
            <a:ext cx="2212848" cy="822960"/>
          </a:xfrm>
          <a:prstGeom prst="rect">
            <a:avLst/>
          </a:prstGeom>
          <a:noFill/>
          <a:ln/>
        </p:spPr>
        <p:txBody>
          <a:bodyPr wrap="square" lIns="0" tIns="0" rIns="0" bIns="0" rtlCol="0" anchor="t"/>
          <a:lstStyle/>
          <a:p>
            <a:pPr marL="0" indent="0" algn="l">
              <a:lnSpc>
                <a:spcPct val="108000"/>
              </a:lnSpc>
              <a:buNone/>
            </a:pPr>
            <a:r>
              <a:rPr lang="en-US" sz="950" dirty="0">
                <a:solidFill>
                  <a:srgbClr val="1F2D3D"/>
                </a:solidFill>
                <a:latin typeface="Consolas" pitchFamily="34" charset="0"/>
                <a:ea typeface="Consolas" pitchFamily="34" charset="-122"/>
                <a:cs typeface="Consolas" pitchFamily="34" charset="-120"/>
              </a:rPr>
              <a:t>+ render() : void</a:t>
            </a:r>
            <a:endParaRPr lang="en-US" sz="950" dirty="0"/>
          </a:p>
          <a:p>
            <a:pPr marL="0" indent="0" algn="l">
              <a:lnSpc>
                <a:spcPct val="108000"/>
              </a:lnSpc>
              <a:buNone/>
            </a:pPr>
            <a:r>
              <a:rPr lang="en-US" sz="950" dirty="0">
                <a:solidFill>
                  <a:srgbClr val="1F2D3D"/>
                </a:solidFill>
                <a:latin typeface="Consolas" pitchFamily="34" charset="0"/>
                <a:ea typeface="Consolas" pitchFamily="34" charset="-122"/>
                <a:cs typeface="Consolas" pitchFamily="34" charset="-120"/>
              </a:rPr>
              <a:t>+ showAlerts() : void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9F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FFFFFF"/>
          </a:solidFill>
          <a:ln/>
        </p:spPr>
        <p:txBody>
          <a:bodyPr/>
          <a:lstStyle/>
          <a:p>
            <a:endParaRPr lang="LID4096"/>
          </a:p>
        </p:txBody>
      </p:sp>
      <p:sp>
        <p:nvSpPr>
          <p:cNvPr id="3" name="Shape 1"/>
          <p:cNvSpPr/>
          <p:nvPr/>
        </p:nvSpPr>
        <p:spPr>
          <a:xfrm>
            <a:off x="0" y="0"/>
            <a:ext cx="201168" cy="1371600"/>
          </a:xfrm>
          <a:prstGeom prst="rect">
            <a:avLst/>
          </a:prstGeom>
          <a:solidFill>
            <a:srgbClr val="0FB5D6"/>
          </a:solidFill>
          <a:ln/>
        </p:spPr>
        <p:txBody>
          <a:bodyPr/>
          <a:lstStyle/>
          <a:p>
            <a:endParaRPr lang="LID4096"/>
          </a:p>
        </p:txBody>
      </p:sp>
      <p:sp>
        <p:nvSpPr>
          <p:cNvPr id="4" name="Text 2"/>
          <p:cNvSpPr/>
          <p:nvPr/>
        </p:nvSpPr>
        <p:spPr>
          <a:xfrm>
            <a:off x="640080" y="310896"/>
            <a:ext cx="10058400" cy="292608"/>
          </a:xfrm>
          <a:prstGeom prst="rect">
            <a:avLst/>
          </a:prstGeom>
          <a:noFill/>
          <a:ln/>
        </p:spPr>
        <p:txBody>
          <a:bodyPr wrap="square" lIns="0" tIns="0" rIns="0" bIns="0" rtlCol="0" anchor="ctr"/>
          <a:lstStyle/>
          <a:p>
            <a:pPr marL="0" indent="0">
              <a:buNone/>
            </a:pPr>
            <a:r>
              <a:rPr lang="en-US" sz="1200" b="1" kern="0" spc="300" dirty="0">
                <a:solidFill>
                  <a:srgbClr val="1565C0"/>
                </a:solidFill>
                <a:latin typeface="Trebuchet MS" pitchFamily="34" charset="0"/>
                <a:ea typeface="Trebuchet MS" pitchFamily="34" charset="-122"/>
                <a:cs typeface="Trebuchet MS" pitchFamily="34" charset="-120"/>
              </a:rPr>
              <a:t>C++ IMPLEMENTATION · 1 OF 3</a:t>
            </a:r>
            <a:endParaRPr lang="en-US" sz="1200" dirty="0"/>
          </a:p>
        </p:txBody>
      </p:sp>
      <p:sp>
        <p:nvSpPr>
          <p:cNvPr id="5" name="Text 3"/>
          <p:cNvSpPr/>
          <p:nvPr/>
        </p:nvSpPr>
        <p:spPr>
          <a:xfrm>
            <a:off x="640080" y="566928"/>
            <a:ext cx="10972800" cy="640080"/>
          </a:xfrm>
          <a:prstGeom prst="rect">
            <a:avLst/>
          </a:prstGeom>
          <a:noFill/>
          <a:ln/>
        </p:spPr>
        <p:txBody>
          <a:bodyPr wrap="square" lIns="0" tIns="0" rIns="0" bIns="0" rtlCol="0" anchor="ctr"/>
          <a:lstStyle/>
          <a:p>
            <a:pPr marL="0" indent="0">
              <a:buNone/>
            </a:pPr>
            <a:r>
              <a:rPr lang="en-US" sz="2800" b="1" dirty="0">
                <a:solidFill>
                  <a:srgbClr val="0E2A47"/>
                </a:solidFill>
                <a:latin typeface="Trebuchet MS" pitchFamily="34" charset="0"/>
                <a:ea typeface="Trebuchet MS" pitchFamily="34" charset="-122"/>
                <a:cs typeface="Trebuchet MS" pitchFamily="34" charset="-120"/>
              </a:rPr>
              <a:t>Machine &amp; Sensor classes</a:t>
            </a:r>
            <a:endParaRPr lang="en-US" sz="2800" dirty="0"/>
          </a:p>
        </p:txBody>
      </p:sp>
      <p:sp>
        <p:nvSpPr>
          <p:cNvPr id="6" name="Text 4"/>
          <p:cNvSpPr/>
          <p:nvPr/>
        </p:nvSpPr>
        <p:spPr>
          <a:xfrm>
            <a:off x="640080" y="1417320"/>
            <a:ext cx="10881360" cy="411480"/>
          </a:xfrm>
          <a:prstGeom prst="rect">
            <a:avLst/>
          </a:prstGeom>
          <a:noFill/>
          <a:ln/>
        </p:spPr>
        <p:txBody>
          <a:bodyPr wrap="square" lIns="0" tIns="0" rIns="0" bIns="0" rtlCol="0" anchor="ctr"/>
          <a:lstStyle/>
          <a:p>
            <a:pPr marL="0" indent="0">
              <a:buNone/>
            </a:pPr>
            <a:r>
              <a:rPr lang="en-US" sz="1400" dirty="0">
                <a:solidFill>
                  <a:srgbClr val="5C6B7C"/>
                </a:solidFill>
                <a:latin typeface="Calibri" pitchFamily="34" charset="0"/>
                <a:ea typeface="Calibri" pitchFamily="34" charset="-122"/>
                <a:cs typeface="Calibri" pitchFamily="34" charset="-120"/>
              </a:rPr>
              <a:t>Each machine encapsulates its sensor readings and computes its own health score from the weighted risk formula.</a:t>
            </a:r>
            <a:endParaRPr lang="en-US" sz="1400" dirty="0"/>
          </a:p>
        </p:txBody>
      </p:sp>
      <p:sp>
        <p:nvSpPr>
          <p:cNvPr id="7" name="Shape 5"/>
          <p:cNvSpPr/>
          <p:nvPr/>
        </p:nvSpPr>
        <p:spPr>
          <a:xfrm>
            <a:off x="640080" y="1901952"/>
            <a:ext cx="10908792" cy="4498848"/>
          </a:xfrm>
          <a:prstGeom prst="rect">
            <a:avLst/>
          </a:prstGeom>
          <a:solidFill>
            <a:srgbClr val="0C1B2E"/>
          </a:solidFill>
          <a:ln/>
          <a:effectLst>
            <a:outerShdw blurRad="114300" dist="38100" dir="5400000" algn="bl" rotWithShape="0">
              <a:srgbClr val="0E2A47">
                <a:alpha val="16000"/>
              </a:srgbClr>
            </a:outerShdw>
          </a:effectLst>
        </p:spPr>
        <p:txBody>
          <a:bodyPr/>
          <a:lstStyle/>
          <a:p>
            <a:endParaRPr lang="LID4096"/>
          </a:p>
        </p:txBody>
      </p:sp>
      <p:sp>
        <p:nvSpPr>
          <p:cNvPr id="8" name="Shape 6"/>
          <p:cNvSpPr/>
          <p:nvPr/>
        </p:nvSpPr>
        <p:spPr>
          <a:xfrm>
            <a:off x="640080" y="1901952"/>
            <a:ext cx="10908792" cy="310896"/>
          </a:xfrm>
          <a:prstGeom prst="rect">
            <a:avLst/>
          </a:prstGeom>
          <a:solidFill>
            <a:srgbClr val="12325A"/>
          </a:solidFill>
          <a:ln/>
        </p:spPr>
        <p:txBody>
          <a:bodyPr/>
          <a:lstStyle/>
          <a:p>
            <a:endParaRPr lang="LID4096"/>
          </a:p>
        </p:txBody>
      </p:sp>
      <p:sp>
        <p:nvSpPr>
          <p:cNvPr id="9" name="Shape 7"/>
          <p:cNvSpPr/>
          <p:nvPr/>
        </p:nvSpPr>
        <p:spPr>
          <a:xfrm>
            <a:off x="804672" y="2002536"/>
            <a:ext cx="109728" cy="109728"/>
          </a:xfrm>
          <a:prstGeom prst="ellipse">
            <a:avLst/>
          </a:prstGeom>
          <a:solidFill>
            <a:srgbClr val="FF5F56"/>
          </a:solidFill>
          <a:ln/>
        </p:spPr>
        <p:txBody>
          <a:bodyPr/>
          <a:lstStyle/>
          <a:p>
            <a:endParaRPr lang="LID4096"/>
          </a:p>
        </p:txBody>
      </p:sp>
      <p:sp>
        <p:nvSpPr>
          <p:cNvPr id="10" name="Shape 8"/>
          <p:cNvSpPr/>
          <p:nvPr/>
        </p:nvSpPr>
        <p:spPr>
          <a:xfrm>
            <a:off x="1005840" y="2002536"/>
            <a:ext cx="109728" cy="109728"/>
          </a:xfrm>
          <a:prstGeom prst="ellipse">
            <a:avLst/>
          </a:prstGeom>
          <a:solidFill>
            <a:srgbClr val="FFBD2E"/>
          </a:solidFill>
          <a:ln/>
        </p:spPr>
        <p:txBody>
          <a:bodyPr/>
          <a:lstStyle/>
          <a:p>
            <a:endParaRPr lang="LID4096"/>
          </a:p>
        </p:txBody>
      </p:sp>
      <p:sp>
        <p:nvSpPr>
          <p:cNvPr id="11" name="Shape 9"/>
          <p:cNvSpPr/>
          <p:nvPr/>
        </p:nvSpPr>
        <p:spPr>
          <a:xfrm>
            <a:off x="1207008" y="2002536"/>
            <a:ext cx="109728" cy="109728"/>
          </a:xfrm>
          <a:prstGeom prst="ellipse">
            <a:avLst/>
          </a:prstGeom>
          <a:solidFill>
            <a:srgbClr val="27C93F"/>
          </a:solidFill>
          <a:ln/>
        </p:spPr>
        <p:txBody>
          <a:bodyPr/>
          <a:lstStyle/>
          <a:p>
            <a:endParaRPr lang="LID4096"/>
          </a:p>
        </p:txBody>
      </p:sp>
      <p:sp>
        <p:nvSpPr>
          <p:cNvPr id="12" name="Text 10"/>
          <p:cNvSpPr/>
          <p:nvPr/>
        </p:nvSpPr>
        <p:spPr>
          <a:xfrm>
            <a:off x="932688" y="2322576"/>
            <a:ext cx="10360152" cy="3950208"/>
          </a:xfrm>
          <a:prstGeom prst="rect">
            <a:avLst/>
          </a:prstGeom>
          <a:noFill/>
          <a:ln/>
        </p:spPr>
        <p:txBody>
          <a:bodyPr wrap="square" lIns="0" tIns="0" rIns="0" bIns="0" rtlCol="0" anchor="t"/>
          <a:lstStyle/>
          <a:p>
            <a:pPr marL="0" indent="0" algn="l">
              <a:lnSpc>
                <a:spcPct val="100000"/>
              </a:lnSpc>
              <a:buNone/>
            </a:pPr>
            <a:r>
              <a:rPr lang="en-US" sz="1150" dirty="0">
                <a:solidFill>
                  <a:srgbClr val="6FB7FF"/>
                </a:solidFill>
                <a:latin typeface="Consolas" pitchFamily="34" charset="0"/>
                <a:ea typeface="Consolas" pitchFamily="34" charset="-122"/>
                <a:cs typeface="Consolas" pitchFamily="34" charset="-120"/>
              </a:rPr>
              <a:t>class </a:t>
            </a:r>
            <a:r>
              <a:rPr lang="en-US" sz="1150" dirty="0">
                <a:solidFill>
                  <a:srgbClr val="57D9C9"/>
                </a:solidFill>
                <a:latin typeface="Consolas" pitchFamily="34" charset="0"/>
                <a:ea typeface="Consolas" pitchFamily="34" charset="-122"/>
                <a:cs typeface="Consolas" pitchFamily="34" charset="-120"/>
              </a:rPr>
              <a:t>Sensor</a:t>
            </a:r>
            <a:r>
              <a:rPr lang="en-US" sz="1150" dirty="0">
                <a:solidFill>
                  <a:srgbClr val="DCE7F2"/>
                </a:solidFill>
                <a:latin typeface="Consolas" pitchFamily="34" charset="0"/>
                <a:ea typeface="Consolas" pitchFamily="34" charset="-122"/>
                <a:cs typeface="Consolas" pitchFamily="34" charset="-120"/>
              </a:rPr>
              <a:t> {</a:t>
            </a:r>
            <a:endParaRPr lang="en-US" sz="1150" dirty="0"/>
          </a:p>
          <a:p>
            <a:pPr marL="0" indent="0" algn="l">
              <a:lnSpc>
                <a:spcPct val="100000"/>
              </a:lnSpc>
              <a:buNone/>
            </a:pPr>
            <a:r>
              <a:rPr lang="en-US" sz="1150" dirty="0">
                <a:solidFill>
                  <a:srgbClr val="6FB7FF"/>
                </a:solidFill>
                <a:latin typeface="Consolas" pitchFamily="34" charset="0"/>
                <a:ea typeface="Consolas" pitchFamily="34" charset="-122"/>
                <a:cs typeface="Consolas" pitchFamily="34" charset="-120"/>
              </a:rPr>
              <a:t>public:</a:t>
            </a:r>
            <a:endParaRPr lang="en-US" sz="1150" dirty="0"/>
          </a:p>
          <a:p>
            <a:pPr marL="0" indent="0" algn="l">
              <a:lnSpc>
                <a:spcPct val="100000"/>
              </a:lnSpc>
              <a:buNone/>
            </a:pPr>
            <a:r>
              <a:rPr lang="en-US" sz="1150" dirty="0">
                <a:solidFill>
                  <a:srgbClr val="6FB7FF"/>
                </a:solidFill>
                <a:latin typeface="Consolas" pitchFamily="34" charset="0"/>
                <a:ea typeface="Consolas" pitchFamily="34" charset="-122"/>
                <a:cs typeface="Consolas" pitchFamily="34" charset="-120"/>
              </a:rPr>
              <a:t>    int</a:t>
            </a:r>
            <a:r>
              <a:rPr lang="en-US" sz="1150" dirty="0">
                <a:solidFill>
                  <a:srgbClr val="DCE7F2"/>
                </a:solidFill>
                <a:latin typeface="Consolas" pitchFamily="34" charset="0"/>
                <a:ea typeface="Consolas" pitchFamily="34" charset="-122"/>
                <a:cs typeface="Consolas" pitchFamily="34" charset="-120"/>
              </a:rPr>
              <a:t>         sensorID;</a:t>
            </a:r>
            <a:endParaRPr lang="en-US" sz="1150" dirty="0"/>
          </a:p>
          <a:p>
            <a:pPr marL="0" indent="0" algn="l">
              <a:lnSpc>
                <a:spcPct val="100000"/>
              </a:lnSpc>
              <a:buNone/>
            </a:pPr>
            <a:r>
              <a:rPr lang="en-US" sz="1150" dirty="0">
                <a:solidFill>
                  <a:srgbClr val="6FB7FF"/>
                </a:solidFill>
                <a:latin typeface="Consolas" pitchFamily="34" charset="0"/>
                <a:ea typeface="Consolas" pitchFamily="34" charset="-122"/>
                <a:cs typeface="Consolas" pitchFamily="34" charset="-120"/>
              </a:rPr>
              <a:t>    string</a:t>
            </a:r>
            <a:r>
              <a:rPr lang="en-US" sz="1150" dirty="0">
                <a:solidFill>
                  <a:srgbClr val="DCE7F2"/>
                </a:solidFill>
                <a:latin typeface="Consolas" pitchFamily="34" charset="0"/>
                <a:ea typeface="Consolas" pitchFamily="34" charset="-122"/>
                <a:cs typeface="Consolas" pitchFamily="34" charset="-120"/>
              </a:rPr>
              <a:t>      type;</a:t>
            </a:r>
            <a:r>
              <a:rPr lang="en-US" sz="1150" dirty="0">
                <a:solidFill>
                  <a:srgbClr val="6B829A"/>
                </a:solidFill>
                <a:latin typeface="Consolas" pitchFamily="34" charset="0"/>
                <a:ea typeface="Consolas" pitchFamily="34" charset="-122"/>
                <a:cs typeface="Consolas" pitchFamily="34" charset="-120"/>
              </a:rPr>
              <a:t>        // "temperature" | "vibration"</a:t>
            </a:r>
            <a:endParaRPr lang="en-US" sz="1150" dirty="0"/>
          </a:p>
          <a:p>
            <a:pPr marL="0" indent="0" algn="l">
              <a:lnSpc>
                <a:spcPct val="100000"/>
              </a:lnSpc>
              <a:buNone/>
            </a:pPr>
            <a:r>
              <a:rPr lang="en-US" sz="1150" dirty="0">
                <a:solidFill>
                  <a:srgbClr val="6FB7FF"/>
                </a:solidFill>
                <a:latin typeface="Consolas" pitchFamily="34" charset="0"/>
                <a:ea typeface="Consolas" pitchFamily="34" charset="-122"/>
                <a:cs typeface="Consolas" pitchFamily="34" charset="-120"/>
              </a:rPr>
              <a:t>    double</a:t>
            </a:r>
            <a:r>
              <a:rPr lang="en-US" sz="1150" dirty="0">
                <a:solidFill>
                  <a:srgbClr val="DCE7F2"/>
                </a:solidFill>
                <a:latin typeface="Consolas" pitchFamily="34" charset="0"/>
                <a:ea typeface="Consolas" pitchFamily="34" charset="-122"/>
                <a:cs typeface="Consolas" pitchFamily="34" charset="-120"/>
              </a:rPr>
              <a:t>      currentValue;</a:t>
            </a:r>
            <a:endParaRPr lang="en-US" sz="1150" dirty="0"/>
          </a:p>
          <a:p>
            <a:pPr marL="0" indent="0" algn="l">
              <a:lnSpc>
                <a:spcPct val="100000"/>
              </a:lnSpc>
              <a:buNone/>
            </a:pPr>
            <a:r>
              <a:rPr lang="en-US" sz="1150" dirty="0">
                <a:solidFill>
                  <a:srgbClr val="6FB7FF"/>
                </a:solidFill>
                <a:latin typeface="Consolas" pitchFamily="34" charset="0"/>
                <a:ea typeface="Consolas" pitchFamily="34" charset="-122"/>
                <a:cs typeface="Consolas" pitchFamily="34" charset="-120"/>
              </a:rPr>
              <a:t>    double </a:t>
            </a:r>
            <a:r>
              <a:rPr lang="en-US" sz="1150" dirty="0">
                <a:solidFill>
                  <a:srgbClr val="FFD479"/>
                </a:solidFill>
                <a:latin typeface="Consolas" pitchFamily="34" charset="0"/>
                <a:ea typeface="Consolas" pitchFamily="34" charset="-122"/>
                <a:cs typeface="Consolas" pitchFamily="34" charset="-120"/>
              </a:rPr>
              <a:t>readValue</a:t>
            </a:r>
            <a:r>
              <a:rPr lang="en-US" sz="1150" dirty="0">
                <a:solidFill>
                  <a:srgbClr val="DCE7F2"/>
                </a:solidFill>
                <a:latin typeface="Consolas" pitchFamily="34" charset="0"/>
                <a:ea typeface="Consolas" pitchFamily="34" charset="-122"/>
                <a:cs typeface="Consolas" pitchFamily="34" charset="-120"/>
              </a:rPr>
              <a:t>();</a:t>
            </a:r>
            <a:r>
              <a:rPr lang="en-US" sz="1150" dirty="0">
                <a:solidFill>
                  <a:srgbClr val="6B829A"/>
                </a:solidFill>
                <a:latin typeface="Consolas" pitchFamily="34" charset="0"/>
                <a:ea typeface="Consolas" pitchFamily="34" charset="-122"/>
                <a:cs typeface="Consolas" pitchFamily="34" charset="-120"/>
              </a:rPr>
              <a:t>      // poll the hardware pin</a:t>
            </a:r>
            <a:endParaRPr lang="en-US" sz="1150" dirty="0"/>
          </a:p>
          <a:p>
            <a:pPr marL="0" indent="0" algn="l">
              <a:lnSpc>
                <a:spcPct val="100000"/>
              </a:lnSpc>
              <a:buNone/>
            </a:pPr>
            <a:r>
              <a:rPr lang="en-US" sz="1150" dirty="0">
                <a:solidFill>
                  <a:srgbClr val="6FB7FF"/>
                </a:solidFill>
                <a:latin typeface="Consolas" pitchFamily="34" charset="0"/>
                <a:ea typeface="Consolas" pitchFamily="34" charset="-122"/>
                <a:cs typeface="Consolas" pitchFamily="34" charset="-120"/>
              </a:rPr>
              <a:t>    void   </a:t>
            </a:r>
            <a:r>
              <a:rPr lang="en-US" sz="1150" dirty="0">
                <a:solidFill>
                  <a:srgbClr val="FFD479"/>
                </a:solidFill>
                <a:latin typeface="Consolas" pitchFamily="34" charset="0"/>
                <a:ea typeface="Consolas" pitchFamily="34" charset="-122"/>
                <a:cs typeface="Consolas" pitchFamily="34" charset="-120"/>
              </a:rPr>
              <a:t>sendData</a:t>
            </a:r>
            <a:r>
              <a:rPr lang="en-US" sz="1150" dirty="0">
                <a:solidFill>
                  <a:srgbClr val="DCE7F2"/>
                </a:solidFill>
                <a:latin typeface="Consolas" pitchFamily="34" charset="0"/>
                <a:ea typeface="Consolas" pitchFamily="34" charset="-122"/>
                <a:cs typeface="Consolas" pitchFamily="34" charset="-120"/>
              </a:rPr>
              <a:t>();</a:t>
            </a:r>
            <a:r>
              <a:rPr lang="en-US" sz="1150" dirty="0">
                <a:solidFill>
                  <a:srgbClr val="6B829A"/>
                </a:solidFill>
                <a:latin typeface="Consolas" pitchFamily="34" charset="0"/>
                <a:ea typeface="Consolas" pitchFamily="34" charset="-122"/>
                <a:cs typeface="Consolas" pitchFamily="34" charset="-120"/>
              </a:rPr>
              <a:t>        // push over Serial / MQTT</a:t>
            </a:r>
            <a:endParaRPr lang="en-US" sz="1150" dirty="0"/>
          </a:p>
          <a:p>
            <a:pPr marL="0" indent="0" algn="l">
              <a:lnSpc>
                <a:spcPct val="100000"/>
              </a:lnSpc>
              <a:buNone/>
            </a:pPr>
            <a:r>
              <a:rPr lang="en-US" sz="1150" dirty="0">
                <a:solidFill>
                  <a:srgbClr val="DCE7F2"/>
                </a:solidFill>
                <a:latin typeface="Consolas" pitchFamily="34" charset="0"/>
                <a:ea typeface="Consolas" pitchFamily="34" charset="-122"/>
                <a:cs typeface="Consolas" pitchFamily="34" charset="-120"/>
              </a:rPr>
              <a:t>};</a:t>
            </a:r>
            <a:endParaRPr lang="en-US" sz="1150" dirty="0"/>
          </a:p>
          <a:p>
            <a:pPr marL="0" indent="0" algn="l">
              <a:lnSpc>
                <a:spcPct val="100000"/>
              </a:lnSpc>
              <a:buNone/>
            </a:pPr>
            <a:r>
              <a:rPr lang="en-US" sz="1150" dirty="0">
                <a:solidFill>
                  <a:srgbClr val="DCE7F2"/>
                </a:solidFill>
                <a:latin typeface="Consolas" pitchFamily="34" charset="0"/>
                <a:ea typeface="Consolas" pitchFamily="34" charset="-122"/>
                <a:cs typeface="Consolas" pitchFamily="34" charset="-120"/>
              </a:rPr>
              <a:t> </a:t>
            </a:r>
            <a:endParaRPr lang="en-US" sz="1150" dirty="0"/>
          </a:p>
          <a:p>
            <a:pPr marL="0" indent="0" algn="l">
              <a:lnSpc>
                <a:spcPct val="100000"/>
              </a:lnSpc>
              <a:buNone/>
            </a:pPr>
            <a:r>
              <a:rPr lang="en-US" sz="1150" dirty="0">
                <a:solidFill>
                  <a:srgbClr val="6FB7FF"/>
                </a:solidFill>
                <a:latin typeface="Consolas" pitchFamily="34" charset="0"/>
                <a:ea typeface="Consolas" pitchFamily="34" charset="-122"/>
                <a:cs typeface="Consolas" pitchFamily="34" charset="-120"/>
              </a:rPr>
              <a:t>class </a:t>
            </a:r>
            <a:r>
              <a:rPr lang="en-US" sz="1150" dirty="0">
                <a:solidFill>
                  <a:srgbClr val="57D9C9"/>
                </a:solidFill>
                <a:latin typeface="Consolas" pitchFamily="34" charset="0"/>
                <a:ea typeface="Consolas" pitchFamily="34" charset="-122"/>
                <a:cs typeface="Consolas" pitchFamily="34" charset="-120"/>
              </a:rPr>
              <a:t>Machine</a:t>
            </a:r>
            <a:r>
              <a:rPr lang="en-US" sz="1150" dirty="0">
                <a:solidFill>
                  <a:srgbClr val="DCE7F2"/>
                </a:solidFill>
                <a:latin typeface="Consolas" pitchFamily="34" charset="0"/>
                <a:ea typeface="Consolas" pitchFamily="34" charset="-122"/>
                <a:cs typeface="Consolas" pitchFamily="34" charset="-120"/>
              </a:rPr>
              <a:t> {</a:t>
            </a:r>
            <a:endParaRPr lang="en-US" sz="1150" dirty="0"/>
          </a:p>
          <a:p>
            <a:pPr marL="0" indent="0" algn="l">
              <a:lnSpc>
                <a:spcPct val="100000"/>
              </a:lnSpc>
              <a:buNone/>
            </a:pPr>
            <a:r>
              <a:rPr lang="en-US" sz="1150" dirty="0">
                <a:solidFill>
                  <a:srgbClr val="6FB7FF"/>
                </a:solidFill>
                <a:latin typeface="Consolas" pitchFamily="34" charset="0"/>
                <a:ea typeface="Consolas" pitchFamily="34" charset="-122"/>
                <a:cs typeface="Consolas" pitchFamily="34" charset="-120"/>
              </a:rPr>
              <a:t>public:</a:t>
            </a:r>
            <a:endParaRPr lang="en-US" sz="1150" dirty="0"/>
          </a:p>
          <a:p>
            <a:pPr marL="0" indent="0" algn="l">
              <a:lnSpc>
                <a:spcPct val="100000"/>
              </a:lnSpc>
              <a:buNone/>
            </a:pPr>
            <a:r>
              <a:rPr lang="en-US" sz="1150" dirty="0">
                <a:solidFill>
                  <a:srgbClr val="6FB7FF"/>
                </a:solidFill>
                <a:latin typeface="Consolas" pitchFamily="34" charset="0"/>
                <a:ea typeface="Consolas" pitchFamily="34" charset="-122"/>
                <a:cs typeface="Consolas" pitchFamily="34" charset="-120"/>
              </a:rPr>
              <a:t>    int</a:t>
            </a:r>
            <a:r>
              <a:rPr lang="en-US" sz="1150" dirty="0">
                <a:solidFill>
                  <a:srgbClr val="DCE7F2"/>
                </a:solidFill>
                <a:latin typeface="Consolas" pitchFamily="34" charset="0"/>
                <a:ea typeface="Consolas" pitchFamily="34" charset="-122"/>
                <a:cs typeface="Consolas" pitchFamily="34" charset="-120"/>
              </a:rPr>
              <a:t>    machineID;   string status;</a:t>
            </a:r>
            <a:r>
              <a:rPr lang="en-US" sz="1150" dirty="0">
                <a:solidFill>
                  <a:srgbClr val="6B829A"/>
                </a:solidFill>
                <a:latin typeface="Consolas" pitchFamily="34" charset="0"/>
                <a:ea typeface="Consolas" pitchFamily="34" charset="-122"/>
                <a:cs typeface="Consolas" pitchFamily="34" charset="-120"/>
              </a:rPr>
              <a:t>  // Healthy|Warning|Critical</a:t>
            </a:r>
            <a:endParaRPr lang="en-US" sz="1150" dirty="0"/>
          </a:p>
          <a:p>
            <a:pPr marL="0" indent="0" algn="l">
              <a:lnSpc>
                <a:spcPct val="100000"/>
              </a:lnSpc>
              <a:buNone/>
            </a:pPr>
            <a:r>
              <a:rPr lang="en-US" sz="1150" dirty="0">
                <a:solidFill>
                  <a:srgbClr val="6FB7FF"/>
                </a:solidFill>
                <a:latin typeface="Consolas" pitchFamily="34" charset="0"/>
                <a:ea typeface="Consolas" pitchFamily="34" charset="-122"/>
                <a:cs typeface="Consolas" pitchFamily="34" charset="-120"/>
              </a:rPr>
              <a:t>    double</a:t>
            </a:r>
            <a:r>
              <a:rPr lang="en-US" sz="1150" dirty="0">
                <a:solidFill>
                  <a:srgbClr val="DCE7F2"/>
                </a:solidFill>
                <a:latin typeface="Consolas" pitchFamily="34" charset="0"/>
                <a:ea typeface="Consolas" pitchFamily="34" charset="-122"/>
                <a:cs typeface="Consolas" pitchFamily="34" charset="-120"/>
              </a:rPr>
              <a:t> temperature, vibration, healthScore;</a:t>
            </a:r>
            <a:endParaRPr lang="en-US" sz="1150" dirty="0"/>
          </a:p>
          <a:p>
            <a:pPr marL="0" indent="0" algn="l">
              <a:lnSpc>
                <a:spcPct val="100000"/>
              </a:lnSpc>
              <a:buNone/>
            </a:pPr>
            <a:r>
              <a:rPr lang="en-US" sz="1150" dirty="0">
                <a:solidFill>
                  <a:srgbClr val="DCE7F2"/>
                </a:solidFill>
                <a:latin typeface="Consolas" pitchFamily="34" charset="0"/>
                <a:ea typeface="Consolas" pitchFamily="34" charset="-122"/>
                <a:cs typeface="Consolas" pitchFamily="34" charset="-120"/>
              </a:rPr>
              <a:t> </a:t>
            </a:r>
            <a:endParaRPr lang="en-US" sz="1150" dirty="0"/>
          </a:p>
          <a:p>
            <a:pPr marL="0" indent="0" algn="l">
              <a:lnSpc>
                <a:spcPct val="100000"/>
              </a:lnSpc>
              <a:buNone/>
            </a:pPr>
            <a:r>
              <a:rPr lang="en-US" sz="1150" dirty="0">
                <a:solidFill>
                  <a:srgbClr val="6FB7FF"/>
                </a:solidFill>
                <a:latin typeface="Consolas" pitchFamily="34" charset="0"/>
                <a:ea typeface="Consolas" pitchFamily="34" charset="-122"/>
                <a:cs typeface="Consolas" pitchFamily="34" charset="-120"/>
              </a:rPr>
              <a:t>    double </a:t>
            </a:r>
            <a:r>
              <a:rPr lang="en-US" sz="1150" dirty="0">
                <a:solidFill>
                  <a:srgbClr val="FFD479"/>
                </a:solidFill>
                <a:latin typeface="Consolas" pitchFamily="34" charset="0"/>
                <a:ea typeface="Consolas" pitchFamily="34" charset="-122"/>
                <a:cs typeface="Consolas" pitchFamily="34" charset="-120"/>
              </a:rPr>
              <a:t>calculateHealthScore</a:t>
            </a:r>
            <a:r>
              <a:rPr lang="en-US" sz="1150" dirty="0">
                <a:solidFill>
                  <a:srgbClr val="DCE7F2"/>
                </a:solidFill>
                <a:latin typeface="Consolas" pitchFamily="34" charset="0"/>
                <a:ea typeface="Consolas" pitchFamily="34" charset="-122"/>
                <a:cs typeface="Consolas" pitchFamily="34" charset="-120"/>
              </a:rPr>
              <a:t>() {</a:t>
            </a:r>
            <a:endParaRPr lang="en-US" sz="1150" dirty="0"/>
          </a:p>
          <a:p>
            <a:pPr marL="0" indent="0" algn="l">
              <a:lnSpc>
                <a:spcPct val="100000"/>
              </a:lnSpc>
              <a:buNone/>
            </a:pPr>
            <a:r>
              <a:rPr lang="en-US" sz="1150" dirty="0">
                <a:solidFill>
                  <a:srgbClr val="6FB7FF"/>
                </a:solidFill>
                <a:latin typeface="Consolas" pitchFamily="34" charset="0"/>
                <a:ea typeface="Consolas" pitchFamily="34" charset="-122"/>
                <a:cs typeface="Consolas" pitchFamily="34" charset="-120"/>
              </a:rPr>
              <a:t>        double</a:t>
            </a:r>
            <a:r>
              <a:rPr lang="en-US" sz="1150" dirty="0">
                <a:solidFill>
                  <a:srgbClr val="DCE7F2"/>
                </a:solidFill>
                <a:latin typeface="Consolas" pitchFamily="34" charset="0"/>
                <a:ea typeface="Consolas" pitchFamily="34" charset="-122"/>
                <a:cs typeface="Consolas" pitchFamily="34" charset="-120"/>
              </a:rPr>
              <a:t> tRisk = </a:t>
            </a:r>
            <a:r>
              <a:rPr lang="en-US" sz="1150" dirty="0">
                <a:solidFill>
                  <a:srgbClr val="FFD479"/>
                </a:solidFill>
                <a:latin typeface="Consolas" pitchFamily="34" charset="0"/>
                <a:ea typeface="Consolas" pitchFamily="34" charset="-122"/>
                <a:cs typeface="Consolas" pitchFamily="34" charset="-120"/>
              </a:rPr>
              <a:t>clamp</a:t>
            </a:r>
            <a:r>
              <a:rPr lang="en-US" sz="1150" dirty="0">
                <a:solidFill>
                  <a:srgbClr val="DCE7F2"/>
                </a:solidFill>
                <a:latin typeface="Consolas" pitchFamily="34" charset="0"/>
                <a:ea typeface="Consolas" pitchFamily="34" charset="-122"/>
                <a:cs typeface="Consolas" pitchFamily="34" charset="-120"/>
              </a:rPr>
              <a:t>((temperature - </a:t>
            </a:r>
            <a:r>
              <a:rPr lang="en-US" sz="1150" dirty="0">
                <a:solidFill>
                  <a:srgbClr val="F3A26B"/>
                </a:solidFill>
                <a:latin typeface="Consolas" pitchFamily="34" charset="0"/>
                <a:ea typeface="Consolas" pitchFamily="34" charset="-122"/>
                <a:cs typeface="Consolas" pitchFamily="34" charset="-120"/>
              </a:rPr>
              <a:t>40.0</a:t>
            </a:r>
            <a:r>
              <a:rPr lang="en-US" sz="1150" dirty="0">
                <a:solidFill>
                  <a:srgbClr val="DCE7F2"/>
                </a:solidFill>
                <a:latin typeface="Consolas" pitchFamily="34" charset="0"/>
                <a:ea typeface="Consolas" pitchFamily="34" charset="-122"/>
                <a:cs typeface="Consolas" pitchFamily="34" charset="-120"/>
              </a:rPr>
              <a:t>) / </a:t>
            </a:r>
            <a:r>
              <a:rPr lang="en-US" sz="1150" dirty="0">
                <a:solidFill>
                  <a:srgbClr val="F3A26B"/>
                </a:solidFill>
                <a:latin typeface="Consolas" pitchFamily="34" charset="0"/>
                <a:ea typeface="Consolas" pitchFamily="34" charset="-122"/>
                <a:cs typeface="Consolas" pitchFamily="34" charset="-120"/>
              </a:rPr>
              <a:t>40.0</a:t>
            </a:r>
            <a:r>
              <a:rPr lang="en-US" sz="1150" dirty="0">
                <a:solidFill>
                  <a:srgbClr val="DCE7F2"/>
                </a:solidFill>
                <a:latin typeface="Consolas" pitchFamily="34" charset="0"/>
                <a:ea typeface="Consolas" pitchFamily="34" charset="-122"/>
                <a:cs typeface="Consolas" pitchFamily="34" charset="-120"/>
              </a:rPr>
              <a:t>);</a:t>
            </a:r>
            <a:endParaRPr lang="en-US" sz="1150" dirty="0"/>
          </a:p>
          <a:p>
            <a:pPr marL="0" indent="0" algn="l">
              <a:lnSpc>
                <a:spcPct val="100000"/>
              </a:lnSpc>
              <a:buNone/>
            </a:pPr>
            <a:r>
              <a:rPr lang="en-US" sz="1150" dirty="0">
                <a:solidFill>
                  <a:srgbClr val="6FB7FF"/>
                </a:solidFill>
                <a:latin typeface="Consolas" pitchFamily="34" charset="0"/>
                <a:ea typeface="Consolas" pitchFamily="34" charset="-122"/>
                <a:cs typeface="Consolas" pitchFamily="34" charset="-120"/>
              </a:rPr>
              <a:t>        double</a:t>
            </a:r>
            <a:r>
              <a:rPr lang="en-US" sz="1150" dirty="0">
                <a:solidFill>
                  <a:srgbClr val="DCE7F2"/>
                </a:solidFill>
                <a:latin typeface="Consolas" pitchFamily="34" charset="0"/>
                <a:ea typeface="Consolas" pitchFamily="34" charset="-122"/>
                <a:cs typeface="Consolas" pitchFamily="34" charset="-120"/>
              </a:rPr>
              <a:t> vRisk = </a:t>
            </a:r>
            <a:r>
              <a:rPr lang="en-US" sz="1150" dirty="0">
                <a:solidFill>
                  <a:srgbClr val="FFD479"/>
                </a:solidFill>
                <a:latin typeface="Consolas" pitchFamily="34" charset="0"/>
                <a:ea typeface="Consolas" pitchFamily="34" charset="-122"/>
                <a:cs typeface="Consolas" pitchFamily="34" charset="-120"/>
              </a:rPr>
              <a:t>clamp</a:t>
            </a:r>
            <a:r>
              <a:rPr lang="en-US" sz="1150" dirty="0">
                <a:solidFill>
                  <a:srgbClr val="DCE7F2"/>
                </a:solidFill>
                <a:latin typeface="Consolas" pitchFamily="34" charset="0"/>
                <a:ea typeface="Consolas" pitchFamily="34" charset="-122"/>
                <a:cs typeface="Consolas" pitchFamily="34" charset="-120"/>
              </a:rPr>
              <a:t>(vibration / </a:t>
            </a:r>
            <a:r>
              <a:rPr lang="en-US" sz="1150" dirty="0">
                <a:solidFill>
                  <a:srgbClr val="F3A26B"/>
                </a:solidFill>
                <a:latin typeface="Consolas" pitchFamily="34" charset="0"/>
                <a:ea typeface="Consolas" pitchFamily="34" charset="-122"/>
                <a:cs typeface="Consolas" pitchFamily="34" charset="-120"/>
              </a:rPr>
              <a:t>5.0</a:t>
            </a:r>
            <a:r>
              <a:rPr lang="en-US" sz="1150" dirty="0">
                <a:solidFill>
                  <a:srgbClr val="DCE7F2"/>
                </a:solidFill>
                <a:latin typeface="Consolas" pitchFamily="34" charset="0"/>
                <a:ea typeface="Consolas" pitchFamily="34" charset="-122"/>
                <a:cs typeface="Consolas" pitchFamily="34" charset="-120"/>
              </a:rPr>
              <a:t>);</a:t>
            </a:r>
            <a:endParaRPr lang="en-US" sz="1150" dirty="0"/>
          </a:p>
          <a:p>
            <a:pPr marL="0" indent="0" algn="l">
              <a:lnSpc>
                <a:spcPct val="100000"/>
              </a:lnSpc>
              <a:buNone/>
            </a:pPr>
            <a:r>
              <a:rPr lang="en-US" sz="1150" dirty="0">
                <a:solidFill>
                  <a:srgbClr val="DCE7F2"/>
                </a:solidFill>
                <a:latin typeface="Consolas" pitchFamily="34" charset="0"/>
                <a:ea typeface="Consolas" pitchFamily="34" charset="-122"/>
                <a:cs typeface="Consolas" pitchFamily="34" charset="-120"/>
              </a:rPr>
              <a:t>        healthScore = </a:t>
            </a:r>
            <a:r>
              <a:rPr lang="en-US" sz="1150" dirty="0">
                <a:solidFill>
                  <a:srgbClr val="F3A26B"/>
                </a:solidFill>
                <a:latin typeface="Consolas" pitchFamily="34" charset="0"/>
                <a:ea typeface="Consolas" pitchFamily="34" charset="-122"/>
                <a:cs typeface="Consolas" pitchFamily="34" charset="-120"/>
              </a:rPr>
              <a:t>100.0</a:t>
            </a:r>
            <a:r>
              <a:rPr lang="en-US" sz="1150" dirty="0">
                <a:solidFill>
                  <a:srgbClr val="DCE7F2"/>
                </a:solidFill>
                <a:latin typeface="Consolas" pitchFamily="34" charset="0"/>
                <a:ea typeface="Consolas" pitchFamily="34" charset="-122"/>
                <a:cs typeface="Consolas" pitchFamily="34" charset="-120"/>
              </a:rPr>
              <a:t> - (</a:t>
            </a:r>
            <a:r>
              <a:rPr lang="en-US" sz="1150" dirty="0">
                <a:solidFill>
                  <a:srgbClr val="F3A26B"/>
                </a:solidFill>
                <a:latin typeface="Consolas" pitchFamily="34" charset="0"/>
                <a:ea typeface="Consolas" pitchFamily="34" charset="-122"/>
                <a:cs typeface="Consolas" pitchFamily="34" charset="-120"/>
              </a:rPr>
              <a:t>0.4</a:t>
            </a:r>
            <a:r>
              <a:rPr lang="en-US" sz="1150" dirty="0">
                <a:solidFill>
                  <a:srgbClr val="DCE7F2"/>
                </a:solidFill>
                <a:latin typeface="Consolas" pitchFamily="34" charset="0"/>
                <a:ea typeface="Consolas" pitchFamily="34" charset="-122"/>
                <a:cs typeface="Consolas" pitchFamily="34" charset="-120"/>
              </a:rPr>
              <a:t>*tRisk + </a:t>
            </a:r>
            <a:r>
              <a:rPr lang="en-US" sz="1150" dirty="0">
                <a:solidFill>
                  <a:srgbClr val="F3A26B"/>
                </a:solidFill>
                <a:latin typeface="Consolas" pitchFamily="34" charset="0"/>
                <a:ea typeface="Consolas" pitchFamily="34" charset="-122"/>
                <a:cs typeface="Consolas" pitchFamily="34" charset="-120"/>
              </a:rPr>
              <a:t>0.6</a:t>
            </a:r>
            <a:r>
              <a:rPr lang="en-US" sz="1150" dirty="0">
                <a:solidFill>
                  <a:srgbClr val="DCE7F2"/>
                </a:solidFill>
                <a:latin typeface="Consolas" pitchFamily="34" charset="0"/>
                <a:ea typeface="Consolas" pitchFamily="34" charset="-122"/>
                <a:cs typeface="Consolas" pitchFamily="34" charset="-120"/>
              </a:rPr>
              <a:t>*vRisk) * </a:t>
            </a:r>
            <a:r>
              <a:rPr lang="en-US" sz="1150" dirty="0">
                <a:solidFill>
                  <a:srgbClr val="F3A26B"/>
                </a:solidFill>
                <a:latin typeface="Consolas" pitchFamily="34" charset="0"/>
                <a:ea typeface="Consolas" pitchFamily="34" charset="-122"/>
                <a:cs typeface="Consolas" pitchFamily="34" charset="-120"/>
              </a:rPr>
              <a:t>100.0</a:t>
            </a:r>
            <a:r>
              <a:rPr lang="en-US" sz="1150" dirty="0">
                <a:solidFill>
                  <a:srgbClr val="DCE7F2"/>
                </a:solidFill>
                <a:latin typeface="Consolas" pitchFamily="34" charset="0"/>
                <a:ea typeface="Consolas" pitchFamily="34" charset="-122"/>
                <a:cs typeface="Consolas" pitchFamily="34" charset="-120"/>
              </a:rPr>
              <a:t>;</a:t>
            </a:r>
            <a:endParaRPr lang="en-US" sz="1150" dirty="0"/>
          </a:p>
          <a:p>
            <a:pPr marL="0" indent="0" algn="l">
              <a:lnSpc>
                <a:spcPct val="100000"/>
              </a:lnSpc>
              <a:buNone/>
            </a:pPr>
            <a:r>
              <a:rPr lang="en-US" sz="1150" dirty="0">
                <a:solidFill>
                  <a:srgbClr val="6FB7FF"/>
                </a:solidFill>
                <a:latin typeface="Consolas" pitchFamily="34" charset="0"/>
                <a:ea typeface="Consolas" pitchFamily="34" charset="-122"/>
                <a:cs typeface="Consolas" pitchFamily="34" charset="-120"/>
              </a:rPr>
              <a:t>        return</a:t>
            </a:r>
            <a:r>
              <a:rPr lang="en-US" sz="1150" dirty="0">
                <a:solidFill>
                  <a:srgbClr val="DCE7F2"/>
                </a:solidFill>
                <a:latin typeface="Consolas" pitchFamily="34" charset="0"/>
                <a:ea typeface="Consolas" pitchFamily="34" charset="-122"/>
                <a:cs typeface="Consolas" pitchFamily="34" charset="-120"/>
              </a:rPr>
              <a:t> healthScore;</a:t>
            </a:r>
            <a:endParaRPr lang="en-US" sz="1150" dirty="0"/>
          </a:p>
          <a:p>
            <a:pPr marL="0" indent="0" algn="l">
              <a:lnSpc>
                <a:spcPct val="100000"/>
              </a:lnSpc>
              <a:buNone/>
            </a:pPr>
            <a:r>
              <a:rPr lang="en-US" sz="1150" dirty="0">
                <a:solidFill>
                  <a:srgbClr val="DCE7F2"/>
                </a:solidFill>
                <a:latin typeface="Consolas" pitchFamily="34" charset="0"/>
                <a:ea typeface="Consolas" pitchFamily="34" charset="-122"/>
                <a:cs typeface="Consolas" pitchFamily="34" charset="-120"/>
              </a:rPr>
              <a:t>    }</a:t>
            </a:r>
            <a:endParaRPr lang="en-US" sz="1150" dirty="0"/>
          </a:p>
          <a:p>
            <a:pPr marL="0" indent="0" algn="l">
              <a:lnSpc>
                <a:spcPct val="100000"/>
              </a:lnSpc>
              <a:buNone/>
            </a:pPr>
            <a:r>
              <a:rPr lang="en-US" sz="1150" dirty="0">
                <a:solidFill>
                  <a:srgbClr val="DCE7F2"/>
                </a:solidFill>
                <a:latin typeface="Consolas" pitchFamily="34" charset="0"/>
                <a:ea typeface="Consolas" pitchFamily="34" charset="-122"/>
                <a:cs typeface="Consolas" pitchFamily="34" charset="-120"/>
              </a:rPr>
              <a: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9F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FFFFFF"/>
          </a:solidFill>
          <a:ln/>
        </p:spPr>
        <p:txBody>
          <a:bodyPr/>
          <a:lstStyle/>
          <a:p>
            <a:endParaRPr lang="LID4096"/>
          </a:p>
        </p:txBody>
      </p:sp>
      <p:sp>
        <p:nvSpPr>
          <p:cNvPr id="3" name="Shape 1"/>
          <p:cNvSpPr/>
          <p:nvPr/>
        </p:nvSpPr>
        <p:spPr>
          <a:xfrm>
            <a:off x="0" y="0"/>
            <a:ext cx="201168" cy="1371600"/>
          </a:xfrm>
          <a:prstGeom prst="rect">
            <a:avLst/>
          </a:prstGeom>
          <a:solidFill>
            <a:srgbClr val="0FB5D6"/>
          </a:solidFill>
          <a:ln/>
        </p:spPr>
        <p:txBody>
          <a:bodyPr/>
          <a:lstStyle/>
          <a:p>
            <a:endParaRPr lang="LID4096"/>
          </a:p>
        </p:txBody>
      </p:sp>
      <p:sp>
        <p:nvSpPr>
          <p:cNvPr id="4" name="Text 2"/>
          <p:cNvSpPr/>
          <p:nvPr/>
        </p:nvSpPr>
        <p:spPr>
          <a:xfrm>
            <a:off x="640080" y="310896"/>
            <a:ext cx="10058400" cy="292608"/>
          </a:xfrm>
          <a:prstGeom prst="rect">
            <a:avLst/>
          </a:prstGeom>
          <a:noFill/>
          <a:ln/>
        </p:spPr>
        <p:txBody>
          <a:bodyPr wrap="square" lIns="0" tIns="0" rIns="0" bIns="0" rtlCol="0" anchor="ctr"/>
          <a:lstStyle/>
          <a:p>
            <a:pPr marL="0" indent="0">
              <a:buNone/>
            </a:pPr>
            <a:r>
              <a:rPr lang="en-US" sz="1200" b="1" kern="0" spc="300" dirty="0">
                <a:solidFill>
                  <a:srgbClr val="1565C0"/>
                </a:solidFill>
                <a:latin typeface="Trebuchet MS" pitchFamily="34" charset="0"/>
                <a:ea typeface="Trebuchet MS" pitchFamily="34" charset="-122"/>
                <a:cs typeface="Trebuchet MS" pitchFamily="34" charset="-120"/>
              </a:rPr>
              <a:t>C++ IMPLEMENTATION · 2 OF 3</a:t>
            </a:r>
            <a:endParaRPr lang="en-US" sz="1200" dirty="0"/>
          </a:p>
        </p:txBody>
      </p:sp>
      <p:sp>
        <p:nvSpPr>
          <p:cNvPr id="5" name="Text 3"/>
          <p:cNvSpPr/>
          <p:nvPr/>
        </p:nvSpPr>
        <p:spPr>
          <a:xfrm>
            <a:off x="640080" y="566928"/>
            <a:ext cx="10972800" cy="640080"/>
          </a:xfrm>
          <a:prstGeom prst="rect">
            <a:avLst/>
          </a:prstGeom>
          <a:noFill/>
          <a:ln/>
        </p:spPr>
        <p:txBody>
          <a:bodyPr wrap="square" lIns="0" tIns="0" rIns="0" bIns="0" rtlCol="0" anchor="ctr"/>
          <a:lstStyle/>
          <a:p>
            <a:pPr marL="0" indent="0">
              <a:buNone/>
            </a:pPr>
            <a:r>
              <a:rPr lang="en-US" sz="2800" b="1" dirty="0">
                <a:solidFill>
                  <a:srgbClr val="0E2A47"/>
                </a:solidFill>
                <a:latin typeface="Trebuchet MS" pitchFamily="34" charset="0"/>
                <a:ea typeface="Trebuchet MS" pitchFamily="34" charset="-122"/>
                <a:cs typeface="Trebuchet MS" pitchFamily="34" charset="-120"/>
              </a:rPr>
              <a:t>Predictive maintenance &amp; scheduling</a:t>
            </a:r>
            <a:endParaRPr lang="en-US" sz="2800" dirty="0"/>
          </a:p>
        </p:txBody>
      </p:sp>
      <p:sp>
        <p:nvSpPr>
          <p:cNvPr id="6" name="Text 4"/>
          <p:cNvSpPr/>
          <p:nvPr/>
        </p:nvSpPr>
        <p:spPr>
          <a:xfrm>
            <a:off x="640080" y="1417320"/>
            <a:ext cx="10881360" cy="411480"/>
          </a:xfrm>
          <a:prstGeom prst="rect">
            <a:avLst/>
          </a:prstGeom>
          <a:noFill/>
          <a:ln/>
        </p:spPr>
        <p:txBody>
          <a:bodyPr wrap="square" lIns="0" tIns="0" rIns="0" bIns="0" rtlCol="0" anchor="ctr"/>
          <a:lstStyle/>
          <a:p>
            <a:pPr marL="0" indent="0">
              <a:buNone/>
            </a:pPr>
            <a:r>
              <a:rPr lang="en-US" sz="1400" dirty="0">
                <a:solidFill>
                  <a:srgbClr val="5C6B7C"/>
                </a:solidFill>
                <a:latin typeface="Calibri" pitchFamily="34" charset="0"/>
                <a:ea typeface="Calibri" pitchFamily="34" charset="-122"/>
                <a:cs typeface="Calibri" pitchFamily="34" charset="-120"/>
              </a:rPr>
              <a:t>The maintenance manager flags failing machines, and the scheduler routes each job to the healthiest one available.</a:t>
            </a:r>
            <a:endParaRPr lang="en-US" sz="1400" dirty="0"/>
          </a:p>
        </p:txBody>
      </p:sp>
      <p:sp>
        <p:nvSpPr>
          <p:cNvPr id="7" name="Shape 5"/>
          <p:cNvSpPr/>
          <p:nvPr/>
        </p:nvSpPr>
        <p:spPr>
          <a:xfrm>
            <a:off x="640080" y="1901952"/>
            <a:ext cx="10908792" cy="4498848"/>
          </a:xfrm>
          <a:prstGeom prst="rect">
            <a:avLst/>
          </a:prstGeom>
          <a:solidFill>
            <a:srgbClr val="0C1B2E"/>
          </a:solidFill>
          <a:ln/>
          <a:effectLst>
            <a:outerShdw blurRad="114300" dist="38100" dir="5400000" algn="bl" rotWithShape="0">
              <a:srgbClr val="0E2A47">
                <a:alpha val="16000"/>
              </a:srgbClr>
            </a:outerShdw>
          </a:effectLst>
        </p:spPr>
        <p:txBody>
          <a:bodyPr/>
          <a:lstStyle/>
          <a:p>
            <a:endParaRPr lang="LID4096"/>
          </a:p>
        </p:txBody>
      </p:sp>
      <p:sp>
        <p:nvSpPr>
          <p:cNvPr id="8" name="Shape 6"/>
          <p:cNvSpPr/>
          <p:nvPr/>
        </p:nvSpPr>
        <p:spPr>
          <a:xfrm>
            <a:off x="640080" y="1901952"/>
            <a:ext cx="10908792" cy="310896"/>
          </a:xfrm>
          <a:prstGeom prst="rect">
            <a:avLst/>
          </a:prstGeom>
          <a:solidFill>
            <a:srgbClr val="12325A"/>
          </a:solidFill>
          <a:ln/>
        </p:spPr>
        <p:txBody>
          <a:bodyPr/>
          <a:lstStyle/>
          <a:p>
            <a:endParaRPr lang="LID4096"/>
          </a:p>
        </p:txBody>
      </p:sp>
      <p:sp>
        <p:nvSpPr>
          <p:cNvPr id="9" name="Shape 7"/>
          <p:cNvSpPr/>
          <p:nvPr/>
        </p:nvSpPr>
        <p:spPr>
          <a:xfrm>
            <a:off x="804672" y="2002536"/>
            <a:ext cx="109728" cy="109728"/>
          </a:xfrm>
          <a:prstGeom prst="ellipse">
            <a:avLst/>
          </a:prstGeom>
          <a:solidFill>
            <a:srgbClr val="FF5F56"/>
          </a:solidFill>
          <a:ln/>
        </p:spPr>
        <p:txBody>
          <a:bodyPr/>
          <a:lstStyle/>
          <a:p>
            <a:endParaRPr lang="LID4096"/>
          </a:p>
        </p:txBody>
      </p:sp>
      <p:sp>
        <p:nvSpPr>
          <p:cNvPr id="10" name="Shape 8"/>
          <p:cNvSpPr/>
          <p:nvPr/>
        </p:nvSpPr>
        <p:spPr>
          <a:xfrm>
            <a:off x="1005840" y="2002536"/>
            <a:ext cx="109728" cy="109728"/>
          </a:xfrm>
          <a:prstGeom prst="ellipse">
            <a:avLst/>
          </a:prstGeom>
          <a:solidFill>
            <a:srgbClr val="FFBD2E"/>
          </a:solidFill>
          <a:ln/>
        </p:spPr>
        <p:txBody>
          <a:bodyPr/>
          <a:lstStyle/>
          <a:p>
            <a:endParaRPr lang="LID4096"/>
          </a:p>
        </p:txBody>
      </p:sp>
      <p:sp>
        <p:nvSpPr>
          <p:cNvPr id="11" name="Shape 9"/>
          <p:cNvSpPr/>
          <p:nvPr/>
        </p:nvSpPr>
        <p:spPr>
          <a:xfrm>
            <a:off x="1207008" y="2002536"/>
            <a:ext cx="109728" cy="109728"/>
          </a:xfrm>
          <a:prstGeom prst="ellipse">
            <a:avLst/>
          </a:prstGeom>
          <a:solidFill>
            <a:srgbClr val="27C93F"/>
          </a:solidFill>
          <a:ln/>
        </p:spPr>
        <p:txBody>
          <a:bodyPr/>
          <a:lstStyle/>
          <a:p>
            <a:endParaRPr lang="LID4096"/>
          </a:p>
        </p:txBody>
      </p:sp>
      <p:sp>
        <p:nvSpPr>
          <p:cNvPr id="12" name="Text 10"/>
          <p:cNvSpPr/>
          <p:nvPr/>
        </p:nvSpPr>
        <p:spPr>
          <a:xfrm>
            <a:off x="932688" y="2322576"/>
            <a:ext cx="10360152" cy="3950208"/>
          </a:xfrm>
          <a:prstGeom prst="rect">
            <a:avLst/>
          </a:prstGeom>
          <a:noFill/>
          <a:ln/>
        </p:spPr>
        <p:txBody>
          <a:bodyPr wrap="square" lIns="0" tIns="0" rIns="0" bIns="0" rtlCol="0" anchor="t"/>
          <a:lstStyle/>
          <a:p>
            <a:pPr marL="0" indent="0" algn="l">
              <a:lnSpc>
                <a:spcPct val="100000"/>
              </a:lnSpc>
              <a:buNone/>
            </a:pPr>
            <a:r>
              <a:rPr lang="en-US" sz="1100" dirty="0">
                <a:solidFill>
                  <a:srgbClr val="6FB7FF"/>
                </a:solidFill>
                <a:latin typeface="Consolas" pitchFamily="34" charset="0"/>
                <a:ea typeface="Consolas" pitchFamily="34" charset="-122"/>
                <a:cs typeface="Consolas" pitchFamily="34" charset="-120"/>
              </a:rPr>
              <a:t>class </a:t>
            </a:r>
            <a:r>
              <a:rPr lang="en-US" sz="1100" dirty="0">
                <a:solidFill>
                  <a:srgbClr val="57D9C9"/>
                </a:solidFill>
                <a:latin typeface="Consolas" pitchFamily="34" charset="0"/>
                <a:ea typeface="Consolas" pitchFamily="34" charset="-122"/>
                <a:cs typeface="Consolas" pitchFamily="34" charset="-120"/>
              </a:rPr>
              <a:t>MaintenanceManager</a:t>
            </a:r>
            <a:r>
              <a:rPr lang="en-US" sz="1100" dirty="0">
                <a:solidFill>
                  <a:srgbClr val="DCE7F2"/>
                </a:solidFill>
                <a:latin typeface="Consolas" pitchFamily="34" charset="0"/>
                <a:ea typeface="Consolas" pitchFamily="34" charset="-122"/>
                <a:cs typeface="Consolas" pitchFamily="34" charset="-120"/>
              </a:rPr>
              <a:t> {</a:t>
            </a:r>
            <a:endParaRPr lang="en-US" sz="1100" dirty="0"/>
          </a:p>
          <a:p>
            <a:pPr marL="0" indent="0" algn="l">
              <a:lnSpc>
                <a:spcPct val="100000"/>
              </a:lnSpc>
              <a:buNone/>
            </a:pPr>
            <a:r>
              <a:rPr lang="en-US" sz="1100" dirty="0">
                <a:solidFill>
                  <a:srgbClr val="6FB7FF"/>
                </a:solidFill>
                <a:latin typeface="Consolas" pitchFamily="34" charset="0"/>
                <a:ea typeface="Consolas" pitchFamily="34" charset="-122"/>
                <a:cs typeface="Consolas" pitchFamily="34" charset="-120"/>
              </a:rPr>
              <a:t>public:</a:t>
            </a:r>
            <a:endParaRPr lang="en-US" sz="1100" dirty="0"/>
          </a:p>
          <a:p>
            <a:pPr marL="0" indent="0" algn="l">
              <a:lnSpc>
                <a:spcPct val="100000"/>
              </a:lnSpc>
              <a:buNone/>
            </a:pPr>
            <a:r>
              <a:rPr lang="en-US" sz="1100" dirty="0">
                <a:solidFill>
                  <a:srgbClr val="6FB7FF"/>
                </a:solidFill>
                <a:latin typeface="Consolas" pitchFamily="34" charset="0"/>
                <a:ea typeface="Consolas" pitchFamily="34" charset="-122"/>
                <a:cs typeface="Consolas" pitchFamily="34" charset="-120"/>
              </a:rPr>
              <a:t>    bool </a:t>
            </a:r>
            <a:r>
              <a:rPr lang="en-US" sz="1100" dirty="0">
                <a:solidFill>
                  <a:srgbClr val="FFD479"/>
                </a:solidFill>
                <a:latin typeface="Consolas" pitchFamily="34" charset="0"/>
                <a:ea typeface="Consolas" pitchFamily="34" charset="-122"/>
                <a:cs typeface="Consolas" pitchFamily="34" charset="-120"/>
              </a:rPr>
              <a:t>predictFailure</a:t>
            </a:r>
            <a:r>
              <a:rPr lang="en-US" sz="1100" dirty="0">
                <a:solidFill>
                  <a:srgbClr val="6FB7FF"/>
                </a:solidFill>
                <a:latin typeface="Consolas" pitchFamily="34" charset="0"/>
                <a:ea typeface="Consolas" pitchFamily="34" charset="-122"/>
                <a:cs typeface="Consolas" pitchFamily="34" charset="-120"/>
              </a:rPr>
              <a:t>(const </a:t>
            </a:r>
            <a:r>
              <a:rPr lang="en-US" sz="1100" dirty="0">
                <a:solidFill>
                  <a:srgbClr val="57D9C9"/>
                </a:solidFill>
                <a:latin typeface="Consolas" pitchFamily="34" charset="0"/>
                <a:ea typeface="Consolas" pitchFamily="34" charset="-122"/>
                <a:cs typeface="Consolas" pitchFamily="34" charset="-120"/>
              </a:rPr>
              <a:t>Machine</a:t>
            </a:r>
            <a:r>
              <a:rPr lang="en-US" sz="1100" dirty="0">
                <a:solidFill>
                  <a:srgbClr val="DCE7F2"/>
                </a:solidFill>
                <a:latin typeface="Consolas" pitchFamily="34" charset="0"/>
                <a:ea typeface="Consolas" pitchFamily="34" charset="-122"/>
                <a:cs typeface="Consolas" pitchFamily="34" charset="-120"/>
              </a:rPr>
              <a:t>&amp; m) {</a:t>
            </a:r>
            <a:endParaRPr lang="en-US" sz="1100" dirty="0"/>
          </a:p>
          <a:p>
            <a:pPr marL="0" indent="0" algn="l">
              <a:lnSpc>
                <a:spcPct val="100000"/>
              </a:lnSpc>
              <a:buNone/>
            </a:pPr>
            <a:r>
              <a:rPr lang="en-US" sz="1100" dirty="0">
                <a:solidFill>
                  <a:srgbClr val="6FB7FF"/>
                </a:solidFill>
                <a:latin typeface="Consolas" pitchFamily="34" charset="0"/>
                <a:ea typeface="Consolas" pitchFamily="34" charset="-122"/>
                <a:cs typeface="Consolas" pitchFamily="34" charset="-120"/>
              </a:rPr>
              <a:t>        return</a:t>
            </a:r>
            <a:r>
              <a:rPr lang="en-US" sz="1100" dirty="0">
                <a:solidFill>
                  <a:srgbClr val="DCE7F2"/>
                </a:solidFill>
                <a:latin typeface="Consolas" pitchFamily="34" charset="0"/>
                <a:ea typeface="Consolas" pitchFamily="34" charset="-122"/>
                <a:cs typeface="Consolas" pitchFamily="34" charset="-120"/>
              </a:rPr>
              <a:t> m.healthScore &lt; </a:t>
            </a:r>
            <a:r>
              <a:rPr lang="en-US" sz="1100" dirty="0">
                <a:solidFill>
                  <a:srgbClr val="F3A26B"/>
                </a:solidFill>
                <a:latin typeface="Consolas" pitchFamily="34" charset="0"/>
                <a:ea typeface="Consolas" pitchFamily="34" charset="-122"/>
                <a:cs typeface="Consolas" pitchFamily="34" charset="-120"/>
              </a:rPr>
              <a:t>40.0</a:t>
            </a:r>
            <a:r>
              <a:rPr lang="en-US" sz="1100" dirty="0">
                <a:solidFill>
                  <a:srgbClr val="DCE7F2"/>
                </a:solidFill>
                <a:latin typeface="Consolas" pitchFamily="34" charset="0"/>
                <a:ea typeface="Consolas" pitchFamily="34" charset="-122"/>
                <a:cs typeface="Consolas" pitchFamily="34" charset="-120"/>
              </a:rPr>
              <a:t>;</a:t>
            </a:r>
            <a:r>
              <a:rPr lang="en-US" sz="1100" dirty="0">
                <a:solidFill>
                  <a:srgbClr val="6B829A"/>
                </a:solidFill>
                <a:latin typeface="Consolas" pitchFamily="34" charset="0"/>
                <a:ea typeface="Consolas" pitchFamily="34" charset="-122"/>
                <a:cs typeface="Consolas" pitchFamily="34" charset="-120"/>
              </a:rPr>
              <a:t>   // critical threshold</a:t>
            </a:r>
            <a:endParaRPr lang="en-US" sz="1100" dirty="0"/>
          </a:p>
          <a:p>
            <a:pPr marL="0" indent="0" algn="l">
              <a:lnSpc>
                <a:spcPct val="100000"/>
              </a:lnSpc>
              <a:buNone/>
            </a:pPr>
            <a:r>
              <a:rPr lang="en-US" sz="1100" dirty="0">
                <a:solidFill>
                  <a:srgbClr val="DCE7F2"/>
                </a:solidFill>
                <a:latin typeface="Consolas" pitchFamily="34" charset="0"/>
                <a:ea typeface="Consolas" pitchFamily="34" charset="-122"/>
                <a:cs typeface="Consolas" pitchFamily="34" charset="-120"/>
              </a:rPr>
              <a:t>    }</a:t>
            </a:r>
            <a:endParaRPr lang="en-US" sz="1100" dirty="0"/>
          </a:p>
          <a:p>
            <a:pPr marL="0" indent="0" algn="l">
              <a:lnSpc>
                <a:spcPct val="100000"/>
              </a:lnSpc>
              <a:buNone/>
            </a:pPr>
            <a:r>
              <a:rPr lang="en-US" sz="1100" dirty="0">
                <a:solidFill>
                  <a:srgbClr val="6FB7FF"/>
                </a:solidFill>
                <a:latin typeface="Consolas" pitchFamily="34" charset="0"/>
                <a:ea typeface="Consolas" pitchFamily="34" charset="-122"/>
                <a:cs typeface="Consolas" pitchFamily="34" charset="-120"/>
              </a:rPr>
              <a:t>    void </a:t>
            </a:r>
            <a:r>
              <a:rPr lang="en-US" sz="1100" dirty="0">
                <a:solidFill>
                  <a:srgbClr val="FFD479"/>
                </a:solidFill>
                <a:latin typeface="Consolas" pitchFamily="34" charset="0"/>
                <a:ea typeface="Consolas" pitchFamily="34" charset="-122"/>
                <a:cs typeface="Consolas" pitchFamily="34" charset="-120"/>
              </a:rPr>
              <a:t>generateAlert</a:t>
            </a:r>
            <a:r>
              <a:rPr lang="en-US" sz="1100" dirty="0">
                <a:solidFill>
                  <a:srgbClr val="6FB7FF"/>
                </a:solidFill>
                <a:latin typeface="Consolas" pitchFamily="34" charset="0"/>
                <a:ea typeface="Consolas" pitchFamily="34" charset="-122"/>
                <a:cs typeface="Consolas" pitchFamily="34" charset="-120"/>
              </a:rPr>
              <a:t>(const </a:t>
            </a:r>
            <a:r>
              <a:rPr lang="en-US" sz="1100" dirty="0">
                <a:solidFill>
                  <a:srgbClr val="57D9C9"/>
                </a:solidFill>
                <a:latin typeface="Consolas" pitchFamily="34" charset="0"/>
                <a:ea typeface="Consolas" pitchFamily="34" charset="-122"/>
                <a:cs typeface="Consolas" pitchFamily="34" charset="-120"/>
              </a:rPr>
              <a:t>Machine</a:t>
            </a:r>
            <a:r>
              <a:rPr lang="en-US" sz="1100" dirty="0">
                <a:solidFill>
                  <a:srgbClr val="DCE7F2"/>
                </a:solidFill>
                <a:latin typeface="Consolas" pitchFamily="34" charset="0"/>
                <a:ea typeface="Consolas" pitchFamily="34" charset="-122"/>
                <a:cs typeface="Consolas" pitchFamily="34" charset="-120"/>
              </a:rPr>
              <a:t>&amp; m) {</a:t>
            </a:r>
            <a:endParaRPr lang="en-US" sz="1100" dirty="0"/>
          </a:p>
          <a:p>
            <a:pPr marL="0" indent="0" algn="l">
              <a:lnSpc>
                <a:spcPct val="100000"/>
              </a:lnSpc>
              <a:buNone/>
            </a:pPr>
            <a:r>
              <a:rPr lang="en-US" sz="1100" dirty="0">
                <a:solidFill>
                  <a:srgbClr val="6FB7FF"/>
                </a:solidFill>
                <a:latin typeface="Consolas" pitchFamily="34" charset="0"/>
                <a:ea typeface="Consolas" pitchFamily="34" charset="-122"/>
                <a:cs typeface="Consolas" pitchFamily="34" charset="-120"/>
              </a:rPr>
              <a:t>        if</a:t>
            </a:r>
            <a:r>
              <a:rPr lang="en-US" sz="1100" dirty="0">
                <a:solidFill>
                  <a:srgbClr val="DCE7F2"/>
                </a:solidFill>
                <a:latin typeface="Consolas" pitchFamily="34" charset="0"/>
                <a:ea typeface="Consolas" pitchFamily="34" charset="-122"/>
                <a:cs typeface="Consolas" pitchFamily="34" charset="-120"/>
              </a:rPr>
              <a:t> (m.healthScore &lt; </a:t>
            </a:r>
            <a:r>
              <a:rPr lang="en-US" sz="1100" dirty="0">
                <a:solidFill>
                  <a:srgbClr val="F3A26B"/>
                </a:solidFill>
                <a:latin typeface="Consolas" pitchFamily="34" charset="0"/>
                <a:ea typeface="Consolas" pitchFamily="34" charset="-122"/>
                <a:cs typeface="Consolas" pitchFamily="34" charset="-120"/>
              </a:rPr>
              <a:t>70.0</a:t>
            </a:r>
            <a:r>
              <a:rPr lang="en-US" sz="1100" dirty="0">
                <a:solidFill>
                  <a:srgbClr val="DCE7F2"/>
                </a:solidFill>
                <a:latin typeface="Consolas" pitchFamily="34" charset="0"/>
                <a:ea typeface="Consolas" pitchFamily="34" charset="-122"/>
                <a:cs typeface="Consolas" pitchFamily="34" charset="-120"/>
              </a:rPr>
              <a:t>)</a:t>
            </a:r>
            <a:endParaRPr lang="en-US" sz="1100" dirty="0"/>
          </a:p>
          <a:p>
            <a:pPr marL="0" indent="0" algn="l">
              <a:lnSpc>
                <a:spcPct val="100000"/>
              </a:lnSpc>
              <a:buNone/>
            </a:pPr>
            <a:r>
              <a:rPr lang="en-US" sz="1100" dirty="0">
                <a:solidFill>
                  <a:srgbClr val="DCE7F2"/>
                </a:solidFill>
                <a:latin typeface="Consolas" pitchFamily="34" charset="0"/>
                <a:ea typeface="Consolas" pitchFamily="34" charset="-122"/>
                <a:cs typeface="Consolas" pitchFamily="34" charset="-120"/>
              </a:rPr>
              <a:t>            cout &lt;&lt; </a:t>
            </a:r>
            <a:r>
              <a:rPr lang="en-US" sz="1100" dirty="0">
                <a:solidFill>
                  <a:srgbClr val="F3A26B"/>
                </a:solidFill>
                <a:latin typeface="Consolas" pitchFamily="34" charset="0"/>
                <a:ea typeface="Consolas" pitchFamily="34" charset="-122"/>
                <a:cs typeface="Consolas" pitchFamily="34" charset="-120"/>
              </a:rPr>
              <a:t>"[ALERT] machine "</a:t>
            </a:r>
            <a:r>
              <a:rPr lang="en-US" sz="1100" dirty="0">
                <a:solidFill>
                  <a:srgbClr val="DCE7F2"/>
                </a:solidFill>
                <a:latin typeface="Consolas" pitchFamily="34" charset="0"/>
                <a:ea typeface="Consolas" pitchFamily="34" charset="-122"/>
                <a:cs typeface="Consolas" pitchFamily="34" charset="-120"/>
              </a:rPr>
              <a:t> &lt;&lt; m.machineID;</a:t>
            </a:r>
            <a:endParaRPr lang="en-US" sz="1100" dirty="0"/>
          </a:p>
          <a:p>
            <a:pPr marL="0" indent="0" algn="l">
              <a:lnSpc>
                <a:spcPct val="100000"/>
              </a:lnSpc>
              <a:buNone/>
            </a:pPr>
            <a:r>
              <a:rPr lang="en-US" sz="1100" dirty="0">
                <a:solidFill>
                  <a:srgbClr val="DCE7F2"/>
                </a:solidFill>
                <a:latin typeface="Consolas" pitchFamily="34" charset="0"/>
                <a:ea typeface="Consolas" pitchFamily="34" charset="-122"/>
                <a:cs typeface="Consolas" pitchFamily="34" charset="-120"/>
              </a:rPr>
              <a:t>    }</a:t>
            </a:r>
            <a:endParaRPr lang="en-US" sz="1100" dirty="0"/>
          </a:p>
          <a:p>
            <a:pPr marL="0" indent="0" algn="l">
              <a:lnSpc>
                <a:spcPct val="100000"/>
              </a:lnSpc>
              <a:buNone/>
            </a:pPr>
            <a:r>
              <a:rPr lang="en-US" sz="1100" dirty="0">
                <a:solidFill>
                  <a:srgbClr val="DCE7F2"/>
                </a:solidFill>
                <a:latin typeface="Consolas" pitchFamily="34" charset="0"/>
                <a:ea typeface="Consolas" pitchFamily="34" charset="-122"/>
                <a:cs typeface="Consolas" pitchFamily="34" charset="-120"/>
              </a:rPr>
              <a:t>};</a:t>
            </a:r>
            <a:endParaRPr lang="en-US" sz="1100" dirty="0"/>
          </a:p>
          <a:p>
            <a:pPr marL="0" indent="0" algn="l">
              <a:lnSpc>
                <a:spcPct val="100000"/>
              </a:lnSpc>
              <a:buNone/>
            </a:pPr>
            <a:r>
              <a:rPr lang="en-US" sz="1100" dirty="0">
                <a:solidFill>
                  <a:srgbClr val="DCE7F2"/>
                </a:solidFill>
                <a:latin typeface="Consolas" pitchFamily="34" charset="0"/>
                <a:ea typeface="Consolas" pitchFamily="34" charset="-122"/>
                <a:cs typeface="Consolas" pitchFamily="34" charset="-120"/>
              </a:rPr>
              <a:t> </a:t>
            </a:r>
            <a:endParaRPr lang="en-US" sz="1100" dirty="0"/>
          </a:p>
          <a:p>
            <a:pPr marL="0" indent="0" algn="l">
              <a:lnSpc>
                <a:spcPct val="100000"/>
              </a:lnSpc>
              <a:buNone/>
            </a:pPr>
            <a:r>
              <a:rPr lang="en-US" sz="1100" dirty="0">
                <a:solidFill>
                  <a:srgbClr val="6FB7FF"/>
                </a:solidFill>
                <a:latin typeface="Consolas" pitchFamily="34" charset="0"/>
                <a:ea typeface="Consolas" pitchFamily="34" charset="-122"/>
                <a:cs typeface="Consolas" pitchFamily="34" charset="-120"/>
              </a:rPr>
              <a:t>class </a:t>
            </a:r>
            <a:r>
              <a:rPr lang="en-US" sz="1100" dirty="0">
                <a:solidFill>
                  <a:srgbClr val="57D9C9"/>
                </a:solidFill>
                <a:latin typeface="Consolas" pitchFamily="34" charset="0"/>
                <a:ea typeface="Consolas" pitchFamily="34" charset="-122"/>
                <a:cs typeface="Consolas" pitchFamily="34" charset="-120"/>
              </a:rPr>
              <a:t>Scheduler</a:t>
            </a:r>
            <a:r>
              <a:rPr lang="en-US" sz="1100" dirty="0">
                <a:solidFill>
                  <a:srgbClr val="DCE7F2"/>
                </a:solidFill>
                <a:latin typeface="Consolas" pitchFamily="34" charset="0"/>
                <a:ea typeface="Consolas" pitchFamily="34" charset="-122"/>
                <a:cs typeface="Consolas" pitchFamily="34" charset="-120"/>
              </a:rPr>
              <a:t> {</a:t>
            </a:r>
            <a:endParaRPr lang="en-US" sz="1100" dirty="0"/>
          </a:p>
          <a:p>
            <a:pPr marL="0" indent="0" algn="l">
              <a:lnSpc>
                <a:spcPct val="100000"/>
              </a:lnSpc>
              <a:buNone/>
            </a:pPr>
            <a:r>
              <a:rPr lang="en-US" sz="1100" dirty="0">
                <a:solidFill>
                  <a:srgbClr val="6FB7FF"/>
                </a:solidFill>
                <a:latin typeface="Consolas" pitchFamily="34" charset="0"/>
                <a:ea typeface="Consolas" pitchFamily="34" charset="-122"/>
                <a:cs typeface="Consolas" pitchFamily="34" charset="-120"/>
              </a:rPr>
              <a:t>public:</a:t>
            </a:r>
            <a:endParaRPr lang="en-US" sz="1100" dirty="0"/>
          </a:p>
          <a:p>
            <a:pPr marL="0" indent="0" algn="l">
              <a:lnSpc>
                <a:spcPct val="100000"/>
              </a:lnSpc>
              <a:buNone/>
            </a:pPr>
            <a:r>
              <a:rPr lang="en-US" sz="1100" dirty="0">
                <a:solidFill>
                  <a:srgbClr val="6B829A"/>
                </a:solidFill>
                <a:latin typeface="Consolas" pitchFamily="34" charset="0"/>
                <a:ea typeface="Consolas" pitchFamily="34" charset="-122"/>
                <a:cs typeface="Consolas" pitchFamily="34" charset="-120"/>
              </a:rPr>
              <a:t>    // assign the job to the healthiest eligible machine</a:t>
            </a:r>
            <a:endParaRPr lang="en-US" sz="1100" dirty="0"/>
          </a:p>
          <a:p>
            <a:pPr marL="0" indent="0" algn="l">
              <a:lnSpc>
                <a:spcPct val="100000"/>
              </a:lnSpc>
              <a:buNone/>
            </a:pPr>
            <a:r>
              <a:rPr lang="en-US" sz="1100" dirty="0">
                <a:solidFill>
                  <a:srgbClr val="57D9C9"/>
                </a:solidFill>
                <a:latin typeface="Consolas" pitchFamily="34" charset="0"/>
                <a:ea typeface="Consolas" pitchFamily="34" charset="-122"/>
                <a:cs typeface="Consolas" pitchFamily="34" charset="-120"/>
              </a:rPr>
              <a:t>    Machine</a:t>
            </a:r>
            <a:r>
              <a:rPr lang="en-US" sz="1100" dirty="0">
                <a:solidFill>
                  <a:srgbClr val="DCE7F2"/>
                </a:solidFill>
                <a:latin typeface="Consolas" pitchFamily="34" charset="0"/>
                <a:ea typeface="Consolas" pitchFamily="34" charset="-122"/>
                <a:cs typeface="Consolas" pitchFamily="34" charset="-120"/>
              </a:rPr>
              <a:t>* </a:t>
            </a:r>
            <a:r>
              <a:rPr lang="en-US" sz="1100" dirty="0">
                <a:solidFill>
                  <a:srgbClr val="FFD479"/>
                </a:solidFill>
                <a:latin typeface="Consolas" pitchFamily="34" charset="0"/>
                <a:ea typeface="Consolas" pitchFamily="34" charset="-122"/>
                <a:cs typeface="Consolas" pitchFamily="34" charset="-120"/>
              </a:rPr>
              <a:t>recommendMachine</a:t>
            </a:r>
            <a:r>
              <a:rPr lang="en-US" sz="1100" dirty="0">
                <a:solidFill>
                  <a:srgbClr val="DCE7F2"/>
                </a:solidFill>
                <a:latin typeface="Consolas" pitchFamily="34" charset="0"/>
                <a:ea typeface="Consolas" pitchFamily="34" charset="-122"/>
                <a:cs typeface="Consolas" pitchFamily="34" charset="-120"/>
              </a:rPr>
              <a:t>(vector&lt;</a:t>
            </a:r>
            <a:r>
              <a:rPr lang="en-US" sz="1100" dirty="0">
                <a:solidFill>
                  <a:srgbClr val="57D9C9"/>
                </a:solidFill>
                <a:latin typeface="Consolas" pitchFamily="34" charset="0"/>
                <a:ea typeface="Consolas" pitchFamily="34" charset="-122"/>
                <a:cs typeface="Consolas" pitchFamily="34" charset="-120"/>
              </a:rPr>
              <a:t>Machine</a:t>
            </a:r>
            <a:r>
              <a:rPr lang="en-US" sz="1100" dirty="0">
                <a:solidFill>
                  <a:srgbClr val="DCE7F2"/>
                </a:solidFill>
                <a:latin typeface="Consolas" pitchFamily="34" charset="0"/>
                <a:ea typeface="Consolas" pitchFamily="34" charset="-122"/>
                <a:cs typeface="Consolas" pitchFamily="34" charset="-120"/>
              </a:rPr>
              <a:t>&gt;&amp; pool) {</a:t>
            </a:r>
            <a:endParaRPr lang="en-US" sz="1100" dirty="0"/>
          </a:p>
          <a:p>
            <a:pPr marL="0" indent="0" algn="l">
              <a:lnSpc>
                <a:spcPct val="100000"/>
              </a:lnSpc>
              <a:buNone/>
            </a:pPr>
            <a:r>
              <a:rPr lang="en-US" sz="1100" dirty="0">
                <a:solidFill>
                  <a:srgbClr val="57D9C9"/>
                </a:solidFill>
                <a:latin typeface="Consolas" pitchFamily="34" charset="0"/>
                <a:ea typeface="Consolas" pitchFamily="34" charset="-122"/>
                <a:cs typeface="Consolas" pitchFamily="34" charset="-120"/>
              </a:rPr>
              <a:t>        Machine</a:t>
            </a:r>
            <a:r>
              <a:rPr lang="en-US" sz="1100" dirty="0">
                <a:solidFill>
                  <a:srgbClr val="DCE7F2"/>
                </a:solidFill>
                <a:latin typeface="Consolas" pitchFamily="34" charset="0"/>
                <a:ea typeface="Consolas" pitchFamily="34" charset="-122"/>
                <a:cs typeface="Consolas" pitchFamily="34" charset="-120"/>
              </a:rPr>
              <a:t>* best = </a:t>
            </a:r>
            <a:r>
              <a:rPr lang="en-US" sz="1100" dirty="0">
                <a:solidFill>
                  <a:srgbClr val="6FB7FF"/>
                </a:solidFill>
                <a:latin typeface="Consolas" pitchFamily="34" charset="0"/>
                <a:ea typeface="Consolas" pitchFamily="34" charset="-122"/>
                <a:cs typeface="Consolas" pitchFamily="34" charset="-120"/>
              </a:rPr>
              <a:t>nullptr</a:t>
            </a:r>
            <a:r>
              <a:rPr lang="en-US" sz="1100" dirty="0">
                <a:solidFill>
                  <a:srgbClr val="DCE7F2"/>
                </a:solidFill>
                <a:latin typeface="Consolas" pitchFamily="34" charset="0"/>
                <a:ea typeface="Consolas" pitchFamily="34" charset="-122"/>
                <a:cs typeface="Consolas" pitchFamily="34" charset="-120"/>
              </a:rPr>
              <a:t>;</a:t>
            </a:r>
            <a:endParaRPr lang="en-US" sz="1100" dirty="0"/>
          </a:p>
          <a:p>
            <a:pPr marL="0" indent="0" algn="l">
              <a:lnSpc>
                <a:spcPct val="100000"/>
              </a:lnSpc>
              <a:buNone/>
            </a:pPr>
            <a:r>
              <a:rPr lang="en-US" sz="1100" dirty="0">
                <a:solidFill>
                  <a:srgbClr val="6FB7FF"/>
                </a:solidFill>
                <a:latin typeface="Consolas" pitchFamily="34" charset="0"/>
                <a:ea typeface="Consolas" pitchFamily="34" charset="-122"/>
                <a:cs typeface="Consolas" pitchFamily="34" charset="-120"/>
              </a:rPr>
              <a:t>        for</a:t>
            </a:r>
            <a:r>
              <a:rPr lang="en-US" sz="1100" dirty="0">
                <a:solidFill>
                  <a:srgbClr val="DCE7F2"/>
                </a:solidFill>
                <a:latin typeface="Consolas" pitchFamily="34" charset="0"/>
                <a:ea typeface="Consolas" pitchFamily="34" charset="-122"/>
                <a:cs typeface="Consolas" pitchFamily="34" charset="-120"/>
              </a:rPr>
              <a:t> (auto&amp; m : pool)</a:t>
            </a:r>
            <a:endParaRPr lang="en-US" sz="1100" dirty="0"/>
          </a:p>
          <a:p>
            <a:pPr marL="0" indent="0" algn="l">
              <a:lnSpc>
                <a:spcPct val="100000"/>
              </a:lnSpc>
              <a:buNone/>
            </a:pPr>
            <a:r>
              <a:rPr lang="en-US" sz="1100" dirty="0">
                <a:solidFill>
                  <a:srgbClr val="6FB7FF"/>
                </a:solidFill>
                <a:latin typeface="Consolas" pitchFamily="34" charset="0"/>
                <a:ea typeface="Consolas" pitchFamily="34" charset="-122"/>
                <a:cs typeface="Consolas" pitchFamily="34" charset="-120"/>
              </a:rPr>
              <a:t>            if</a:t>
            </a:r>
            <a:r>
              <a:rPr lang="en-US" sz="1100" dirty="0">
                <a:solidFill>
                  <a:srgbClr val="DCE7F2"/>
                </a:solidFill>
                <a:latin typeface="Consolas" pitchFamily="34" charset="0"/>
                <a:ea typeface="Consolas" pitchFamily="34" charset="-122"/>
                <a:cs typeface="Consolas" pitchFamily="34" charset="-120"/>
              </a:rPr>
              <a:t> (m.healthScore &gt;= </a:t>
            </a:r>
            <a:r>
              <a:rPr lang="en-US" sz="1100" dirty="0">
                <a:solidFill>
                  <a:srgbClr val="F3A26B"/>
                </a:solidFill>
                <a:latin typeface="Consolas" pitchFamily="34" charset="0"/>
                <a:ea typeface="Consolas" pitchFamily="34" charset="-122"/>
                <a:cs typeface="Consolas" pitchFamily="34" charset="-120"/>
              </a:rPr>
              <a:t>70.0</a:t>
            </a:r>
            <a:r>
              <a:rPr lang="en-US" sz="1100" dirty="0">
                <a:solidFill>
                  <a:srgbClr val="DCE7F2"/>
                </a:solidFill>
                <a:latin typeface="Consolas" pitchFamily="34" charset="0"/>
                <a:ea typeface="Consolas" pitchFamily="34" charset="-122"/>
                <a:cs typeface="Consolas" pitchFamily="34" charset="-120"/>
              </a:rPr>
              <a:t> &amp;&amp;</a:t>
            </a:r>
            <a:endParaRPr lang="en-US" sz="1100" dirty="0"/>
          </a:p>
          <a:p>
            <a:pPr marL="0" indent="0" algn="l">
              <a:lnSpc>
                <a:spcPct val="100000"/>
              </a:lnSpc>
              <a:buNone/>
            </a:pPr>
            <a:r>
              <a:rPr lang="en-US" sz="1100" dirty="0">
                <a:solidFill>
                  <a:srgbClr val="DCE7F2"/>
                </a:solidFill>
                <a:latin typeface="Consolas" pitchFamily="34" charset="0"/>
                <a:ea typeface="Consolas" pitchFamily="34" charset="-122"/>
                <a:cs typeface="Consolas" pitchFamily="34" charset="-120"/>
              </a:rPr>
              <a:t>                (!best || m.healthScore &gt; best-&gt;healthScore))</a:t>
            </a:r>
            <a:endParaRPr lang="en-US" sz="1100" dirty="0"/>
          </a:p>
          <a:p>
            <a:pPr marL="0" indent="0" algn="l">
              <a:lnSpc>
                <a:spcPct val="100000"/>
              </a:lnSpc>
              <a:buNone/>
            </a:pPr>
            <a:r>
              <a:rPr lang="en-US" sz="1100" dirty="0">
                <a:solidFill>
                  <a:srgbClr val="DCE7F2"/>
                </a:solidFill>
                <a:latin typeface="Consolas" pitchFamily="34" charset="0"/>
                <a:ea typeface="Consolas" pitchFamily="34" charset="-122"/>
                <a:cs typeface="Consolas" pitchFamily="34" charset="-120"/>
              </a:rPr>
              <a:t>                best = &amp;m;</a:t>
            </a:r>
            <a:endParaRPr lang="en-US" sz="1100" dirty="0"/>
          </a:p>
          <a:p>
            <a:pPr marL="0" indent="0" algn="l">
              <a:lnSpc>
                <a:spcPct val="100000"/>
              </a:lnSpc>
              <a:buNone/>
            </a:pPr>
            <a:r>
              <a:rPr lang="en-US" sz="1100" dirty="0">
                <a:solidFill>
                  <a:srgbClr val="6FB7FF"/>
                </a:solidFill>
                <a:latin typeface="Consolas" pitchFamily="34" charset="0"/>
                <a:ea typeface="Consolas" pitchFamily="34" charset="-122"/>
                <a:cs typeface="Consolas" pitchFamily="34" charset="-120"/>
              </a:rPr>
              <a:t>        return</a:t>
            </a:r>
            <a:r>
              <a:rPr lang="en-US" sz="1100" dirty="0">
                <a:solidFill>
                  <a:srgbClr val="DCE7F2"/>
                </a:solidFill>
                <a:latin typeface="Consolas" pitchFamily="34" charset="0"/>
                <a:ea typeface="Consolas" pitchFamily="34" charset="-122"/>
                <a:cs typeface="Consolas" pitchFamily="34" charset="-120"/>
              </a:rPr>
              <a:t> best;</a:t>
            </a:r>
            <a:endParaRPr lang="en-US" sz="1100" dirty="0"/>
          </a:p>
          <a:p>
            <a:pPr marL="0" indent="0" algn="l">
              <a:lnSpc>
                <a:spcPct val="100000"/>
              </a:lnSpc>
              <a:buNone/>
            </a:pPr>
            <a:r>
              <a:rPr lang="en-US" sz="1100" dirty="0">
                <a:solidFill>
                  <a:srgbClr val="DCE7F2"/>
                </a:solidFill>
                <a:latin typeface="Consolas" pitchFamily="34" charset="0"/>
                <a:ea typeface="Consolas" pitchFamily="34" charset="-122"/>
                <a:cs typeface="Consolas" pitchFamily="34" charset="-120"/>
              </a:rPr>
              <a:t>    }</a:t>
            </a:r>
            <a:endParaRPr lang="en-US" sz="1100" dirty="0"/>
          </a:p>
          <a:p>
            <a:pPr marL="0" indent="0" algn="l">
              <a:lnSpc>
                <a:spcPct val="100000"/>
              </a:lnSpc>
              <a:buNone/>
            </a:pPr>
            <a:r>
              <a:rPr lang="en-US" sz="1100" dirty="0">
                <a:solidFill>
                  <a:srgbClr val="DCE7F2"/>
                </a:solidFill>
                <a:latin typeface="Consolas" pitchFamily="34" charset="0"/>
                <a:ea typeface="Consolas" pitchFamily="34" charset="-122"/>
                <a:cs typeface="Consolas" pitchFamily="34" charset="-120"/>
              </a:rPr>
              <a: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9F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FFFFFF"/>
          </a:solidFill>
          <a:ln/>
        </p:spPr>
        <p:txBody>
          <a:bodyPr/>
          <a:lstStyle/>
          <a:p>
            <a:endParaRPr lang="LID4096"/>
          </a:p>
        </p:txBody>
      </p:sp>
      <p:sp>
        <p:nvSpPr>
          <p:cNvPr id="3" name="Shape 1"/>
          <p:cNvSpPr/>
          <p:nvPr/>
        </p:nvSpPr>
        <p:spPr>
          <a:xfrm>
            <a:off x="0" y="0"/>
            <a:ext cx="201168" cy="1371600"/>
          </a:xfrm>
          <a:prstGeom prst="rect">
            <a:avLst/>
          </a:prstGeom>
          <a:solidFill>
            <a:srgbClr val="0FB5D6"/>
          </a:solidFill>
          <a:ln/>
        </p:spPr>
        <p:txBody>
          <a:bodyPr/>
          <a:lstStyle/>
          <a:p>
            <a:endParaRPr lang="LID4096"/>
          </a:p>
        </p:txBody>
      </p:sp>
      <p:sp>
        <p:nvSpPr>
          <p:cNvPr id="4" name="Text 2"/>
          <p:cNvSpPr/>
          <p:nvPr/>
        </p:nvSpPr>
        <p:spPr>
          <a:xfrm>
            <a:off x="640080" y="310896"/>
            <a:ext cx="10058400" cy="292608"/>
          </a:xfrm>
          <a:prstGeom prst="rect">
            <a:avLst/>
          </a:prstGeom>
          <a:noFill/>
          <a:ln/>
        </p:spPr>
        <p:txBody>
          <a:bodyPr wrap="square" lIns="0" tIns="0" rIns="0" bIns="0" rtlCol="0" anchor="ctr"/>
          <a:lstStyle/>
          <a:p>
            <a:pPr marL="0" indent="0">
              <a:buNone/>
            </a:pPr>
            <a:r>
              <a:rPr lang="en-US" sz="1200" b="1" kern="0" spc="300" dirty="0">
                <a:solidFill>
                  <a:srgbClr val="1565C0"/>
                </a:solidFill>
                <a:latin typeface="Trebuchet MS" pitchFamily="34" charset="0"/>
                <a:ea typeface="Trebuchet MS" pitchFamily="34" charset="-122"/>
                <a:cs typeface="Trebuchet MS" pitchFamily="34" charset="-120"/>
              </a:rPr>
              <a:t>C++ IMPLEMENTATION · 3 OF 3</a:t>
            </a:r>
            <a:endParaRPr lang="en-US" sz="1200" dirty="0"/>
          </a:p>
        </p:txBody>
      </p:sp>
      <p:sp>
        <p:nvSpPr>
          <p:cNvPr id="5" name="Text 3"/>
          <p:cNvSpPr/>
          <p:nvPr/>
        </p:nvSpPr>
        <p:spPr>
          <a:xfrm>
            <a:off x="640080" y="566928"/>
            <a:ext cx="10972800" cy="640080"/>
          </a:xfrm>
          <a:prstGeom prst="rect">
            <a:avLst/>
          </a:prstGeom>
          <a:noFill/>
          <a:ln/>
        </p:spPr>
        <p:txBody>
          <a:bodyPr wrap="square" lIns="0" tIns="0" rIns="0" bIns="0" rtlCol="0" anchor="ctr"/>
          <a:lstStyle/>
          <a:p>
            <a:pPr marL="0" indent="0">
              <a:buNone/>
            </a:pPr>
            <a:r>
              <a:rPr lang="en-US" sz="2800" b="1" dirty="0">
                <a:solidFill>
                  <a:srgbClr val="0E2A47"/>
                </a:solidFill>
                <a:latin typeface="Trebuchet MS" pitchFamily="34" charset="0"/>
                <a:ea typeface="Trebuchet MS" pitchFamily="34" charset="-122"/>
                <a:cs typeface="Trebuchet MS" pitchFamily="34" charset="-120"/>
              </a:rPr>
              <a:t>ESP32 firmware in Wokwi</a:t>
            </a:r>
            <a:endParaRPr lang="en-US" sz="2800" dirty="0"/>
          </a:p>
        </p:txBody>
      </p:sp>
      <p:sp>
        <p:nvSpPr>
          <p:cNvPr id="6" name="Text 4"/>
          <p:cNvSpPr/>
          <p:nvPr/>
        </p:nvSpPr>
        <p:spPr>
          <a:xfrm>
            <a:off x="640080" y="1417320"/>
            <a:ext cx="10881360" cy="411480"/>
          </a:xfrm>
          <a:prstGeom prst="rect">
            <a:avLst/>
          </a:prstGeom>
          <a:noFill/>
          <a:ln/>
        </p:spPr>
        <p:txBody>
          <a:bodyPr wrap="square" lIns="0" tIns="0" rIns="0" bIns="0" rtlCol="0" anchor="ctr"/>
          <a:lstStyle/>
          <a:p>
            <a:pPr marL="0" indent="0">
              <a:buNone/>
            </a:pPr>
            <a:r>
              <a:rPr lang="en-US" sz="1400" dirty="0">
                <a:solidFill>
                  <a:srgbClr val="5C6B7C"/>
                </a:solidFill>
                <a:latin typeface="Calibri" pitchFamily="34" charset="0"/>
                <a:ea typeface="Calibri" pitchFamily="34" charset="-122"/>
                <a:cs typeface="Calibri" pitchFamily="34" charset="-120"/>
              </a:rPr>
              <a:t>On the device, the ESP32 reads the sensors, drives the status outputs, and streams JSON telemetry to the assistant.</a:t>
            </a:r>
            <a:endParaRPr lang="en-US" sz="1400" dirty="0"/>
          </a:p>
        </p:txBody>
      </p:sp>
      <p:sp>
        <p:nvSpPr>
          <p:cNvPr id="7" name="Shape 5"/>
          <p:cNvSpPr/>
          <p:nvPr/>
        </p:nvSpPr>
        <p:spPr>
          <a:xfrm>
            <a:off x="640080" y="1901952"/>
            <a:ext cx="10908792" cy="4498848"/>
          </a:xfrm>
          <a:prstGeom prst="rect">
            <a:avLst/>
          </a:prstGeom>
          <a:solidFill>
            <a:srgbClr val="0C1B2E"/>
          </a:solidFill>
          <a:ln/>
          <a:effectLst>
            <a:outerShdw blurRad="114300" dist="38100" dir="5400000" algn="bl" rotWithShape="0">
              <a:srgbClr val="0E2A47">
                <a:alpha val="16000"/>
              </a:srgbClr>
            </a:outerShdw>
          </a:effectLst>
        </p:spPr>
        <p:txBody>
          <a:bodyPr/>
          <a:lstStyle/>
          <a:p>
            <a:endParaRPr lang="LID4096"/>
          </a:p>
        </p:txBody>
      </p:sp>
      <p:sp>
        <p:nvSpPr>
          <p:cNvPr id="8" name="Shape 6"/>
          <p:cNvSpPr/>
          <p:nvPr/>
        </p:nvSpPr>
        <p:spPr>
          <a:xfrm>
            <a:off x="640080" y="1901952"/>
            <a:ext cx="10908792" cy="310896"/>
          </a:xfrm>
          <a:prstGeom prst="rect">
            <a:avLst/>
          </a:prstGeom>
          <a:solidFill>
            <a:srgbClr val="12325A"/>
          </a:solidFill>
          <a:ln/>
        </p:spPr>
        <p:txBody>
          <a:bodyPr/>
          <a:lstStyle/>
          <a:p>
            <a:endParaRPr lang="LID4096"/>
          </a:p>
        </p:txBody>
      </p:sp>
      <p:sp>
        <p:nvSpPr>
          <p:cNvPr id="9" name="Shape 7"/>
          <p:cNvSpPr/>
          <p:nvPr/>
        </p:nvSpPr>
        <p:spPr>
          <a:xfrm>
            <a:off x="804672" y="2002536"/>
            <a:ext cx="109728" cy="109728"/>
          </a:xfrm>
          <a:prstGeom prst="ellipse">
            <a:avLst/>
          </a:prstGeom>
          <a:solidFill>
            <a:srgbClr val="FF5F56"/>
          </a:solidFill>
          <a:ln/>
        </p:spPr>
        <p:txBody>
          <a:bodyPr/>
          <a:lstStyle/>
          <a:p>
            <a:endParaRPr lang="LID4096"/>
          </a:p>
        </p:txBody>
      </p:sp>
      <p:sp>
        <p:nvSpPr>
          <p:cNvPr id="10" name="Shape 8"/>
          <p:cNvSpPr/>
          <p:nvPr/>
        </p:nvSpPr>
        <p:spPr>
          <a:xfrm>
            <a:off x="1005840" y="2002536"/>
            <a:ext cx="109728" cy="109728"/>
          </a:xfrm>
          <a:prstGeom prst="ellipse">
            <a:avLst/>
          </a:prstGeom>
          <a:solidFill>
            <a:srgbClr val="FFBD2E"/>
          </a:solidFill>
          <a:ln/>
        </p:spPr>
        <p:txBody>
          <a:bodyPr/>
          <a:lstStyle/>
          <a:p>
            <a:endParaRPr lang="LID4096"/>
          </a:p>
        </p:txBody>
      </p:sp>
      <p:sp>
        <p:nvSpPr>
          <p:cNvPr id="11" name="Shape 9"/>
          <p:cNvSpPr/>
          <p:nvPr/>
        </p:nvSpPr>
        <p:spPr>
          <a:xfrm>
            <a:off x="1207008" y="2002536"/>
            <a:ext cx="109728" cy="109728"/>
          </a:xfrm>
          <a:prstGeom prst="ellipse">
            <a:avLst/>
          </a:prstGeom>
          <a:solidFill>
            <a:srgbClr val="27C93F"/>
          </a:solidFill>
          <a:ln/>
        </p:spPr>
        <p:txBody>
          <a:bodyPr/>
          <a:lstStyle/>
          <a:p>
            <a:endParaRPr lang="LID4096"/>
          </a:p>
        </p:txBody>
      </p:sp>
      <p:sp>
        <p:nvSpPr>
          <p:cNvPr id="12" name="Text 10"/>
          <p:cNvSpPr/>
          <p:nvPr/>
        </p:nvSpPr>
        <p:spPr>
          <a:xfrm>
            <a:off x="932688" y="2322576"/>
            <a:ext cx="10360152" cy="3950208"/>
          </a:xfrm>
          <a:prstGeom prst="rect">
            <a:avLst/>
          </a:prstGeom>
          <a:noFill/>
          <a:ln/>
        </p:spPr>
        <p:txBody>
          <a:bodyPr wrap="square" lIns="0" tIns="0" rIns="0" bIns="0" rtlCol="0" anchor="t"/>
          <a:lstStyle/>
          <a:p>
            <a:pPr marL="0" indent="0" algn="l">
              <a:lnSpc>
                <a:spcPct val="100000"/>
              </a:lnSpc>
              <a:buNone/>
            </a:pPr>
            <a:r>
              <a:rPr lang="en-US" sz="1200" dirty="0">
                <a:solidFill>
                  <a:srgbClr val="6B829A"/>
                </a:solidFill>
                <a:latin typeface="Consolas" pitchFamily="34" charset="0"/>
                <a:ea typeface="Consolas" pitchFamily="34" charset="-122"/>
                <a:cs typeface="Consolas" pitchFamily="34" charset="-120"/>
              </a:rPr>
              <a:t>// ESP32 firmware (Wokwi) - read sensors, drive outputs</a:t>
            </a:r>
            <a:endParaRPr lang="en-US" sz="1200" dirty="0"/>
          </a:p>
          <a:p>
            <a:pPr marL="0" indent="0" algn="l">
              <a:lnSpc>
                <a:spcPct val="100000"/>
              </a:lnSpc>
              <a:buNone/>
            </a:pPr>
            <a:r>
              <a:rPr lang="en-US" sz="1200" dirty="0">
                <a:solidFill>
                  <a:srgbClr val="6FB7FF"/>
                </a:solidFill>
                <a:latin typeface="Consolas" pitchFamily="34" charset="0"/>
                <a:ea typeface="Consolas" pitchFamily="34" charset="-122"/>
                <a:cs typeface="Consolas" pitchFamily="34" charset="-120"/>
              </a:rPr>
              <a:t>#include </a:t>
            </a:r>
            <a:r>
              <a:rPr lang="en-US" sz="1200" dirty="0">
                <a:solidFill>
                  <a:srgbClr val="F3A26B"/>
                </a:solidFill>
                <a:latin typeface="Consolas" pitchFamily="34" charset="0"/>
                <a:ea typeface="Consolas" pitchFamily="34" charset="-122"/>
                <a:cs typeface="Consolas" pitchFamily="34" charset="-120"/>
              </a:rPr>
              <a:t>&lt;OneWire.h&gt;</a:t>
            </a:r>
            <a:endParaRPr lang="en-US" sz="1200" dirty="0"/>
          </a:p>
          <a:p>
            <a:pPr marL="0" indent="0" algn="l">
              <a:lnSpc>
                <a:spcPct val="100000"/>
              </a:lnSpc>
              <a:buNone/>
            </a:pPr>
            <a:r>
              <a:rPr lang="en-US" sz="1200" dirty="0">
                <a:solidFill>
                  <a:srgbClr val="6FB7FF"/>
                </a:solidFill>
                <a:latin typeface="Consolas" pitchFamily="34" charset="0"/>
                <a:ea typeface="Consolas" pitchFamily="34" charset="-122"/>
                <a:cs typeface="Consolas" pitchFamily="34" charset="-120"/>
              </a:rPr>
              <a:t>#include </a:t>
            </a:r>
            <a:r>
              <a:rPr lang="en-US" sz="1200" dirty="0">
                <a:solidFill>
                  <a:srgbClr val="F3A26B"/>
                </a:solidFill>
                <a:latin typeface="Consolas" pitchFamily="34" charset="0"/>
                <a:ea typeface="Consolas" pitchFamily="34" charset="-122"/>
                <a:cs typeface="Consolas" pitchFamily="34" charset="-120"/>
              </a:rPr>
              <a:t>&lt;DallasTemperature.h&gt;</a:t>
            </a:r>
            <a:endParaRPr lang="en-US" sz="1200" dirty="0"/>
          </a:p>
          <a:p>
            <a:pPr marL="0" indent="0" algn="l">
              <a:lnSpc>
                <a:spcPct val="100000"/>
              </a:lnSpc>
              <a:buNone/>
            </a:pPr>
            <a:r>
              <a:rPr lang="en-US" sz="1200" dirty="0">
                <a:solidFill>
                  <a:srgbClr val="DCE7F2"/>
                </a:solidFill>
                <a:latin typeface="Consolas" pitchFamily="34" charset="0"/>
                <a:ea typeface="Consolas" pitchFamily="34" charset="-122"/>
                <a:cs typeface="Consolas" pitchFamily="34" charset="-120"/>
              </a:rPr>
              <a:t> </a:t>
            </a:r>
            <a:endParaRPr lang="en-US" sz="1200" dirty="0"/>
          </a:p>
          <a:p>
            <a:pPr marL="0" indent="0" algn="l">
              <a:lnSpc>
                <a:spcPct val="100000"/>
              </a:lnSpc>
              <a:buNone/>
            </a:pPr>
            <a:r>
              <a:rPr lang="en-US" sz="1200" dirty="0">
                <a:solidFill>
                  <a:srgbClr val="57D9C9"/>
                </a:solidFill>
                <a:latin typeface="Consolas" pitchFamily="34" charset="0"/>
                <a:ea typeface="Consolas" pitchFamily="34" charset="-122"/>
                <a:cs typeface="Consolas" pitchFamily="34" charset="-120"/>
              </a:rPr>
              <a:t>OneWire</a:t>
            </a:r>
            <a:r>
              <a:rPr lang="en-US" sz="1200" dirty="0">
                <a:solidFill>
                  <a:srgbClr val="DCE7F2"/>
                </a:solidFill>
                <a:latin typeface="Consolas" pitchFamily="34" charset="0"/>
                <a:ea typeface="Consolas" pitchFamily="34" charset="-122"/>
                <a:cs typeface="Consolas" pitchFamily="34" charset="-120"/>
              </a:rPr>
              <a:t> oneWire(</a:t>
            </a:r>
            <a:r>
              <a:rPr lang="en-US" sz="1200" dirty="0">
                <a:solidFill>
                  <a:srgbClr val="F3A26B"/>
                </a:solidFill>
                <a:latin typeface="Consolas" pitchFamily="34" charset="0"/>
                <a:ea typeface="Consolas" pitchFamily="34" charset="-122"/>
                <a:cs typeface="Consolas" pitchFamily="34" charset="-120"/>
              </a:rPr>
              <a:t>4</a:t>
            </a:r>
            <a:r>
              <a:rPr lang="en-US" sz="1200" dirty="0">
                <a:solidFill>
                  <a:srgbClr val="DCE7F2"/>
                </a:solidFill>
                <a:latin typeface="Consolas" pitchFamily="34" charset="0"/>
                <a:ea typeface="Consolas" pitchFamily="34" charset="-122"/>
                <a:cs typeface="Consolas" pitchFamily="34" charset="-120"/>
              </a:rPr>
              <a:t>);</a:t>
            </a:r>
            <a:endParaRPr lang="en-US" sz="1200" dirty="0"/>
          </a:p>
          <a:p>
            <a:pPr marL="0" indent="0" algn="l">
              <a:lnSpc>
                <a:spcPct val="100000"/>
              </a:lnSpc>
              <a:buNone/>
            </a:pPr>
            <a:r>
              <a:rPr lang="en-US" sz="1200" dirty="0">
                <a:solidFill>
                  <a:srgbClr val="57D9C9"/>
                </a:solidFill>
                <a:latin typeface="Consolas" pitchFamily="34" charset="0"/>
                <a:ea typeface="Consolas" pitchFamily="34" charset="-122"/>
                <a:cs typeface="Consolas" pitchFamily="34" charset="-120"/>
              </a:rPr>
              <a:t>DallasTemperature</a:t>
            </a:r>
            <a:r>
              <a:rPr lang="en-US" sz="1200" dirty="0">
                <a:solidFill>
                  <a:srgbClr val="DCE7F2"/>
                </a:solidFill>
                <a:latin typeface="Consolas" pitchFamily="34" charset="0"/>
                <a:ea typeface="Consolas" pitchFamily="34" charset="-122"/>
                <a:cs typeface="Consolas" pitchFamily="34" charset="-120"/>
              </a:rPr>
              <a:t> ds18b20(&amp;oneWire);</a:t>
            </a:r>
            <a:endParaRPr lang="en-US" sz="1200" dirty="0"/>
          </a:p>
          <a:p>
            <a:pPr marL="0" indent="0" algn="l">
              <a:lnSpc>
                <a:spcPct val="100000"/>
              </a:lnSpc>
              <a:buNone/>
            </a:pPr>
            <a:r>
              <a:rPr lang="en-US" sz="1200" dirty="0">
                <a:solidFill>
                  <a:srgbClr val="DCE7F2"/>
                </a:solidFill>
                <a:latin typeface="Consolas" pitchFamily="34" charset="0"/>
                <a:ea typeface="Consolas" pitchFamily="34" charset="-122"/>
                <a:cs typeface="Consolas" pitchFamily="34" charset="-120"/>
              </a:rPr>
              <a:t> </a:t>
            </a:r>
            <a:endParaRPr lang="en-US" sz="1200" dirty="0"/>
          </a:p>
          <a:p>
            <a:pPr marL="0" indent="0" algn="l">
              <a:lnSpc>
                <a:spcPct val="100000"/>
              </a:lnSpc>
              <a:buNone/>
            </a:pPr>
            <a:r>
              <a:rPr lang="en-US" sz="1200" dirty="0">
                <a:solidFill>
                  <a:srgbClr val="6FB7FF"/>
                </a:solidFill>
                <a:latin typeface="Consolas" pitchFamily="34" charset="0"/>
                <a:ea typeface="Consolas" pitchFamily="34" charset="-122"/>
                <a:cs typeface="Consolas" pitchFamily="34" charset="-120"/>
              </a:rPr>
              <a:t>void </a:t>
            </a:r>
            <a:r>
              <a:rPr lang="en-US" sz="1200" dirty="0">
                <a:solidFill>
                  <a:srgbClr val="FFD479"/>
                </a:solidFill>
                <a:latin typeface="Consolas" pitchFamily="34" charset="0"/>
                <a:ea typeface="Consolas" pitchFamily="34" charset="-122"/>
                <a:cs typeface="Consolas" pitchFamily="34" charset="-120"/>
              </a:rPr>
              <a:t>loop</a:t>
            </a:r>
            <a:r>
              <a:rPr lang="en-US" sz="1200" dirty="0">
                <a:solidFill>
                  <a:srgbClr val="DCE7F2"/>
                </a:solidFill>
                <a:latin typeface="Consolas" pitchFamily="34" charset="0"/>
                <a:ea typeface="Consolas" pitchFamily="34" charset="-122"/>
                <a:cs typeface="Consolas" pitchFamily="34" charset="-120"/>
              </a:rPr>
              <a:t>() {</a:t>
            </a:r>
            <a:endParaRPr lang="en-US" sz="1200" dirty="0"/>
          </a:p>
          <a:p>
            <a:pPr marL="0" indent="0" algn="l">
              <a:lnSpc>
                <a:spcPct val="100000"/>
              </a:lnSpc>
              <a:buNone/>
            </a:pPr>
            <a:r>
              <a:rPr lang="en-US" sz="1200" dirty="0">
                <a:solidFill>
                  <a:srgbClr val="DCE7F2"/>
                </a:solidFill>
                <a:latin typeface="Consolas" pitchFamily="34" charset="0"/>
                <a:ea typeface="Consolas" pitchFamily="34" charset="-122"/>
                <a:cs typeface="Consolas" pitchFamily="34" charset="-120"/>
              </a:rPr>
              <a:t>    ds18b20.</a:t>
            </a:r>
            <a:r>
              <a:rPr lang="en-US" sz="1200" dirty="0">
                <a:solidFill>
                  <a:srgbClr val="FFD479"/>
                </a:solidFill>
                <a:latin typeface="Consolas" pitchFamily="34" charset="0"/>
                <a:ea typeface="Consolas" pitchFamily="34" charset="-122"/>
                <a:cs typeface="Consolas" pitchFamily="34" charset="-120"/>
              </a:rPr>
              <a:t>requestTemperatures</a:t>
            </a:r>
            <a:r>
              <a:rPr lang="en-US" sz="1200" dirty="0">
                <a:solidFill>
                  <a:srgbClr val="DCE7F2"/>
                </a:solidFill>
                <a:latin typeface="Consolas" pitchFamily="34" charset="0"/>
                <a:ea typeface="Consolas" pitchFamily="34" charset="-122"/>
                <a:cs typeface="Consolas" pitchFamily="34" charset="-120"/>
              </a:rPr>
              <a:t>();</a:t>
            </a:r>
            <a:endParaRPr lang="en-US" sz="1200" dirty="0"/>
          </a:p>
          <a:p>
            <a:pPr marL="0" indent="0" algn="l">
              <a:lnSpc>
                <a:spcPct val="100000"/>
              </a:lnSpc>
              <a:buNone/>
            </a:pPr>
            <a:r>
              <a:rPr lang="en-US" sz="1200" dirty="0">
                <a:solidFill>
                  <a:srgbClr val="6FB7FF"/>
                </a:solidFill>
                <a:latin typeface="Consolas" pitchFamily="34" charset="0"/>
                <a:ea typeface="Consolas" pitchFamily="34" charset="-122"/>
                <a:cs typeface="Consolas" pitchFamily="34" charset="-120"/>
              </a:rPr>
              <a:t>    float</a:t>
            </a:r>
            <a:r>
              <a:rPr lang="en-US" sz="1200" dirty="0">
                <a:solidFill>
                  <a:srgbClr val="DCE7F2"/>
                </a:solidFill>
                <a:latin typeface="Consolas" pitchFamily="34" charset="0"/>
                <a:ea typeface="Consolas" pitchFamily="34" charset="-122"/>
                <a:cs typeface="Consolas" pitchFamily="34" charset="-120"/>
              </a:rPr>
              <a:t> tempC = ds18b20.</a:t>
            </a:r>
            <a:r>
              <a:rPr lang="en-US" sz="1200" dirty="0">
                <a:solidFill>
                  <a:srgbClr val="FFD479"/>
                </a:solidFill>
                <a:latin typeface="Consolas" pitchFamily="34" charset="0"/>
                <a:ea typeface="Consolas" pitchFamily="34" charset="-122"/>
                <a:cs typeface="Consolas" pitchFamily="34" charset="-120"/>
              </a:rPr>
              <a:t>getTempCByIndex</a:t>
            </a:r>
            <a:r>
              <a:rPr lang="en-US" sz="1200" dirty="0">
                <a:solidFill>
                  <a:srgbClr val="DCE7F2"/>
                </a:solidFill>
                <a:latin typeface="Consolas" pitchFamily="34" charset="0"/>
                <a:ea typeface="Consolas" pitchFamily="34" charset="-122"/>
                <a:cs typeface="Consolas" pitchFamily="34" charset="-120"/>
              </a:rPr>
              <a:t>(</a:t>
            </a:r>
            <a:r>
              <a:rPr lang="en-US" sz="1200" dirty="0">
                <a:solidFill>
                  <a:srgbClr val="F3A26B"/>
                </a:solidFill>
                <a:latin typeface="Consolas" pitchFamily="34" charset="0"/>
                <a:ea typeface="Consolas" pitchFamily="34" charset="-122"/>
                <a:cs typeface="Consolas" pitchFamily="34" charset="-120"/>
              </a:rPr>
              <a:t>0</a:t>
            </a:r>
            <a:r>
              <a:rPr lang="en-US" sz="1200" dirty="0">
                <a:solidFill>
                  <a:srgbClr val="DCE7F2"/>
                </a:solidFill>
                <a:latin typeface="Consolas" pitchFamily="34" charset="0"/>
                <a:ea typeface="Consolas" pitchFamily="34" charset="-122"/>
                <a:cs typeface="Consolas" pitchFamily="34" charset="-120"/>
              </a:rPr>
              <a:t>);</a:t>
            </a:r>
            <a:endParaRPr lang="en-US" sz="1200" dirty="0"/>
          </a:p>
          <a:p>
            <a:pPr marL="0" indent="0" algn="l">
              <a:lnSpc>
                <a:spcPct val="100000"/>
              </a:lnSpc>
              <a:buNone/>
            </a:pPr>
            <a:r>
              <a:rPr lang="en-US" sz="1200" dirty="0">
                <a:solidFill>
                  <a:srgbClr val="6FB7FF"/>
                </a:solidFill>
                <a:latin typeface="Consolas" pitchFamily="34" charset="0"/>
                <a:ea typeface="Consolas" pitchFamily="34" charset="-122"/>
                <a:cs typeface="Consolas" pitchFamily="34" charset="-120"/>
              </a:rPr>
              <a:t>    int</a:t>
            </a:r>
            <a:r>
              <a:rPr lang="en-US" sz="1200" dirty="0">
                <a:solidFill>
                  <a:srgbClr val="DCE7F2"/>
                </a:solidFill>
                <a:latin typeface="Consolas" pitchFamily="34" charset="0"/>
                <a:ea typeface="Consolas" pitchFamily="34" charset="-122"/>
                <a:cs typeface="Consolas" pitchFamily="34" charset="-120"/>
              </a:rPr>
              <a:t>   vib   = </a:t>
            </a:r>
            <a:r>
              <a:rPr lang="en-US" sz="1200" dirty="0">
                <a:solidFill>
                  <a:srgbClr val="FFD479"/>
                </a:solidFill>
                <a:latin typeface="Consolas" pitchFamily="34" charset="0"/>
                <a:ea typeface="Consolas" pitchFamily="34" charset="-122"/>
                <a:cs typeface="Consolas" pitchFamily="34" charset="-120"/>
              </a:rPr>
              <a:t>analogRead</a:t>
            </a:r>
            <a:r>
              <a:rPr lang="en-US" sz="1200" dirty="0">
                <a:solidFill>
                  <a:srgbClr val="DCE7F2"/>
                </a:solidFill>
                <a:latin typeface="Consolas" pitchFamily="34" charset="0"/>
                <a:ea typeface="Consolas" pitchFamily="34" charset="-122"/>
                <a:cs typeface="Consolas" pitchFamily="34" charset="-120"/>
              </a:rPr>
              <a:t>(</a:t>
            </a:r>
            <a:r>
              <a:rPr lang="en-US" sz="1200" dirty="0">
                <a:solidFill>
                  <a:srgbClr val="F3A26B"/>
                </a:solidFill>
                <a:latin typeface="Consolas" pitchFamily="34" charset="0"/>
                <a:ea typeface="Consolas" pitchFamily="34" charset="-122"/>
                <a:cs typeface="Consolas" pitchFamily="34" charset="-120"/>
              </a:rPr>
              <a:t>34</a:t>
            </a:r>
            <a:r>
              <a:rPr lang="en-US" sz="1200" dirty="0">
                <a:solidFill>
                  <a:srgbClr val="DCE7F2"/>
                </a:solidFill>
                <a:latin typeface="Consolas" pitchFamily="34" charset="0"/>
                <a:ea typeface="Consolas" pitchFamily="34" charset="-122"/>
                <a:cs typeface="Consolas" pitchFamily="34" charset="-120"/>
              </a:rPr>
              <a:t>);</a:t>
            </a:r>
            <a:r>
              <a:rPr lang="en-US" sz="1200" dirty="0">
                <a:solidFill>
                  <a:srgbClr val="6B829A"/>
                </a:solidFill>
                <a:latin typeface="Consolas" pitchFamily="34" charset="0"/>
                <a:ea typeface="Consolas" pitchFamily="34" charset="-122"/>
                <a:cs typeface="Consolas" pitchFamily="34" charset="-120"/>
              </a:rPr>
              <a:t>        // vibration</a:t>
            </a:r>
            <a:endParaRPr lang="en-US" sz="1200" dirty="0"/>
          </a:p>
          <a:p>
            <a:pPr marL="0" indent="0" algn="l">
              <a:lnSpc>
                <a:spcPct val="100000"/>
              </a:lnSpc>
              <a:buNone/>
            </a:pPr>
            <a:r>
              <a:rPr lang="en-US" sz="1200" dirty="0">
                <a:solidFill>
                  <a:srgbClr val="DCE7F2"/>
                </a:solidFill>
                <a:latin typeface="Consolas" pitchFamily="34" charset="0"/>
                <a:ea typeface="Consolas" pitchFamily="34" charset="-122"/>
                <a:cs typeface="Consolas" pitchFamily="34" charset="-120"/>
              </a:rPr>
              <a:t> </a:t>
            </a:r>
            <a:endParaRPr lang="en-US" sz="1200" dirty="0"/>
          </a:p>
          <a:p>
            <a:pPr marL="0" indent="0" algn="l">
              <a:lnSpc>
                <a:spcPct val="100000"/>
              </a:lnSpc>
              <a:buNone/>
            </a:pPr>
            <a:r>
              <a:rPr lang="en-US" sz="1200" dirty="0">
                <a:solidFill>
                  <a:srgbClr val="6FB7FF"/>
                </a:solidFill>
                <a:latin typeface="Consolas" pitchFamily="34" charset="0"/>
                <a:ea typeface="Consolas" pitchFamily="34" charset="-122"/>
                <a:cs typeface="Consolas" pitchFamily="34" charset="-120"/>
              </a:rPr>
              <a:t>    float</a:t>
            </a:r>
            <a:r>
              <a:rPr lang="en-US" sz="1200" dirty="0">
                <a:solidFill>
                  <a:srgbClr val="DCE7F2"/>
                </a:solidFill>
                <a:latin typeface="Consolas" pitchFamily="34" charset="0"/>
                <a:ea typeface="Consolas" pitchFamily="34" charset="-122"/>
                <a:cs typeface="Consolas" pitchFamily="34" charset="-120"/>
              </a:rPr>
              <a:t> health = </a:t>
            </a:r>
            <a:r>
              <a:rPr lang="en-US" sz="1200" dirty="0">
                <a:solidFill>
                  <a:srgbClr val="FFD479"/>
                </a:solidFill>
                <a:latin typeface="Consolas" pitchFamily="34" charset="0"/>
                <a:ea typeface="Consolas" pitchFamily="34" charset="-122"/>
                <a:cs typeface="Consolas" pitchFamily="34" charset="-120"/>
              </a:rPr>
              <a:t>computeHealth</a:t>
            </a:r>
            <a:r>
              <a:rPr lang="en-US" sz="1200" dirty="0">
                <a:solidFill>
                  <a:srgbClr val="DCE7F2"/>
                </a:solidFill>
                <a:latin typeface="Consolas" pitchFamily="34" charset="0"/>
                <a:ea typeface="Consolas" pitchFamily="34" charset="-122"/>
                <a:cs typeface="Consolas" pitchFamily="34" charset="-120"/>
              </a:rPr>
              <a:t>(tempC, vib);</a:t>
            </a:r>
            <a:endParaRPr lang="en-US" sz="1200" dirty="0"/>
          </a:p>
          <a:p>
            <a:pPr marL="0" indent="0" algn="l">
              <a:lnSpc>
                <a:spcPct val="100000"/>
              </a:lnSpc>
              <a:buNone/>
            </a:pPr>
            <a:r>
              <a:rPr lang="en-US" sz="1200" dirty="0">
                <a:solidFill>
                  <a:srgbClr val="DCE7F2"/>
                </a:solidFill>
                <a:latin typeface="Consolas" pitchFamily="34" charset="0"/>
                <a:ea typeface="Consolas" pitchFamily="34" charset="-122"/>
                <a:cs typeface="Consolas" pitchFamily="34" charset="-120"/>
              </a:rPr>
              <a:t>    </a:t>
            </a:r>
            <a:r>
              <a:rPr lang="en-US" sz="1200" dirty="0">
                <a:solidFill>
                  <a:srgbClr val="FFD479"/>
                </a:solidFill>
                <a:latin typeface="Consolas" pitchFamily="34" charset="0"/>
                <a:ea typeface="Consolas" pitchFamily="34" charset="-122"/>
                <a:cs typeface="Consolas" pitchFamily="34" charset="-120"/>
              </a:rPr>
              <a:t>setStatusLed</a:t>
            </a:r>
            <a:r>
              <a:rPr lang="en-US" sz="1200" dirty="0">
                <a:solidFill>
                  <a:srgbClr val="DCE7F2"/>
                </a:solidFill>
                <a:latin typeface="Consolas" pitchFamily="34" charset="0"/>
                <a:ea typeface="Consolas" pitchFamily="34" charset="-122"/>
                <a:cs typeface="Consolas" pitchFamily="34" charset="-120"/>
              </a:rPr>
              <a:t>(health);</a:t>
            </a:r>
            <a:r>
              <a:rPr lang="en-US" sz="1200" dirty="0">
                <a:solidFill>
                  <a:srgbClr val="6B829A"/>
                </a:solidFill>
                <a:latin typeface="Consolas" pitchFamily="34" charset="0"/>
                <a:ea typeface="Consolas" pitchFamily="34" charset="-122"/>
                <a:cs typeface="Consolas" pitchFamily="34" charset="-120"/>
              </a:rPr>
              <a:t>            // green / yellow / red</a:t>
            </a:r>
            <a:endParaRPr lang="en-US" sz="1200" dirty="0"/>
          </a:p>
          <a:p>
            <a:pPr marL="0" indent="0" algn="l">
              <a:lnSpc>
                <a:spcPct val="100000"/>
              </a:lnSpc>
              <a:buNone/>
            </a:pPr>
            <a:r>
              <a:rPr lang="en-US" sz="1200" dirty="0">
                <a:solidFill>
                  <a:srgbClr val="6FB7FF"/>
                </a:solidFill>
                <a:latin typeface="Consolas" pitchFamily="34" charset="0"/>
                <a:ea typeface="Consolas" pitchFamily="34" charset="-122"/>
                <a:cs typeface="Consolas" pitchFamily="34" charset="-120"/>
              </a:rPr>
              <a:t>    if</a:t>
            </a:r>
            <a:r>
              <a:rPr lang="en-US" sz="1200" dirty="0">
                <a:solidFill>
                  <a:srgbClr val="DCE7F2"/>
                </a:solidFill>
                <a:latin typeface="Consolas" pitchFamily="34" charset="0"/>
                <a:ea typeface="Consolas" pitchFamily="34" charset="-122"/>
                <a:cs typeface="Consolas" pitchFamily="34" charset="-120"/>
              </a:rPr>
              <a:t> (health &lt; </a:t>
            </a:r>
            <a:r>
              <a:rPr lang="en-US" sz="1200" dirty="0">
                <a:solidFill>
                  <a:srgbClr val="F3A26B"/>
                </a:solidFill>
                <a:latin typeface="Consolas" pitchFamily="34" charset="0"/>
                <a:ea typeface="Consolas" pitchFamily="34" charset="-122"/>
                <a:cs typeface="Consolas" pitchFamily="34" charset="-120"/>
              </a:rPr>
              <a:t>40</a:t>
            </a:r>
            <a:r>
              <a:rPr lang="en-US" sz="1200" dirty="0">
                <a:solidFill>
                  <a:srgbClr val="DCE7F2"/>
                </a:solidFill>
                <a:latin typeface="Consolas" pitchFamily="34" charset="0"/>
                <a:ea typeface="Consolas" pitchFamily="34" charset="-122"/>
                <a:cs typeface="Consolas" pitchFamily="34" charset="-120"/>
              </a:rPr>
              <a:t>) </a:t>
            </a:r>
            <a:r>
              <a:rPr lang="en-US" sz="1200" dirty="0">
                <a:solidFill>
                  <a:srgbClr val="FFD479"/>
                </a:solidFill>
                <a:latin typeface="Consolas" pitchFamily="34" charset="0"/>
                <a:ea typeface="Consolas" pitchFamily="34" charset="-122"/>
                <a:cs typeface="Consolas" pitchFamily="34" charset="-120"/>
              </a:rPr>
              <a:t>tone</a:t>
            </a:r>
            <a:r>
              <a:rPr lang="en-US" sz="1200" dirty="0">
                <a:solidFill>
                  <a:srgbClr val="DCE7F2"/>
                </a:solidFill>
                <a:latin typeface="Consolas" pitchFamily="34" charset="0"/>
                <a:ea typeface="Consolas" pitchFamily="34" charset="-122"/>
                <a:cs typeface="Consolas" pitchFamily="34" charset="-120"/>
              </a:rPr>
              <a:t>(BUZZER, </a:t>
            </a:r>
            <a:r>
              <a:rPr lang="en-US" sz="1200" dirty="0">
                <a:solidFill>
                  <a:srgbClr val="F3A26B"/>
                </a:solidFill>
                <a:latin typeface="Consolas" pitchFamily="34" charset="0"/>
                <a:ea typeface="Consolas" pitchFamily="34" charset="-122"/>
                <a:cs typeface="Consolas" pitchFamily="34" charset="-120"/>
              </a:rPr>
              <a:t>2000</a:t>
            </a:r>
            <a:r>
              <a:rPr lang="en-US" sz="1200" dirty="0">
                <a:solidFill>
                  <a:srgbClr val="DCE7F2"/>
                </a:solidFill>
                <a:latin typeface="Consolas" pitchFamily="34" charset="0"/>
                <a:ea typeface="Consolas" pitchFamily="34" charset="-122"/>
                <a:cs typeface="Consolas" pitchFamily="34" charset="-120"/>
              </a:rPr>
              <a:t>);</a:t>
            </a:r>
            <a:r>
              <a:rPr lang="en-US" sz="1200" dirty="0">
                <a:solidFill>
                  <a:srgbClr val="6B829A"/>
                </a:solidFill>
                <a:latin typeface="Consolas" pitchFamily="34" charset="0"/>
                <a:ea typeface="Consolas" pitchFamily="34" charset="-122"/>
                <a:cs typeface="Consolas" pitchFamily="34" charset="-120"/>
              </a:rPr>
              <a:t> // alarm</a:t>
            </a:r>
            <a:endParaRPr lang="en-US" sz="1200" dirty="0"/>
          </a:p>
          <a:p>
            <a:pPr marL="0" indent="0" algn="l">
              <a:lnSpc>
                <a:spcPct val="100000"/>
              </a:lnSpc>
              <a:buNone/>
            </a:pPr>
            <a:r>
              <a:rPr lang="en-US" sz="1200" dirty="0">
                <a:solidFill>
                  <a:srgbClr val="DCE7F2"/>
                </a:solidFill>
                <a:latin typeface="Consolas" pitchFamily="34" charset="0"/>
                <a:ea typeface="Consolas" pitchFamily="34" charset="-122"/>
                <a:cs typeface="Consolas" pitchFamily="34" charset="-120"/>
              </a:rPr>
              <a:t> </a:t>
            </a:r>
            <a:endParaRPr lang="en-US" sz="1200" dirty="0"/>
          </a:p>
          <a:p>
            <a:pPr marL="0" indent="0" algn="l">
              <a:lnSpc>
                <a:spcPct val="100000"/>
              </a:lnSpc>
              <a:buNone/>
            </a:pPr>
            <a:r>
              <a:rPr lang="en-US" sz="1200" dirty="0">
                <a:solidFill>
                  <a:srgbClr val="DCE7F2"/>
                </a:solidFill>
                <a:latin typeface="Consolas" pitchFamily="34" charset="0"/>
                <a:ea typeface="Consolas" pitchFamily="34" charset="-122"/>
                <a:cs typeface="Consolas" pitchFamily="34" charset="-120"/>
              </a:rPr>
              <a:t>    Serial.</a:t>
            </a:r>
            <a:r>
              <a:rPr lang="en-US" sz="1200" dirty="0">
                <a:solidFill>
                  <a:srgbClr val="FFD479"/>
                </a:solidFill>
                <a:latin typeface="Consolas" pitchFamily="34" charset="0"/>
                <a:ea typeface="Consolas" pitchFamily="34" charset="-122"/>
                <a:cs typeface="Consolas" pitchFamily="34" charset="-120"/>
              </a:rPr>
              <a:t>printf</a:t>
            </a:r>
            <a:r>
              <a:rPr lang="en-US" sz="1200" dirty="0">
                <a:solidFill>
                  <a:srgbClr val="DCE7F2"/>
                </a:solidFill>
                <a:latin typeface="Consolas" pitchFamily="34" charset="0"/>
                <a:ea typeface="Consolas" pitchFamily="34" charset="-122"/>
                <a:cs typeface="Consolas" pitchFamily="34" charset="-120"/>
              </a:rPr>
              <a:t>(</a:t>
            </a:r>
            <a:r>
              <a:rPr lang="en-US" sz="1200" dirty="0">
                <a:solidFill>
                  <a:srgbClr val="F3A26B"/>
                </a:solidFill>
                <a:latin typeface="Consolas" pitchFamily="34" charset="0"/>
                <a:ea typeface="Consolas" pitchFamily="34" charset="-122"/>
                <a:cs typeface="Consolas" pitchFamily="34" charset="-120"/>
              </a:rPr>
              <a:t>"{\"temp\":%.1f,\"health\":%.0f}\n"</a:t>
            </a:r>
            <a:r>
              <a:rPr lang="en-US" sz="1200" dirty="0">
                <a:solidFill>
                  <a:srgbClr val="DCE7F2"/>
                </a:solidFill>
                <a:latin typeface="Consolas" pitchFamily="34" charset="0"/>
                <a:ea typeface="Consolas" pitchFamily="34" charset="-122"/>
                <a:cs typeface="Consolas" pitchFamily="34" charset="-120"/>
              </a:rPr>
              <a:t>,</a:t>
            </a:r>
            <a:endParaRPr lang="en-US" sz="1200" dirty="0"/>
          </a:p>
          <a:p>
            <a:pPr marL="0" indent="0" algn="l">
              <a:lnSpc>
                <a:spcPct val="100000"/>
              </a:lnSpc>
              <a:buNone/>
            </a:pPr>
            <a:r>
              <a:rPr lang="en-US" sz="1200" dirty="0">
                <a:solidFill>
                  <a:srgbClr val="DCE7F2"/>
                </a:solidFill>
                <a:latin typeface="Consolas" pitchFamily="34" charset="0"/>
                <a:ea typeface="Consolas" pitchFamily="34" charset="-122"/>
                <a:cs typeface="Consolas" pitchFamily="34" charset="-120"/>
              </a:rPr>
              <a:t>                  tempC, health);</a:t>
            </a:r>
            <a:r>
              <a:rPr lang="en-US" sz="1200" dirty="0">
                <a:solidFill>
                  <a:srgbClr val="6B829A"/>
                </a:solidFill>
                <a:latin typeface="Consolas" pitchFamily="34" charset="0"/>
                <a:ea typeface="Consolas" pitchFamily="34" charset="-122"/>
                <a:cs typeface="Consolas" pitchFamily="34" charset="-120"/>
              </a:rPr>
              <a:t>  // -&gt; Assistant</a:t>
            </a:r>
            <a:endParaRPr lang="en-US" sz="1200" dirty="0"/>
          </a:p>
          <a:p>
            <a:pPr marL="0" indent="0" algn="l">
              <a:lnSpc>
                <a:spcPct val="100000"/>
              </a:lnSpc>
              <a:buNone/>
            </a:pPr>
            <a:r>
              <a:rPr lang="en-US" sz="1200" dirty="0">
                <a:solidFill>
                  <a:srgbClr val="DCE7F2"/>
                </a:solidFill>
                <a:latin typeface="Consolas" pitchFamily="34" charset="0"/>
                <a:ea typeface="Consolas" pitchFamily="34" charset="-122"/>
                <a:cs typeface="Consolas" pitchFamily="34" charset="-120"/>
              </a:rPr>
              <a: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9F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FFFFFF"/>
          </a:solidFill>
          <a:ln/>
        </p:spPr>
        <p:txBody>
          <a:bodyPr/>
          <a:lstStyle/>
          <a:p>
            <a:endParaRPr lang="LID4096"/>
          </a:p>
        </p:txBody>
      </p:sp>
      <p:sp>
        <p:nvSpPr>
          <p:cNvPr id="3" name="Shape 1"/>
          <p:cNvSpPr/>
          <p:nvPr/>
        </p:nvSpPr>
        <p:spPr>
          <a:xfrm>
            <a:off x="0" y="0"/>
            <a:ext cx="201168" cy="1371600"/>
          </a:xfrm>
          <a:prstGeom prst="rect">
            <a:avLst/>
          </a:prstGeom>
          <a:solidFill>
            <a:srgbClr val="0FB5D6"/>
          </a:solidFill>
          <a:ln/>
        </p:spPr>
        <p:txBody>
          <a:bodyPr/>
          <a:lstStyle/>
          <a:p>
            <a:endParaRPr lang="LID4096"/>
          </a:p>
        </p:txBody>
      </p:sp>
      <p:sp>
        <p:nvSpPr>
          <p:cNvPr id="4" name="Text 2"/>
          <p:cNvSpPr/>
          <p:nvPr/>
        </p:nvSpPr>
        <p:spPr>
          <a:xfrm>
            <a:off x="640080" y="310896"/>
            <a:ext cx="10058400" cy="292608"/>
          </a:xfrm>
          <a:prstGeom prst="rect">
            <a:avLst/>
          </a:prstGeom>
          <a:noFill/>
          <a:ln/>
        </p:spPr>
        <p:txBody>
          <a:bodyPr wrap="square" lIns="0" tIns="0" rIns="0" bIns="0" rtlCol="0" anchor="ctr"/>
          <a:lstStyle/>
          <a:p>
            <a:pPr marL="0" indent="0">
              <a:buNone/>
            </a:pPr>
            <a:r>
              <a:rPr lang="en-US" sz="1200" b="1" kern="0" spc="300" dirty="0">
                <a:solidFill>
                  <a:srgbClr val="1565C0"/>
                </a:solidFill>
                <a:latin typeface="Trebuchet MS" pitchFamily="34" charset="0"/>
                <a:ea typeface="Trebuchet MS" pitchFamily="34" charset="-122"/>
                <a:cs typeface="Trebuchet MS" pitchFamily="34" charset="-120"/>
              </a:rPr>
              <a:t>OOP PRINCIPLES</a:t>
            </a:r>
            <a:endParaRPr lang="en-US" sz="1200" dirty="0"/>
          </a:p>
        </p:txBody>
      </p:sp>
      <p:sp>
        <p:nvSpPr>
          <p:cNvPr id="5" name="Text 3"/>
          <p:cNvSpPr/>
          <p:nvPr/>
        </p:nvSpPr>
        <p:spPr>
          <a:xfrm>
            <a:off x="640080" y="566928"/>
            <a:ext cx="10972800" cy="640080"/>
          </a:xfrm>
          <a:prstGeom prst="rect">
            <a:avLst/>
          </a:prstGeom>
          <a:noFill/>
          <a:ln/>
        </p:spPr>
        <p:txBody>
          <a:bodyPr wrap="square" lIns="0" tIns="0" rIns="0" bIns="0" rtlCol="0" anchor="ctr"/>
          <a:lstStyle/>
          <a:p>
            <a:pPr marL="0" indent="0">
              <a:buNone/>
            </a:pPr>
            <a:r>
              <a:rPr lang="en-US" sz="2800" b="1" dirty="0">
                <a:solidFill>
                  <a:srgbClr val="0E2A47"/>
                </a:solidFill>
                <a:latin typeface="Trebuchet MS" pitchFamily="34" charset="0"/>
                <a:ea typeface="Trebuchet MS" pitchFamily="34" charset="-122"/>
                <a:cs typeface="Trebuchet MS" pitchFamily="34" charset="-120"/>
              </a:rPr>
              <a:t>Object-oriented design in action</a:t>
            </a:r>
            <a:endParaRPr lang="en-US" sz="2800" dirty="0"/>
          </a:p>
        </p:txBody>
      </p:sp>
      <p:sp>
        <p:nvSpPr>
          <p:cNvPr id="6" name="Shape 4"/>
          <p:cNvSpPr/>
          <p:nvPr/>
        </p:nvSpPr>
        <p:spPr>
          <a:xfrm>
            <a:off x="640080" y="1783080"/>
            <a:ext cx="5413248" cy="1993392"/>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7" name="Shape 5"/>
          <p:cNvSpPr/>
          <p:nvPr/>
        </p:nvSpPr>
        <p:spPr>
          <a:xfrm>
            <a:off x="640080" y="1783080"/>
            <a:ext cx="5413248" cy="91440"/>
          </a:xfrm>
          <a:prstGeom prst="rect">
            <a:avLst/>
          </a:prstGeom>
          <a:solidFill>
            <a:srgbClr val="1565C0"/>
          </a:solidFill>
          <a:ln/>
        </p:spPr>
        <p:txBody>
          <a:bodyPr/>
          <a:lstStyle/>
          <a:p>
            <a:endParaRPr lang="LID4096"/>
          </a:p>
        </p:txBody>
      </p:sp>
      <p:sp>
        <p:nvSpPr>
          <p:cNvPr id="8" name="Shape 6"/>
          <p:cNvSpPr/>
          <p:nvPr/>
        </p:nvSpPr>
        <p:spPr>
          <a:xfrm>
            <a:off x="932688" y="2167128"/>
            <a:ext cx="713232" cy="713232"/>
          </a:xfrm>
          <a:prstGeom prst="ellipse">
            <a:avLst/>
          </a:prstGeom>
          <a:solidFill>
            <a:srgbClr val="1565C0"/>
          </a:solidFill>
          <a:ln/>
        </p:spPr>
        <p:txBody>
          <a:bodyPr/>
          <a:lstStyle/>
          <a:p>
            <a:endParaRPr lang="LID4096"/>
          </a:p>
        </p:txBody>
      </p:sp>
      <p:sp>
        <p:nvSpPr>
          <p:cNvPr id="9" name="Text 7"/>
          <p:cNvSpPr/>
          <p:nvPr/>
        </p:nvSpPr>
        <p:spPr>
          <a:xfrm>
            <a:off x="932688" y="2167128"/>
            <a:ext cx="713232" cy="713232"/>
          </a:xfrm>
          <a:prstGeom prst="rect">
            <a:avLst/>
          </a:prstGeom>
          <a:noFill/>
          <a:ln/>
        </p:spPr>
        <p:txBody>
          <a:bodyPr wrap="square" lIns="0" tIns="0" rIns="0" bIns="0" rtlCol="0" anchor="ctr"/>
          <a:lstStyle/>
          <a:p>
            <a:pPr marL="0" indent="0" algn="ctr">
              <a:buNone/>
            </a:pPr>
            <a:r>
              <a:rPr lang="en-US" sz="3000" b="1" dirty="0">
                <a:solidFill>
                  <a:srgbClr val="FFFFFF"/>
                </a:solidFill>
                <a:latin typeface="Trebuchet MS" pitchFamily="34" charset="0"/>
                <a:ea typeface="Trebuchet MS" pitchFamily="34" charset="-122"/>
                <a:cs typeface="Trebuchet MS" pitchFamily="34" charset="-120"/>
              </a:rPr>
              <a:t>1</a:t>
            </a:r>
            <a:endParaRPr lang="en-US" sz="3000" dirty="0"/>
          </a:p>
        </p:txBody>
      </p:sp>
      <p:sp>
        <p:nvSpPr>
          <p:cNvPr id="10" name="Text 8"/>
          <p:cNvSpPr/>
          <p:nvPr/>
        </p:nvSpPr>
        <p:spPr>
          <a:xfrm>
            <a:off x="1874520" y="2167128"/>
            <a:ext cx="3950208" cy="457200"/>
          </a:xfrm>
          <a:prstGeom prst="rect">
            <a:avLst/>
          </a:prstGeom>
          <a:noFill/>
          <a:ln/>
        </p:spPr>
        <p:txBody>
          <a:bodyPr wrap="square" lIns="0" tIns="0" rIns="0" bIns="0" rtlCol="0" anchor="ctr"/>
          <a:lstStyle/>
          <a:p>
            <a:pPr marL="0" indent="0">
              <a:buNone/>
            </a:pPr>
            <a:r>
              <a:rPr lang="en-US" sz="1900" b="1" dirty="0">
                <a:solidFill>
                  <a:srgbClr val="0E2A47"/>
                </a:solidFill>
                <a:latin typeface="Trebuchet MS" pitchFamily="34" charset="0"/>
                <a:ea typeface="Trebuchet MS" pitchFamily="34" charset="-122"/>
                <a:cs typeface="Trebuchet MS" pitchFamily="34" charset="-120"/>
              </a:rPr>
              <a:t>Encapsulation</a:t>
            </a:r>
            <a:endParaRPr lang="en-US" sz="1900" dirty="0"/>
          </a:p>
        </p:txBody>
      </p:sp>
      <p:sp>
        <p:nvSpPr>
          <p:cNvPr id="11" name="Text 9"/>
          <p:cNvSpPr/>
          <p:nvPr/>
        </p:nvSpPr>
        <p:spPr>
          <a:xfrm>
            <a:off x="1874520" y="2651760"/>
            <a:ext cx="3904488" cy="960120"/>
          </a:xfrm>
          <a:prstGeom prst="rect">
            <a:avLst/>
          </a:prstGeom>
          <a:noFill/>
          <a:ln/>
        </p:spPr>
        <p:txBody>
          <a:bodyPr wrap="square" lIns="0" tIns="0" rIns="0" bIns="0" rtlCol="0" anchor="t"/>
          <a:lstStyle/>
          <a:p>
            <a:pPr marL="0" indent="0">
              <a:lnSpc>
                <a:spcPct val="112000"/>
              </a:lnSpc>
              <a:buNone/>
            </a:pPr>
            <a:r>
              <a:rPr lang="en-US" sz="1350" dirty="0">
                <a:solidFill>
                  <a:srgbClr val="1F2D3D"/>
                </a:solidFill>
                <a:latin typeface="Calibri" pitchFamily="34" charset="0"/>
                <a:ea typeface="Calibri" pitchFamily="34" charset="-122"/>
                <a:cs typeface="Calibri" pitchFamily="34" charset="-120"/>
              </a:rPr>
              <a:t>Each Machine hides its raw sensor data and exposes only calculateHealthScore() — internal state stays private.</a:t>
            </a:r>
            <a:endParaRPr lang="en-US" sz="1350" dirty="0"/>
          </a:p>
        </p:txBody>
      </p:sp>
      <p:sp>
        <p:nvSpPr>
          <p:cNvPr id="12" name="Shape 10"/>
          <p:cNvSpPr/>
          <p:nvPr/>
        </p:nvSpPr>
        <p:spPr>
          <a:xfrm>
            <a:off x="6318504" y="1783080"/>
            <a:ext cx="5413248" cy="1993392"/>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13" name="Shape 11"/>
          <p:cNvSpPr/>
          <p:nvPr/>
        </p:nvSpPr>
        <p:spPr>
          <a:xfrm>
            <a:off x="6318504" y="1783080"/>
            <a:ext cx="5413248" cy="91440"/>
          </a:xfrm>
          <a:prstGeom prst="rect">
            <a:avLst/>
          </a:prstGeom>
          <a:solidFill>
            <a:srgbClr val="0FB5D6"/>
          </a:solidFill>
          <a:ln/>
        </p:spPr>
        <p:txBody>
          <a:bodyPr/>
          <a:lstStyle/>
          <a:p>
            <a:endParaRPr lang="LID4096"/>
          </a:p>
        </p:txBody>
      </p:sp>
      <p:sp>
        <p:nvSpPr>
          <p:cNvPr id="14" name="Shape 12"/>
          <p:cNvSpPr/>
          <p:nvPr/>
        </p:nvSpPr>
        <p:spPr>
          <a:xfrm>
            <a:off x="6611112" y="2167128"/>
            <a:ext cx="713232" cy="713232"/>
          </a:xfrm>
          <a:prstGeom prst="ellipse">
            <a:avLst/>
          </a:prstGeom>
          <a:solidFill>
            <a:srgbClr val="0FB5D6"/>
          </a:solidFill>
          <a:ln/>
        </p:spPr>
        <p:txBody>
          <a:bodyPr/>
          <a:lstStyle/>
          <a:p>
            <a:endParaRPr lang="LID4096"/>
          </a:p>
        </p:txBody>
      </p:sp>
      <p:sp>
        <p:nvSpPr>
          <p:cNvPr id="15" name="Text 13"/>
          <p:cNvSpPr/>
          <p:nvPr/>
        </p:nvSpPr>
        <p:spPr>
          <a:xfrm>
            <a:off x="6611112" y="2167128"/>
            <a:ext cx="713232" cy="713232"/>
          </a:xfrm>
          <a:prstGeom prst="rect">
            <a:avLst/>
          </a:prstGeom>
          <a:noFill/>
          <a:ln/>
        </p:spPr>
        <p:txBody>
          <a:bodyPr wrap="square" lIns="0" tIns="0" rIns="0" bIns="0" rtlCol="0" anchor="ctr"/>
          <a:lstStyle/>
          <a:p>
            <a:pPr marL="0" indent="0" algn="ctr">
              <a:buNone/>
            </a:pPr>
            <a:r>
              <a:rPr lang="en-US" sz="3000" b="1" dirty="0">
                <a:solidFill>
                  <a:srgbClr val="FFFFFF"/>
                </a:solidFill>
                <a:latin typeface="Trebuchet MS" pitchFamily="34" charset="0"/>
                <a:ea typeface="Trebuchet MS" pitchFamily="34" charset="-122"/>
                <a:cs typeface="Trebuchet MS" pitchFamily="34" charset="-120"/>
              </a:rPr>
              <a:t>2</a:t>
            </a:r>
            <a:endParaRPr lang="en-US" sz="3000" dirty="0"/>
          </a:p>
        </p:txBody>
      </p:sp>
      <p:sp>
        <p:nvSpPr>
          <p:cNvPr id="16" name="Text 14"/>
          <p:cNvSpPr/>
          <p:nvPr/>
        </p:nvSpPr>
        <p:spPr>
          <a:xfrm>
            <a:off x="7552944" y="2167128"/>
            <a:ext cx="3950208" cy="457200"/>
          </a:xfrm>
          <a:prstGeom prst="rect">
            <a:avLst/>
          </a:prstGeom>
          <a:noFill/>
          <a:ln/>
        </p:spPr>
        <p:txBody>
          <a:bodyPr wrap="square" lIns="0" tIns="0" rIns="0" bIns="0" rtlCol="0" anchor="ctr"/>
          <a:lstStyle/>
          <a:p>
            <a:pPr marL="0" indent="0">
              <a:buNone/>
            </a:pPr>
            <a:r>
              <a:rPr lang="en-US" sz="1900" b="1" dirty="0">
                <a:solidFill>
                  <a:srgbClr val="0E2A47"/>
                </a:solidFill>
                <a:latin typeface="Trebuchet MS" pitchFamily="34" charset="0"/>
                <a:ea typeface="Trebuchet MS" pitchFamily="34" charset="-122"/>
                <a:cs typeface="Trebuchet MS" pitchFamily="34" charset="-120"/>
              </a:rPr>
              <a:t>Abstraction</a:t>
            </a:r>
            <a:endParaRPr lang="en-US" sz="1900" dirty="0"/>
          </a:p>
        </p:txBody>
      </p:sp>
      <p:sp>
        <p:nvSpPr>
          <p:cNvPr id="17" name="Text 15"/>
          <p:cNvSpPr/>
          <p:nvPr/>
        </p:nvSpPr>
        <p:spPr>
          <a:xfrm>
            <a:off x="7552944" y="2651760"/>
            <a:ext cx="3904488" cy="960120"/>
          </a:xfrm>
          <a:prstGeom prst="rect">
            <a:avLst/>
          </a:prstGeom>
          <a:noFill/>
          <a:ln/>
        </p:spPr>
        <p:txBody>
          <a:bodyPr wrap="square" lIns="0" tIns="0" rIns="0" bIns="0" rtlCol="0" anchor="t"/>
          <a:lstStyle/>
          <a:p>
            <a:pPr marL="0" indent="0">
              <a:lnSpc>
                <a:spcPct val="112000"/>
              </a:lnSpc>
              <a:buNone/>
            </a:pPr>
            <a:r>
              <a:rPr lang="en-US" sz="1350" dirty="0">
                <a:solidFill>
                  <a:srgbClr val="1F2D3D"/>
                </a:solidFill>
                <a:latin typeface="Calibri" pitchFamily="34" charset="0"/>
                <a:ea typeface="Calibri" pitchFamily="34" charset="-122"/>
                <a:cs typeface="Calibri" pitchFamily="34" charset="-120"/>
              </a:rPr>
              <a:t>The Sensor interface defines readValue() and sendData(); callers never touch the underlying hardware details.</a:t>
            </a:r>
            <a:endParaRPr lang="en-US" sz="1350" dirty="0"/>
          </a:p>
        </p:txBody>
      </p:sp>
      <p:sp>
        <p:nvSpPr>
          <p:cNvPr id="18" name="Shape 16"/>
          <p:cNvSpPr/>
          <p:nvPr/>
        </p:nvSpPr>
        <p:spPr>
          <a:xfrm>
            <a:off x="640080" y="4032504"/>
            <a:ext cx="5413248" cy="1993392"/>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19" name="Shape 17"/>
          <p:cNvSpPr/>
          <p:nvPr/>
        </p:nvSpPr>
        <p:spPr>
          <a:xfrm>
            <a:off x="640080" y="4032504"/>
            <a:ext cx="5413248" cy="91440"/>
          </a:xfrm>
          <a:prstGeom prst="rect">
            <a:avLst/>
          </a:prstGeom>
          <a:solidFill>
            <a:srgbClr val="0E7C66"/>
          </a:solidFill>
          <a:ln/>
        </p:spPr>
        <p:txBody>
          <a:bodyPr/>
          <a:lstStyle/>
          <a:p>
            <a:endParaRPr lang="LID4096"/>
          </a:p>
        </p:txBody>
      </p:sp>
      <p:sp>
        <p:nvSpPr>
          <p:cNvPr id="20" name="Shape 18"/>
          <p:cNvSpPr/>
          <p:nvPr/>
        </p:nvSpPr>
        <p:spPr>
          <a:xfrm>
            <a:off x="932688" y="4416552"/>
            <a:ext cx="713232" cy="713232"/>
          </a:xfrm>
          <a:prstGeom prst="ellipse">
            <a:avLst/>
          </a:prstGeom>
          <a:solidFill>
            <a:srgbClr val="0E7C66"/>
          </a:solidFill>
          <a:ln/>
        </p:spPr>
        <p:txBody>
          <a:bodyPr/>
          <a:lstStyle/>
          <a:p>
            <a:endParaRPr lang="LID4096"/>
          </a:p>
        </p:txBody>
      </p:sp>
      <p:sp>
        <p:nvSpPr>
          <p:cNvPr id="21" name="Text 19"/>
          <p:cNvSpPr/>
          <p:nvPr/>
        </p:nvSpPr>
        <p:spPr>
          <a:xfrm>
            <a:off x="932688" y="4416552"/>
            <a:ext cx="713232" cy="713232"/>
          </a:xfrm>
          <a:prstGeom prst="rect">
            <a:avLst/>
          </a:prstGeom>
          <a:noFill/>
          <a:ln/>
        </p:spPr>
        <p:txBody>
          <a:bodyPr wrap="square" lIns="0" tIns="0" rIns="0" bIns="0" rtlCol="0" anchor="ctr"/>
          <a:lstStyle/>
          <a:p>
            <a:pPr marL="0" indent="0" algn="ctr">
              <a:buNone/>
            </a:pPr>
            <a:r>
              <a:rPr lang="en-US" sz="3000" b="1" dirty="0">
                <a:solidFill>
                  <a:srgbClr val="FFFFFF"/>
                </a:solidFill>
                <a:latin typeface="Trebuchet MS" pitchFamily="34" charset="0"/>
                <a:ea typeface="Trebuchet MS" pitchFamily="34" charset="-122"/>
                <a:cs typeface="Trebuchet MS" pitchFamily="34" charset="-120"/>
              </a:rPr>
              <a:t>3</a:t>
            </a:r>
            <a:endParaRPr lang="en-US" sz="3000" dirty="0"/>
          </a:p>
        </p:txBody>
      </p:sp>
      <p:sp>
        <p:nvSpPr>
          <p:cNvPr id="22" name="Text 20"/>
          <p:cNvSpPr/>
          <p:nvPr/>
        </p:nvSpPr>
        <p:spPr>
          <a:xfrm>
            <a:off x="1874520" y="4416552"/>
            <a:ext cx="3950208" cy="457200"/>
          </a:xfrm>
          <a:prstGeom prst="rect">
            <a:avLst/>
          </a:prstGeom>
          <a:noFill/>
          <a:ln/>
        </p:spPr>
        <p:txBody>
          <a:bodyPr wrap="square" lIns="0" tIns="0" rIns="0" bIns="0" rtlCol="0" anchor="ctr"/>
          <a:lstStyle/>
          <a:p>
            <a:pPr marL="0" indent="0">
              <a:buNone/>
            </a:pPr>
            <a:r>
              <a:rPr lang="en-US" sz="1900" b="1" dirty="0">
                <a:solidFill>
                  <a:srgbClr val="0E2A47"/>
                </a:solidFill>
                <a:latin typeface="Trebuchet MS" pitchFamily="34" charset="0"/>
                <a:ea typeface="Trebuchet MS" pitchFamily="34" charset="-122"/>
                <a:cs typeface="Trebuchet MS" pitchFamily="34" charset="-120"/>
              </a:rPr>
              <a:t>Inheritance</a:t>
            </a:r>
            <a:endParaRPr lang="en-US" sz="1900" dirty="0"/>
          </a:p>
        </p:txBody>
      </p:sp>
      <p:sp>
        <p:nvSpPr>
          <p:cNvPr id="23" name="Text 21"/>
          <p:cNvSpPr/>
          <p:nvPr/>
        </p:nvSpPr>
        <p:spPr>
          <a:xfrm>
            <a:off x="1874520" y="4901184"/>
            <a:ext cx="3904488" cy="960120"/>
          </a:xfrm>
          <a:prstGeom prst="rect">
            <a:avLst/>
          </a:prstGeom>
          <a:noFill/>
          <a:ln/>
        </p:spPr>
        <p:txBody>
          <a:bodyPr wrap="square" lIns="0" tIns="0" rIns="0" bIns="0" rtlCol="0" anchor="t"/>
          <a:lstStyle/>
          <a:p>
            <a:pPr marL="0" indent="0">
              <a:lnSpc>
                <a:spcPct val="112000"/>
              </a:lnSpc>
              <a:buNone/>
            </a:pPr>
            <a:r>
              <a:rPr lang="en-US" sz="1350" dirty="0">
                <a:solidFill>
                  <a:srgbClr val="1F2D3D"/>
                </a:solidFill>
                <a:latin typeface="Calibri" pitchFamily="34" charset="0"/>
                <a:ea typeface="Calibri" pitchFamily="34" charset="-122"/>
                <a:cs typeface="Calibri" pitchFamily="34" charset="-120"/>
              </a:rPr>
              <a:t>TemperatureSensor and VibrationSensor extend a shared Sensor base class, reusing its common contract.</a:t>
            </a:r>
            <a:endParaRPr lang="en-US" sz="1350" dirty="0"/>
          </a:p>
        </p:txBody>
      </p:sp>
      <p:sp>
        <p:nvSpPr>
          <p:cNvPr id="24" name="Shape 22"/>
          <p:cNvSpPr/>
          <p:nvPr/>
        </p:nvSpPr>
        <p:spPr>
          <a:xfrm>
            <a:off x="6318504" y="4032504"/>
            <a:ext cx="5413248" cy="1993392"/>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25" name="Shape 23"/>
          <p:cNvSpPr/>
          <p:nvPr/>
        </p:nvSpPr>
        <p:spPr>
          <a:xfrm>
            <a:off x="6318504" y="4032504"/>
            <a:ext cx="5413248" cy="91440"/>
          </a:xfrm>
          <a:prstGeom prst="rect">
            <a:avLst/>
          </a:prstGeom>
          <a:solidFill>
            <a:srgbClr val="B26A00"/>
          </a:solidFill>
          <a:ln/>
        </p:spPr>
        <p:txBody>
          <a:bodyPr/>
          <a:lstStyle/>
          <a:p>
            <a:endParaRPr lang="LID4096"/>
          </a:p>
        </p:txBody>
      </p:sp>
      <p:sp>
        <p:nvSpPr>
          <p:cNvPr id="26" name="Shape 24"/>
          <p:cNvSpPr/>
          <p:nvPr/>
        </p:nvSpPr>
        <p:spPr>
          <a:xfrm>
            <a:off x="6611112" y="4416552"/>
            <a:ext cx="713232" cy="713232"/>
          </a:xfrm>
          <a:prstGeom prst="ellipse">
            <a:avLst/>
          </a:prstGeom>
          <a:solidFill>
            <a:srgbClr val="B26A00"/>
          </a:solidFill>
          <a:ln/>
        </p:spPr>
        <p:txBody>
          <a:bodyPr/>
          <a:lstStyle/>
          <a:p>
            <a:endParaRPr lang="LID4096"/>
          </a:p>
        </p:txBody>
      </p:sp>
      <p:sp>
        <p:nvSpPr>
          <p:cNvPr id="27" name="Text 25"/>
          <p:cNvSpPr/>
          <p:nvPr/>
        </p:nvSpPr>
        <p:spPr>
          <a:xfrm>
            <a:off x="6611112" y="4416552"/>
            <a:ext cx="713232" cy="713232"/>
          </a:xfrm>
          <a:prstGeom prst="rect">
            <a:avLst/>
          </a:prstGeom>
          <a:noFill/>
          <a:ln/>
        </p:spPr>
        <p:txBody>
          <a:bodyPr wrap="square" lIns="0" tIns="0" rIns="0" bIns="0" rtlCol="0" anchor="ctr"/>
          <a:lstStyle/>
          <a:p>
            <a:pPr marL="0" indent="0" algn="ctr">
              <a:buNone/>
            </a:pPr>
            <a:r>
              <a:rPr lang="en-US" sz="3000" b="1" dirty="0">
                <a:solidFill>
                  <a:srgbClr val="FFFFFF"/>
                </a:solidFill>
                <a:latin typeface="Trebuchet MS" pitchFamily="34" charset="0"/>
                <a:ea typeface="Trebuchet MS" pitchFamily="34" charset="-122"/>
                <a:cs typeface="Trebuchet MS" pitchFamily="34" charset="-120"/>
              </a:rPr>
              <a:t>4</a:t>
            </a:r>
            <a:endParaRPr lang="en-US" sz="3000" dirty="0"/>
          </a:p>
        </p:txBody>
      </p:sp>
      <p:sp>
        <p:nvSpPr>
          <p:cNvPr id="28" name="Text 26"/>
          <p:cNvSpPr/>
          <p:nvPr/>
        </p:nvSpPr>
        <p:spPr>
          <a:xfrm>
            <a:off x="7552944" y="4416552"/>
            <a:ext cx="3950208" cy="457200"/>
          </a:xfrm>
          <a:prstGeom prst="rect">
            <a:avLst/>
          </a:prstGeom>
          <a:noFill/>
          <a:ln/>
        </p:spPr>
        <p:txBody>
          <a:bodyPr wrap="square" lIns="0" tIns="0" rIns="0" bIns="0" rtlCol="0" anchor="ctr"/>
          <a:lstStyle/>
          <a:p>
            <a:pPr marL="0" indent="0">
              <a:buNone/>
            </a:pPr>
            <a:r>
              <a:rPr lang="en-US" sz="1900" b="1" dirty="0">
                <a:solidFill>
                  <a:srgbClr val="0E2A47"/>
                </a:solidFill>
                <a:latin typeface="Trebuchet MS" pitchFamily="34" charset="0"/>
                <a:ea typeface="Trebuchet MS" pitchFamily="34" charset="-122"/>
                <a:cs typeface="Trebuchet MS" pitchFamily="34" charset="-120"/>
              </a:rPr>
              <a:t>Polymorphism</a:t>
            </a:r>
            <a:endParaRPr lang="en-US" sz="1900" dirty="0"/>
          </a:p>
        </p:txBody>
      </p:sp>
      <p:sp>
        <p:nvSpPr>
          <p:cNvPr id="29" name="Text 27"/>
          <p:cNvSpPr/>
          <p:nvPr/>
        </p:nvSpPr>
        <p:spPr>
          <a:xfrm>
            <a:off x="7552944" y="4901184"/>
            <a:ext cx="3904488" cy="960120"/>
          </a:xfrm>
          <a:prstGeom prst="rect">
            <a:avLst/>
          </a:prstGeom>
          <a:noFill/>
          <a:ln/>
        </p:spPr>
        <p:txBody>
          <a:bodyPr wrap="square" lIns="0" tIns="0" rIns="0" bIns="0" rtlCol="0" anchor="t"/>
          <a:lstStyle/>
          <a:p>
            <a:pPr marL="0" indent="0">
              <a:lnSpc>
                <a:spcPct val="112000"/>
              </a:lnSpc>
              <a:buNone/>
            </a:pPr>
            <a:r>
              <a:rPr lang="en-US" sz="1350" dirty="0">
                <a:solidFill>
                  <a:srgbClr val="1F2D3D"/>
                </a:solidFill>
                <a:latin typeface="Calibri" pitchFamily="34" charset="0"/>
                <a:ea typeface="Calibri" pitchFamily="34" charset="-122"/>
                <a:cs typeface="Calibri" pitchFamily="34" charset="-120"/>
              </a:rPr>
              <a:t>A single readValue() call resolves to the correct sensor implementation at runtime through a base pointer.</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9F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FFFFFF"/>
          </a:solidFill>
          <a:ln/>
        </p:spPr>
        <p:txBody>
          <a:bodyPr/>
          <a:lstStyle/>
          <a:p>
            <a:endParaRPr lang="LID4096"/>
          </a:p>
        </p:txBody>
      </p:sp>
      <p:sp>
        <p:nvSpPr>
          <p:cNvPr id="3" name="Shape 1"/>
          <p:cNvSpPr/>
          <p:nvPr/>
        </p:nvSpPr>
        <p:spPr>
          <a:xfrm>
            <a:off x="0" y="0"/>
            <a:ext cx="201168" cy="1371600"/>
          </a:xfrm>
          <a:prstGeom prst="rect">
            <a:avLst/>
          </a:prstGeom>
          <a:solidFill>
            <a:srgbClr val="0FB5D6"/>
          </a:solidFill>
          <a:ln/>
        </p:spPr>
        <p:txBody>
          <a:bodyPr/>
          <a:lstStyle/>
          <a:p>
            <a:endParaRPr lang="LID4096"/>
          </a:p>
        </p:txBody>
      </p:sp>
      <p:sp>
        <p:nvSpPr>
          <p:cNvPr id="4" name="Text 2"/>
          <p:cNvSpPr/>
          <p:nvPr/>
        </p:nvSpPr>
        <p:spPr>
          <a:xfrm>
            <a:off x="640080" y="310896"/>
            <a:ext cx="10058400" cy="292608"/>
          </a:xfrm>
          <a:prstGeom prst="rect">
            <a:avLst/>
          </a:prstGeom>
          <a:noFill/>
          <a:ln/>
        </p:spPr>
        <p:txBody>
          <a:bodyPr wrap="square" lIns="0" tIns="0" rIns="0" bIns="0" rtlCol="0" anchor="ctr"/>
          <a:lstStyle/>
          <a:p>
            <a:pPr marL="0" indent="0">
              <a:buNone/>
            </a:pPr>
            <a:r>
              <a:rPr lang="en-US" sz="1200" b="1" kern="0" spc="300" dirty="0">
                <a:solidFill>
                  <a:srgbClr val="1565C0"/>
                </a:solidFill>
                <a:latin typeface="Trebuchet MS" pitchFamily="34" charset="0"/>
                <a:ea typeface="Trebuchet MS" pitchFamily="34" charset="-122"/>
                <a:cs typeface="Trebuchet MS" pitchFamily="34" charset="-120"/>
              </a:rPr>
              <a:t>DEMONSTRATION WORKFLOW</a:t>
            </a:r>
            <a:endParaRPr lang="en-US" sz="1200" dirty="0"/>
          </a:p>
        </p:txBody>
      </p:sp>
      <p:sp>
        <p:nvSpPr>
          <p:cNvPr id="5" name="Text 3"/>
          <p:cNvSpPr/>
          <p:nvPr/>
        </p:nvSpPr>
        <p:spPr>
          <a:xfrm>
            <a:off x="640080" y="566928"/>
            <a:ext cx="10972800" cy="640080"/>
          </a:xfrm>
          <a:prstGeom prst="rect">
            <a:avLst/>
          </a:prstGeom>
          <a:noFill/>
          <a:ln/>
        </p:spPr>
        <p:txBody>
          <a:bodyPr wrap="square" lIns="0" tIns="0" rIns="0" bIns="0" rtlCol="0" anchor="ctr"/>
          <a:lstStyle/>
          <a:p>
            <a:pPr marL="0" indent="0">
              <a:buNone/>
            </a:pPr>
            <a:r>
              <a:rPr lang="en-US" sz="2800" b="1" dirty="0">
                <a:solidFill>
                  <a:srgbClr val="0E2A47"/>
                </a:solidFill>
                <a:latin typeface="Trebuchet MS" pitchFamily="34" charset="0"/>
                <a:ea typeface="Trebuchet MS" pitchFamily="34" charset="-122"/>
                <a:cs typeface="Trebuchet MS" pitchFamily="34" charset="-120"/>
              </a:rPr>
              <a:t>From machine start to dashboard update</a:t>
            </a:r>
            <a:endParaRPr lang="en-US" sz="2800" dirty="0"/>
          </a:p>
        </p:txBody>
      </p:sp>
      <p:sp>
        <p:nvSpPr>
          <p:cNvPr id="6" name="Shape 4"/>
          <p:cNvSpPr/>
          <p:nvPr/>
        </p:nvSpPr>
        <p:spPr>
          <a:xfrm>
            <a:off x="640080" y="1920240"/>
            <a:ext cx="2542032" cy="1417320"/>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7" name="Shape 5"/>
          <p:cNvSpPr/>
          <p:nvPr/>
        </p:nvSpPr>
        <p:spPr>
          <a:xfrm>
            <a:off x="804672" y="2084832"/>
            <a:ext cx="566928" cy="566928"/>
          </a:xfrm>
          <a:prstGeom prst="ellipse">
            <a:avLst/>
          </a:prstGeom>
          <a:solidFill>
            <a:srgbClr val="1565C0"/>
          </a:solidFill>
          <a:ln/>
        </p:spPr>
        <p:txBody>
          <a:bodyPr/>
          <a:lstStyle/>
          <a:p>
            <a:endParaRPr lang="LID4096"/>
          </a:p>
        </p:txBody>
      </p:sp>
      <p:sp>
        <p:nvSpPr>
          <p:cNvPr id="8" name="Text 6"/>
          <p:cNvSpPr/>
          <p:nvPr/>
        </p:nvSpPr>
        <p:spPr>
          <a:xfrm>
            <a:off x="804672" y="2084832"/>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1</a:t>
            </a:r>
            <a:endParaRPr lang="en-US" sz="2000" dirty="0"/>
          </a:p>
        </p:txBody>
      </p:sp>
      <p:sp>
        <p:nvSpPr>
          <p:cNvPr id="9" name="Text 7"/>
          <p:cNvSpPr/>
          <p:nvPr/>
        </p:nvSpPr>
        <p:spPr>
          <a:xfrm>
            <a:off x="1508760" y="2011680"/>
            <a:ext cx="1536192" cy="1234440"/>
          </a:xfrm>
          <a:prstGeom prst="rect">
            <a:avLst/>
          </a:prstGeom>
          <a:noFill/>
          <a:ln/>
        </p:spPr>
        <p:txBody>
          <a:bodyPr wrap="square" lIns="0" tIns="0" rIns="0" bIns="0" rtlCol="0" anchor="ctr"/>
          <a:lstStyle/>
          <a:p>
            <a:pPr marL="0" indent="0">
              <a:lnSpc>
                <a:spcPct val="100000"/>
              </a:lnSpc>
              <a:buNone/>
            </a:pPr>
            <a:r>
              <a:rPr lang="en-US" sz="1450" b="1" dirty="0">
                <a:solidFill>
                  <a:srgbClr val="0E2A47"/>
                </a:solidFill>
                <a:latin typeface="Trebuchet MS" pitchFamily="34" charset="0"/>
                <a:ea typeface="Trebuchet MS" pitchFamily="34" charset="-122"/>
                <a:cs typeface="Trebuchet MS" pitchFamily="34" charset="-120"/>
              </a:rPr>
              <a:t>Machine starts</a:t>
            </a:r>
            <a:endParaRPr lang="en-US" sz="1450" dirty="0"/>
          </a:p>
        </p:txBody>
      </p:sp>
      <p:sp>
        <p:nvSpPr>
          <p:cNvPr id="10" name="Shape 8"/>
          <p:cNvSpPr/>
          <p:nvPr/>
        </p:nvSpPr>
        <p:spPr>
          <a:xfrm>
            <a:off x="3182112" y="2628900"/>
            <a:ext cx="246888" cy="0"/>
          </a:xfrm>
          <a:prstGeom prst="line">
            <a:avLst/>
          </a:prstGeom>
          <a:noFill/>
          <a:ln w="28575">
            <a:solidFill>
              <a:srgbClr val="1565C0"/>
            </a:solidFill>
            <a:prstDash val="solid"/>
            <a:tailEnd type="triangle"/>
          </a:ln>
        </p:spPr>
        <p:txBody>
          <a:bodyPr/>
          <a:lstStyle/>
          <a:p>
            <a:endParaRPr lang="LID4096"/>
          </a:p>
        </p:txBody>
      </p:sp>
      <p:sp>
        <p:nvSpPr>
          <p:cNvPr id="11" name="Shape 9"/>
          <p:cNvSpPr/>
          <p:nvPr/>
        </p:nvSpPr>
        <p:spPr>
          <a:xfrm>
            <a:off x="3429000" y="1920240"/>
            <a:ext cx="2542032" cy="1417320"/>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12" name="Shape 10"/>
          <p:cNvSpPr/>
          <p:nvPr/>
        </p:nvSpPr>
        <p:spPr>
          <a:xfrm>
            <a:off x="3593592" y="2084832"/>
            <a:ext cx="566928" cy="566928"/>
          </a:xfrm>
          <a:prstGeom prst="ellipse">
            <a:avLst/>
          </a:prstGeom>
          <a:solidFill>
            <a:srgbClr val="0FB5D6"/>
          </a:solidFill>
          <a:ln/>
        </p:spPr>
        <p:txBody>
          <a:bodyPr/>
          <a:lstStyle/>
          <a:p>
            <a:endParaRPr lang="LID4096"/>
          </a:p>
        </p:txBody>
      </p:sp>
      <p:sp>
        <p:nvSpPr>
          <p:cNvPr id="13" name="Text 11"/>
          <p:cNvSpPr/>
          <p:nvPr/>
        </p:nvSpPr>
        <p:spPr>
          <a:xfrm>
            <a:off x="3593592" y="2084832"/>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2</a:t>
            </a:r>
            <a:endParaRPr lang="en-US" sz="2000" dirty="0"/>
          </a:p>
        </p:txBody>
      </p:sp>
      <p:sp>
        <p:nvSpPr>
          <p:cNvPr id="14" name="Text 12"/>
          <p:cNvSpPr/>
          <p:nvPr/>
        </p:nvSpPr>
        <p:spPr>
          <a:xfrm>
            <a:off x="4297680" y="2011680"/>
            <a:ext cx="1536192" cy="1234440"/>
          </a:xfrm>
          <a:prstGeom prst="rect">
            <a:avLst/>
          </a:prstGeom>
          <a:noFill/>
          <a:ln/>
        </p:spPr>
        <p:txBody>
          <a:bodyPr wrap="square" lIns="0" tIns="0" rIns="0" bIns="0" rtlCol="0" anchor="ctr"/>
          <a:lstStyle/>
          <a:p>
            <a:pPr marL="0" indent="0">
              <a:lnSpc>
                <a:spcPct val="100000"/>
              </a:lnSpc>
              <a:buNone/>
            </a:pPr>
            <a:r>
              <a:rPr lang="en-US" sz="1450" b="1" dirty="0">
                <a:solidFill>
                  <a:srgbClr val="0E2A47"/>
                </a:solidFill>
                <a:latin typeface="Trebuchet MS" pitchFamily="34" charset="0"/>
                <a:ea typeface="Trebuchet MS" pitchFamily="34" charset="-122"/>
                <a:cs typeface="Trebuchet MS" pitchFamily="34" charset="-120"/>
              </a:rPr>
              <a:t>Read temperature &amp; vibration</a:t>
            </a:r>
            <a:endParaRPr lang="en-US" sz="1450" dirty="0"/>
          </a:p>
        </p:txBody>
      </p:sp>
      <p:sp>
        <p:nvSpPr>
          <p:cNvPr id="15" name="Shape 13"/>
          <p:cNvSpPr/>
          <p:nvPr/>
        </p:nvSpPr>
        <p:spPr>
          <a:xfrm>
            <a:off x="5971032" y="2628900"/>
            <a:ext cx="246888" cy="0"/>
          </a:xfrm>
          <a:prstGeom prst="line">
            <a:avLst/>
          </a:prstGeom>
          <a:noFill/>
          <a:ln w="28575">
            <a:solidFill>
              <a:srgbClr val="1565C0"/>
            </a:solidFill>
            <a:prstDash val="solid"/>
            <a:tailEnd type="triangle"/>
          </a:ln>
        </p:spPr>
        <p:txBody>
          <a:bodyPr/>
          <a:lstStyle/>
          <a:p>
            <a:endParaRPr lang="LID4096"/>
          </a:p>
        </p:txBody>
      </p:sp>
      <p:sp>
        <p:nvSpPr>
          <p:cNvPr id="16" name="Shape 14"/>
          <p:cNvSpPr/>
          <p:nvPr/>
        </p:nvSpPr>
        <p:spPr>
          <a:xfrm>
            <a:off x="6217920" y="1920240"/>
            <a:ext cx="2542032" cy="1417320"/>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17" name="Shape 15"/>
          <p:cNvSpPr/>
          <p:nvPr/>
        </p:nvSpPr>
        <p:spPr>
          <a:xfrm>
            <a:off x="6382512" y="2084832"/>
            <a:ext cx="566928" cy="566928"/>
          </a:xfrm>
          <a:prstGeom prst="ellipse">
            <a:avLst/>
          </a:prstGeom>
          <a:solidFill>
            <a:srgbClr val="1565C0"/>
          </a:solidFill>
          <a:ln/>
        </p:spPr>
        <p:txBody>
          <a:bodyPr/>
          <a:lstStyle/>
          <a:p>
            <a:endParaRPr lang="LID4096"/>
          </a:p>
        </p:txBody>
      </p:sp>
      <p:sp>
        <p:nvSpPr>
          <p:cNvPr id="18" name="Text 16"/>
          <p:cNvSpPr/>
          <p:nvPr/>
        </p:nvSpPr>
        <p:spPr>
          <a:xfrm>
            <a:off x="6382512" y="2084832"/>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3</a:t>
            </a:r>
            <a:endParaRPr lang="en-US" sz="2000" dirty="0"/>
          </a:p>
        </p:txBody>
      </p:sp>
      <p:sp>
        <p:nvSpPr>
          <p:cNvPr id="19" name="Text 17"/>
          <p:cNvSpPr/>
          <p:nvPr/>
        </p:nvSpPr>
        <p:spPr>
          <a:xfrm>
            <a:off x="7086600" y="2011680"/>
            <a:ext cx="1536192" cy="1234440"/>
          </a:xfrm>
          <a:prstGeom prst="rect">
            <a:avLst/>
          </a:prstGeom>
          <a:noFill/>
          <a:ln/>
        </p:spPr>
        <p:txBody>
          <a:bodyPr wrap="square" lIns="0" tIns="0" rIns="0" bIns="0" rtlCol="0" anchor="ctr"/>
          <a:lstStyle/>
          <a:p>
            <a:pPr marL="0" indent="0">
              <a:lnSpc>
                <a:spcPct val="100000"/>
              </a:lnSpc>
              <a:buNone/>
            </a:pPr>
            <a:r>
              <a:rPr lang="en-US" sz="1450" b="1" dirty="0">
                <a:solidFill>
                  <a:srgbClr val="0E2A47"/>
                </a:solidFill>
                <a:latin typeface="Trebuchet MS" pitchFamily="34" charset="0"/>
                <a:ea typeface="Trebuchet MS" pitchFamily="34" charset="-122"/>
                <a:cs typeface="Trebuchet MS" pitchFamily="34" charset="-120"/>
              </a:rPr>
              <a:t>Calculate health score</a:t>
            </a:r>
            <a:endParaRPr lang="en-US" sz="1450" dirty="0"/>
          </a:p>
        </p:txBody>
      </p:sp>
      <p:sp>
        <p:nvSpPr>
          <p:cNvPr id="20" name="Shape 18"/>
          <p:cNvSpPr/>
          <p:nvPr/>
        </p:nvSpPr>
        <p:spPr>
          <a:xfrm>
            <a:off x="8759952" y="2628900"/>
            <a:ext cx="246888" cy="0"/>
          </a:xfrm>
          <a:prstGeom prst="line">
            <a:avLst/>
          </a:prstGeom>
          <a:noFill/>
          <a:ln w="28575">
            <a:solidFill>
              <a:srgbClr val="1565C0"/>
            </a:solidFill>
            <a:prstDash val="solid"/>
            <a:tailEnd type="triangle"/>
          </a:ln>
        </p:spPr>
        <p:txBody>
          <a:bodyPr/>
          <a:lstStyle/>
          <a:p>
            <a:endParaRPr lang="LID4096"/>
          </a:p>
        </p:txBody>
      </p:sp>
      <p:sp>
        <p:nvSpPr>
          <p:cNvPr id="21" name="Shape 19"/>
          <p:cNvSpPr/>
          <p:nvPr/>
        </p:nvSpPr>
        <p:spPr>
          <a:xfrm>
            <a:off x="9006840" y="1920240"/>
            <a:ext cx="2542032" cy="1417320"/>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22" name="Shape 20"/>
          <p:cNvSpPr/>
          <p:nvPr/>
        </p:nvSpPr>
        <p:spPr>
          <a:xfrm>
            <a:off x="9171432" y="2084832"/>
            <a:ext cx="566928" cy="566928"/>
          </a:xfrm>
          <a:prstGeom prst="ellipse">
            <a:avLst/>
          </a:prstGeom>
          <a:solidFill>
            <a:srgbClr val="0FB5D6"/>
          </a:solidFill>
          <a:ln/>
        </p:spPr>
        <p:txBody>
          <a:bodyPr/>
          <a:lstStyle/>
          <a:p>
            <a:endParaRPr lang="LID4096"/>
          </a:p>
        </p:txBody>
      </p:sp>
      <p:sp>
        <p:nvSpPr>
          <p:cNvPr id="23" name="Text 21"/>
          <p:cNvSpPr/>
          <p:nvPr/>
        </p:nvSpPr>
        <p:spPr>
          <a:xfrm>
            <a:off x="9171432" y="2084832"/>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4</a:t>
            </a:r>
            <a:endParaRPr lang="en-US" sz="2000" dirty="0"/>
          </a:p>
        </p:txBody>
      </p:sp>
      <p:sp>
        <p:nvSpPr>
          <p:cNvPr id="24" name="Text 22"/>
          <p:cNvSpPr/>
          <p:nvPr/>
        </p:nvSpPr>
        <p:spPr>
          <a:xfrm>
            <a:off x="9875520" y="2011680"/>
            <a:ext cx="1536192" cy="1234440"/>
          </a:xfrm>
          <a:prstGeom prst="rect">
            <a:avLst/>
          </a:prstGeom>
          <a:noFill/>
          <a:ln/>
        </p:spPr>
        <p:txBody>
          <a:bodyPr wrap="square" lIns="0" tIns="0" rIns="0" bIns="0" rtlCol="0" anchor="ctr"/>
          <a:lstStyle/>
          <a:p>
            <a:pPr marL="0" indent="0">
              <a:lnSpc>
                <a:spcPct val="100000"/>
              </a:lnSpc>
              <a:buNone/>
            </a:pPr>
            <a:r>
              <a:rPr lang="en-US" sz="1450" b="1" dirty="0">
                <a:solidFill>
                  <a:srgbClr val="0E2A47"/>
                </a:solidFill>
                <a:latin typeface="Trebuchet MS" pitchFamily="34" charset="0"/>
                <a:ea typeface="Trebuchet MS" pitchFamily="34" charset="-122"/>
                <a:cs typeface="Trebuchet MS" pitchFamily="34" charset="-120"/>
              </a:rPr>
              <a:t>Predict failure</a:t>
            </a:r>
            <a:endParaRPr lang="en-US" sz="1450" dirty="0"/>
          </a:p>
        </p:txBody>
      </p:sp>
      <p:sp>
        <p:nvSpPr>
          <p:cNvPr id="25" name="Shape 23"/>
          <p:cNvSpPr/>
          <p:nvPr/>
        </p:nvSpPr>
        <p:spPr>
          <a:xfrm>
            <a:off x="10277856" y="3337560"/>
            <a:ext cx="0" cy="777240"/>
          </a:xfrm>
          <a:prstGeom prst="line">
            <a:avLst/>
          </a:prstGeom>
          <a:noFill/>
          <a:ln w="28575">
            <a:solidFill>
              <a:srgbClr val="1565C0"/>
            </a:solidFill>
            <a:prstDash val="solid"/>
            <a:tailEnd type="triangle"/>
          </a:ln>
        </p:spPr>
        <p:txBody>
          <a:bodyPr/>
          <a:lstStyle/>
          <a:p>
            <a:endParaRPr lang="LID4096"/>
          </a:p>
        </p:txBody>
      </p:sp>
      <p:sp>
        <p:nvSpPr>
          <p:cNvPr id="26" name="Shape 24"/>
          <p:cNvSpPr/>
          <p:nvPr/>
        </p:nvSpPr>
        <p:spPr>
          <a:xfrm>
            <a:off x="9006840" y="4114800"/>
            <a:ext cx="2542032" cy="1417320"/>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27" name="Shape 25"/>
          <p:cNvSpPr/>
          <p:nvPr/>
        </p:nvSpPr>
        <p:spPr>
          <a:xfrm>
            <a:off x="9171432" y="4279392"/>
            <a:ext cx="566928" cy="566928"/>
          </a:xfrm>
          <a:prstGeom prst="ellipse">
            <a:avLst/>
          </a:prstGeom>
          <a:solidFill>
            <a:srgbClr val="1565C0"/>
          </a:solidFill>
          <a:ln/>
        </p:spPr>
        <p:txBody>
          <a:bodyPr/>
          <a:lstStyle/>
          <a:p>
            <a:endParaRPr lang="LID4096"/>
          </a:p>
        </p:txBody>
      </p:sp>
      <p:sp>
        <p:nvSpPr>
          <p:cNvPr id="28" name="Text 26"/>
          <p:cNvSpPr/>
          <p:nvPr/>
        </p:nvSpPr>
        <p:spPr>
          <a:xfrm>
            <a:off x="9171432" y="4279392"/>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5</a:t>
            </a:r>
            <a:endParaRPr lang="en-US" sz="2000" dirty="0"/>
          </a:p>
        </p:txBody>
      </p:sp>
      <p:sp>
        <p:nvSpPr>
          <p:cNvPr id="29" name="Text 27"/>
          <p:cNvSpPr/>
          <p:nvPr/>
        </p:nvSpPr>
        <p:spPr>
          <a:xfrm>
            <a:off x="9875520" y="4206240"/>
            <a:ext cx="1536192" cy="1234440"/>
          </a:xfrm>
          <a:prstGeom prst="rect">
            <a:avLst/>
          </a:prstGeom>
          <a:noFill/>
          <a:ln/>
        </p:spPr>
        <p:txBody>
          <a:bodyPr wrap="square" lIns="0" tIns="0" rIns="0" bIns="0" rtlCol="0" anchor="ctr"/>
          <a:lstStyle/>
          <a:p>
            <a:pPr marL="0" indent="0">
              <a:lnSpc>
                <a:spcPct val="100000"/>
              </a:lnSpc>
              <a:buNone/>
            </a:pPr>
            <a:r>
              <a:rPr lang="en-US" sz="1450" b="1" dirty="0">
                <a:solidFill>
                  <a:srgbClr val="0E2A47"/>
                </a:solidFill>
                <a:latin typeface="Trebuchet MS" pitchFamily="34" charset="0"/>
                <a:ea typeface="Trebuchet MS" pitchFamily="34" charset="-122"/>
                <a:cs typeface="Trebuchet MS" pitchFamily="34" charset="-120"/>
              </a:rPr>
              <a:t>Generate maintenance alert</a:t>
            </a:r>
            <a:endParaRPr lang="en-US" sz="1450" dirty="0"/>
          </a:p>
        </p:txBody>
      </p:sp>
      <p:sp>
        <p:nvSpPr>
          <p:cNvPr id="30" name="Shape 28"/>
          <p:cNvSpPr/>
          <p:nvPr/>
        </p:nvSpPr>
        <p:spPr>
          <a:xfrm>
            <a:off x="8759952" y="4823460"/>
            <a:ext cx="246888" cy="0"/>
          </a:xfrm>
          <a:prstGeom prst="line">
            <a:avLst/>
          </a:prstGeom>
          <a:noFill/>
          <a:ln w="28575">
            <a:solidFill>
              <a:srgbClr val="0FB5D6"/>
            </a:solidFill>
            <a:prstDash val="solid"/>
            <a:headEnd type="triangle"/>
          </a:ln>
        </p:spPr>
        <p:txBody>
          <a:bodyPr/>
          <a:lstStyle/>
          <a:p>
            <a:endParaRPr lang="LID4096"/>
          </a:p>
        </p:txBody>
      </p:sp>
      <p:sp>
        <p:nvSpPr>
          <p:cNvPr id="31" name="Shape 29"/>
          <p:cNvSpPr/>
          <p:nvPr/>
        </p:nvSpPr>
        <p:spPr>
          <a:xfrm>
            <a:off x="6217920" y="4114800"/>
            <a:ext cx="2542032" cy="1417320"/>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32" name="Shape 30"/>
          <p:cNvSpPr/>
          <p:nvPr/>
        </p:nvSpPr>
        <p:spPr>
          <a:xfrm>
            <a:off x="6382512" y="4279392"/>
            <a:ext cx="566928" cy="566928"/>
          </a:xfrm>
          <a:prstGeom prst="ellipse">
            <a:avLst/>
          </a:prstGeom>
          <a:solidFill>
            <a:srgbClr val="0FB5D6"/>
          </a:solidFill>
          <a:ln/>
        </p:spPr>
        <p:txBody>
          <a:bodyPr/>
          <a:lstStyle/>
          <a:p>
            <a:endParaRPr lang="LID4096"/>
          </a:p>
        </p:txBody>
      </p:sp>
      <p:sp>
        <p:nvSpPr>
          <p:cNvPr id="33" name="Text 31"/>
          <p:cNvSpPr/>
          <p:nvPr/>
        </p:nvSpPr>
        <p:spPr>
          <a:xfrm>
            <a:off x="6382512" y="4279392"/>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6</a:t>
            </a:r>
            <a:endParaRPr lang="en-US" sz="2000" dirty="0"/>
          </a:p>
        </p:txBody>
      </p:sp>
      <p:sp>
        <p:nvSpPr>
          <p:cNvPr id="34" name="Text 32"/>
          <p:cNvSpPr/>
          <p:nvPr/>
        </p:nvSpPr>
        <p:spPr>
          <a:xfrm>
            <a:off x="7086600" y="4206240"/>
            <a:ext cx="1536192" cy="1234440"/>
          </a:xfrm>
          <a:prstGeom prst="rect">
            <a:avLst/>
          </a:prstGeom>
          <a:noFill/>
          <a:ln/>
        </p:spPr>
        <p:txBody>
          <a:bodyPr wrap="square" lIns="0" tIns="0" rIns="0" bIns="0" rtlCol="0" anchor="ctr"/>
          <a:lstStyle/>
          <a:p>
            <a:pPr marL="0" indent="0">
              <a:lnSpc>
                <a:spcPct val="100000"/>
              </a:lnSpc>
              <a:buNone/>
            </a:pPr>
            <a:r>
              <a:rPr lang="en-US" sz="1450" b="1" dirty="0">
                <a:solidFill>
                  <a:srgbClr val="0E2A47"/>
                </a:solidFill>
                <a:latin typeface="Trebuchet MS" pitchFamily="34" charset="0"/>
                <a:ea typeface="Trebuchet MS" pitchFamily="34" charset="-122"/>
                <a:cs typeface="Trebuchet MS" pitchFamily="34" charset="-120"/>
              </a:rPr>
              <a:t>Assign manufacturing job</a:t>
            </a:r>
            <a:endParaRPr lang="en-US" sz="1450" dirty="0"/>
          </a:p>
        </p:txBody>
      </p:sp>
      <p:sp>
        <p:nvSpPr>
          <p:cNvPr id="35" name="Shape 33"/>
          <p:cNvSpPr/>
          <p:nvPr/>
        </p:nvSpPr>
        <p:spPr>
          <a:xfrm>
            <a:off x="5971032" y="4823460"/>
            <a:ext cx="246888" cy="0"/>
          </a:xfrm>
          <a:prstGeom prst="line">
            <a:avLst/>
          </a:prstGeom>
          <a:noFill/>
          <a:ln w="28575">
            <a:solidFill>
              <a:srgbClr val="0FB5D6"/>
            </a:solidFill>
            <a:prstDash val="solid"/>
            <a:headEnd type="triangle"/>
          </a:ln>
        </p:spPr>
        <p:txBody>
          <a:bodyPr/>
          <a:lstStyle/>
          <a:p>
            <a:endParaRPr lang="LID4096"/>
          </a:p>
        </p:txBody>
      </p:sp>
      <p:sp>
        <p:nvSpPr>
          <p:cNvPr id="36" name="Shape 34"/>
          <p:cNvSpPr/>
          <p:nvPr/>
        </p:nvSpPr>
        <p:spPr>
          <a:xfrm>
            <a:off x="3429000" y="4114800"/>
            <a:ext cx="2542032" cy="1417320"/>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37" name="Shape 35"/>
          <p:cNvSpPr/>
          <p:nvPr/>
        </p:nvSpPr>
        <p:spPr>
          <a:xfrm>
            <a:off x="3593592" y="4279392"/>
            <a:ext cx="566928" cy="566928"/>
          </a:xfrm>
          <a:prstGeom prst="ellipse">
            <a:avLst/>
          </a:prstGeom>
          <a:solidFill>
            <a:srgbClr val="1565C0"/>
          </a:solidFill>
          <a:ln/>
        </p:spPr>
        <p:txBody>
          <a:bodyPr/>
          <a:lstStyle/>
          <a:p>
            <a:endParaRPr lang="LID4096"/>
          </a:p>
        </p:txBody>
      </p:sp>
      <p:sp>
        <p:nvSpPr>
          <p:cNvPr id="38" name="Text 36"/>
          <p:cNvSpPr/>
          <p:nvPr/>
        </p:nvSpPr>
        <p:spPr>
          <a:xfrm>
            <a:off x="3593592" y="4279392"/>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7</a:t>
            </a:r>
            <a:endParaRPr lang="en-US" sz="2000" dirty="0"/>
          </a:p>
        </p:txBody>
      </p:sp>
      <p:sp>
        <p:nvSpPr>
          <p:cNvPr id="39" name="Text 37"/>
          <p:cNvSpPr/>
          <p:nvPr/>
        </p:nvSpPr>
        <p:spPr>
          <a:xfrm>
            <a:off x="4297680" y="4206240"/>
            <a:ext cx="1536192" cy="1234440"/>
          </a:xfrm>
          <a:prstGeom prst="rect">
            <a:avLst/>
          </a:prstGeom>
          <a:noFill/>
          <a:ln/>
        </p:spPr>
        <p:txBody>
          <a:bodyPr wrap="square" lIns="0" tIns="0" rIns="0" bIns="0" rtlCol="0" anchor="ctr"/>
          <a:lstStyle/>
          <a:p>
            <a:pPr marL="0" indent="0">
              <a:lnSpc>
                <a:spcPct val="100000"/>
              </a:lnSpc>
              <a:buNone/>
            </a:pPr>
            <a:r>
              <a:rPr lang="en-US" sz="1450" b="1" dirty="0">
                <a:solidFill>
                  <a:srgbClr val="0E2A47"/>
                </a:solidFill>
                <a:latin typeface="Trebuchet MS" pitchFamily="34" charset="0"/>
                <a:ea typeface="Trebuchet MS" pitchFamily="34" charset="-122"/>
                <a:cs typeface="Trebuchet MS" pitchFamily="34" charset="-120"/>
              </a:rPr>
              <a:t>Update dashboard</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9F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FFFFFF"/>
          </a:solidFill>
          <a:ln/>
        </p:spPr>
        <p:txBody>
          <a:bodyPr/>
          <a:lstStyle/>
          <a:p>
            <a:endParaRPr lang="LID4096"/>
          </a:p>
        </p:txBody>
      </p:sp>
      <p:sp>
        <p:nvSpPr>
          <p:cNvPr id="3" name="Shape 1"/>
          <p:cNvSpPr/>
          <p:nvPr/>
        </p:nvSpPr>
        <p:spPr>
          <a:xfrm>
            <a:off x="0" y="0"/>
            <a:ext cx="201168" cy="1371600"/>
          </a:xfrm>
          <a:prstGeom prst="rect">
            <a:avLst/>
          </a:prstGeom>
          <a:solidFill>
            <a:srgbClr val="0FB5D6"/>
          </a:solidFill>
          <a:ln/>
        </p:spPr>
        <p:txBody>
          <a:bodyPr/>
          <a:lstStyle/>
          <a:p>
            <a:endParaRPr lang="LID4096"/>
          </a:p>
        </p:txBody>
      </p:sp>
      <p:sp>
        <p:nvSpPr>
          <p:cNvPr id="4" name="Text 2"/>
          <p:cNvSpPr/>
          <p:nvPr/>
        </p:nvSpPr>
        <p:spPr>
          <a:xfrm>
            <a:off x="640080" y="310896"/>
            <a:ext cx="10058400" cy="292608"/>
          </a:xfrm>
          <a:prstGeom prst="rect">
            <a:avLst/>
          </a:prstGeom>
          <a:noFill/>
          <a:ln/>
        </p:spPr>
        <p:txBody>
          <a:bodyPr wrap="square" lIns="0" tIns="0" rIns="0" bIns="0" rtlCol="0" anchor="ctr"/>
          <a:lstStyle/>
          <a:p>
            <a:pPr marL="0" indent="0">
              <a:buNone/>
            </a:pPr>
            <a:r>
              <a:rPr lang="en-US" sz="1200" b="1" kern="0" spc="300" dirty="0">
                <a:solidFill>
                  <a:srgbClr val="1565C0"/>
                </a:solidFill>
                <a:latin typeface="Trebuchet MS" pitchFamily="34" charset="0"/>
                <a:ea typeface="Trebuchet MS" pitchFamily="34" charset="-122"/>
                <a:cs typeface="Trebuchet MS" pitchFamily="34" charset="-120"/>
              </a:rPr>
              <a:t>LIVE DEMO SCENARIO</a:t>
            </a:r>
            <a:endParaRPr lang="en-US" sz="1200" dirty="0"/>
          </a:p>
        </p:txBody>
      </p:sp>
      <p:sp>
        <p:nvSpPr>
          <p:cNvPr id="5" name="Text 3"/>
          <p:cNvSpPr/>
          <p:nvPr/>
        </p:nvSpPr>
        <p:spPr>
          <a:xfrm>
            <a:off x="640080" y="566928"/>
            <a:ext cx="10972800" cy="640080"/>
          </a:xfrm>
          <a:prstGeom prst="rect">
            <a:avLst/>
          </a:prstGeom>
          <a:noFill/>
          <a:ln/>
        </p:spPr>
        <p:txBody>
          <a:bodyPr wrap="square" lIns="0" tIns="0" rIns="0" bIns="0" rtlCol="0" anchor="ctr"/>
          <a:lstStyle/>
          <a:p>
            <a:pPr marL="0" indent="0">
              <a:buNone/>
            </a:pPr>
            <a:r>
              <a:rPr lang="en-US" sz="2800" b="1" dirty="0">
                <a:solidFill>
                  <a:srgbClr val="0E2A47"/>
                </a:solidFill>
                <a:latin typeface="Trebuchet MS" pitchFamily="34" charset="0"/>
                <a:ea typeface="Trebuchet MS" pitchFamily="34" charset="-122"/>
                <a:cs typeface="Trebuchet MS" pitchFamily="34" charset="-120"/>
              </a:rPr>
              <a:t>Watch a machine overheat — then recover</a:t>
            </a:r>
            <a:endParaRPr lang="en-US" sz="2800" dirty="0"/>
          </a:p>
        </p:txBody>
      </p:sp>
      <p:sp>
        <p:nvSpPr>
          <p:cNvPr id="6" name="Shape 4"/>
          <p:cNvSpPr/>
          <p:nvPr/>
        </p:nvSpPr>
        <p:spPr>
          <a:xfrm>
            <a:off x="640080" y="1828800"/>
            <a:ext cx="2494026" cy="4160520"/>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7" name="Shape 5"/>
          <p:cNvSpPr/>
          <p:nvPr/>
        </p:nvSpPr>
        <p:spPr>
          <a:xfrm>
            <a:off x="640080" y="1828800"/>
            <a:ext cx="2494026" cy="566928"/>
          </a:xfrm>
          <a:prstGeom prst="rect">
            <a:avLst/>
          </a:prstGeom>
          <a:solidFill>
            <a:srgbClr val="22C55E"/>
          </a:solidFill>
          <a:ln/>
        </p:spPr>
        <p:txBody>
          <a:bodyPr/>
          <a:lstStyle/>
          <a:p>
            <a:endParaRPr lang="LID4096"/>
          </a:p>
        </p:txBody>
      </p:sp>
      <p:sp>
        <p:nvSpPr>
          <p:cNvPr id="8" name="Text 6"/>
          <p:cNvSpPr/>
          <p:nvPr/>
        </p:nvSpPr>
        <p:spPr>
          <a:xfrm>
            <a:off x="804672" y="1883664"/>
            <a:ext cx="2164842" cy="219456"/>
          </a:xfrm>
          <a:prstGeom prst="rect">
            <a:avLst/>
          </a:prstGeom>
          <a:noFill/>
          <a:ln/>
        </p:spPr>
        <p:txBody>
          <a:bodyPr wrap="square" lIns="0" tIns="0" rIns="0" bIns="0" rtlCol="0" anchor="ctr"/>
          <a:lstStyle/>
          <a:p>
            <a:pPr marL="0" indent="0">
              <a:buNone/>
            </a:pPr>
            <a:r>
              <a:rPr lang="en-US" sz="950" b="1" kern="0" spc="200" dirty="0">
                <a:solidFill>
                  <a:srgbClr val="FFFFFF"/>
                </a:solidFill>
                <a:latin typeface="Trebuchet MS" pitchFamily="34" charset="0"/>
                <a:ea typeface="Trebuchet MS" pitchFamily="34" charset="-122"/>
                <a:cs typeface="Trebuchet MS" pitchFamily="34" charset="-120"/>
              </a:rPr>
              <a:t>STEP 1</a:t>
            </a:r>
            <a:endParaRPr lang="en-US" sz="950" dirty="0"/>
          </a:p>
        </p:txBody>
      </p:sp>
      <p:sp>
        <p:nvSpPr>
          <p:cNvPr id="9" name="Text 7"/>
          <p:cNvSpPr/>
          <p:nvPr/>
        </p:nvSpPr>
        <p:spPr>
          <a:xfrm>
            <a:off x="804672" y="2075688"/>
            <a:ext cx="2164842" cy="301752"/>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Normal</a:t>
            </a:r>
            <a:endParaRPr lang="en-US" sz="1500" dirty="0"/>
          </a:p>
        </p:txBody>
      </p:sp>
      <p:sp>
        <p:nvSpPr>
          <p:cNvPr id="10" name="Text 8"/>
          <p:cNvSpPr/>
          <p:nvPr/>
        </p:nvSpPr>
        <p:spPr>
          <a:xfrm>
            <a:off x="804672" y="2542032"/>
            <a:ext cx="2164842" cy="228600"/>
          </a:xfrm>
          <a:prstGeom prst="rect">
            <a:avLst/>
          </a:prstGeom>
          <a:noFill/>
          <a:ln/>
        </p:spPr>
        <p:txBody>
          <a:bodyPr wrap="square" lIns="0" tIns="0" rIns="0" bIns="0" rtlCol="0" anchor="ctr"/>
          <a:lstStyle/>
          <a:p>
            <a:pPr marL="0" indent="0">
              <a:buNone/>
            </a:pPr>
            <a:r>
              <a:rPr lang="en-US" sz="950" b="1" kern="0" spc="150" dirty="0">
                <a:solidFill>
                  <a:srgbClr val="5C6B7C"/>
                </a:solidFill>
                <a:latin typeface="Trebuchet MS" pitchFamily="34" charset="0"/>
                <a:ea typeface="Trebuchet MS" pitchFamily="34" charset="-122"/>
                <a:cs typeface="Trebuchet MS" pitchFamily="34" charset="-120"/>
              </a:rPr>
              <a:t>HEALTH</a:t>
            </a:r>
            <a:endParaRPr lang="en-US" sz="950" dirty="0"/>
          </a:p>
        </p:txBody>
      </p:sp>
      <p:sp>
        <p:nvSpPr>
          <p:cNvPr id="11" name="Text 9"/>
          <p:cNvSpPr/>
          <p:nvPr/>
        </p:nvSpPr>
        <p:spPr>
          <a:xfrm>
            <a:off x="804672" y="2724912"/>
            <a:ext cx="2164842" cy="868680"/>
          </a:xfrm>
          <a:prstGeom prst="rect">
            <a:avLst/>
          </a:prstGeom>
          <a:noFill/>
          <a:ln/>
        </p:spPr>
        <p:txBody>
          <a:bodyPr wrap="square" lIns="0" tIns="0" rIns="0" bIns="0" rtlCol="0" anchor="ctr"/>
          <a:lstStyle/>
          <a:p>
            <a:pPr marL="0" indent="0">
              <a:buNone/>
            </a:pPr>
            <a:r>
              <a:rPr lang="en-US" sz="4600" b="1" dirty="0">
                <a:solidFill>
                  <a:srgbClr val="22C55E"/>
                </a:solidFill>
                <a:latin typeface="Trebuchet MS" pitchFamily="34" charset="0"/>
                <a:ea typeface="Trebuchet MS" pitchFamily="34" charset="-122"/>
                <a:cs typeface="Trebuchet MS" pitchFamily="34" charset="-120"/>
              </a:rPr>
              <a:t>92</a:t>
            </a:r>
            <a:endParaRPr lang="en-US" sz="4600" dirty="0"/>
          </a:p>
        </p:txBody>
      </p:sp>
      <p:sp>
        <p:nvSpPr>
          <p:cNvPr id="12" name="Shape 10"/>
          <p:cNvSpPr/>
          <p:nvPr/>
        </p:nvSpPr>
        <p:spPr>
          <a:xfrm>
            <a:off x="804672" y="3657600"/>
            <a:ext cx="2164842" cy="0"/>
          </a:xfrm>
          <a:prstGeom prst="line">
            <a:avLst/>
          </a:prstGeom>
          <a:noFill/>
          <a:ln w="12700">
            <a:solidFill>
              <a:srgbClr val="D3E0EE"/>
            </a:solidFill>
            <a:prstDash val="solid"/>
          </a:ln>
        </p:spPr>
        <p:txBody>
          <a:bodyPr/>
          <a:lstStyle/>
          <a:p>
            <a:endParaRPr lang="LID4096"/>
          </a:p>
        </p:txBody>
      </p:sp>
      <p:sp>
        <p:nvSpPr>
          <p:cNvPr id="13" name="Text 11"/>
          <p:cNvSpPr/>
          <p:nvPr/>
        </p:nvSpPr>
        <p:spPr>
          <a:xfrm>
            <a:off x="804672" y="3749040"/>
            <a:ext cx="2164842" cy="310896"/>
          </a:xfrm>
          <a:prstGeom prst="rect">
            <a:avLst/>
          </a:prstGeom>
          <a:noFill/>
          <a:ln/>
        </p:spPr>
        <p:txBody>
          <a:bodyPr wrap="square" lIns="0" tIns="0" rIns="0" bIns="0" rtlCol="0" anchor="ctr"/>
          <a:lstStyle/>
          <a:p>
            <a:pPr marL="0" indent="0">
              <a:buNone/>
            </a:pPr>
            <a:r>
              <a:rPr lang="en-US" sz="1200" dirty="0">
                <a:solidFill>
                  <a:srgbClr val="5C6B7C"/>
                </a:solidFill>
                <a:latin typeface="Calibri" pitchFamily="34" charset="0"/>
                <a:ea typeface="Calibri" pitchFamily="34" charset="-122"/>
                <a:cs typeface="Calibri" pitchFamily="34" charset="-120"/>
              </a:rPr>
              <a:t>Temp  </a:t>
            </a:r>
            <a:r>
              <a:rPr lang="en-US" sz="1250" b="1" dirty="0">
                <a:solidFill>
                  <a:srgbClr val="0E2A47"/>
                </a:solidFill>
                <a:latin typeface="Trebuchet MS" pitchFamily="34" charset="0"/>
                <a:ea typeface="Trebuchet MS" pitchFamily="34" charset="-122"/>
                <a:cs typeface="Trebuchet MS" pitchFamily="34" charset="-120"/>
              </a:rPr>
              <a:t>38 °C</a:t>
            </a:r>
            <a:endParaRPr lang="en-US" sz="1200" dirty="0"/>
          </a:p>
        </p:txBody>
      </p:sp>
      <p:sp>
        <p:nvSpPr>
          <p:cNvPr id="14" name="Shape 12"/>
          <p:cNvSpPr/>
          <p:nvPr/>
        </p:nvSpPr>
        <p:spPr>
          <a:xfrm>
            <a:off x="822960" y="4206240"/>
            <a:ext cx="164592" cy="164592"/>
          </a:xfrm>
          <a:prstGeom prst="ellipse">
            <a:avLst/>
          </a:prstGeom>
          <a:solidFill>
            <a:srgbClr val="22C55E"/>
          </a:solidFill>
          <a:ln/>
        </p:spPr>
        <p:txBody>
          <a:bodyPr/>
          <a:lstStyle/>
          <a:p>
            <a:endParaRPr lang="LID4096"/>
          </a:p>
        </p:txBody>
      </p:sp>
      <p:sp>
        <p:nvSpPr>
          <p:cNvPr id="15" name="Text 13"/>
          <p:cNvSpPr/>
          <p:nvPr/>
        </p:nvSpPr>
        <p:spPr>
          <a:xfrm>
            <a:off x="1060704" y="4114800"/>
            <a:ext cx="1945386" cy="310896"/>
          </a:xfrm>
          <a:prstGeom prst="rect">
            <a:avLst/>
          </a:prstGeom>
          <a:noFill/>
          <a:ln/>
        </p:spPr>
        <p:txBody>
          <a:bodyPr wrap="square" lIns="0" tIns="0" rIns="0" bIns="0" rtlCol="0" anchor="ctr"/>
          <a:lstStyle/>
          <a:p>
            <a:pPr marL="0" indent="0">
              <a:buNone/>
            </a:pPr>
            <a:r>
              <a:rPr lang="en-US" sz="1200" b="1" dirty="0">
                <a:solidFill>
                  <a:srgbClr val="0E2A47"/>
                </a:solidFill>
                <a:latin typeface="Trebuchet MS" pitchFamily="34" charset="0"/>
                <a:ea typeface="Trebuchet MS" pitchFamily="34" charset="-122"/>
                <a:cs typeface="Trebuchet MS" pitchFamily="34" charset="-120"/>
              </a:rPr>
              <a:t>Green LED</a:t>
            </a:r>
            <a:endParaRPr lang="en-US" sz="1200" dirty="0"/>
          </a:p>
        </p:txBody>
      </p:sp>
      <p:sp>
        <p:nvSpPr>
          <p:cNvPr id="16" name="Text 14"/>
          <p:cNvSpPr/>
          <p:nvPr/>
        </p:nvSpPr>
        <p:spPr>
          <a:xfrm>
            <a:off x="804672" y="4572000"/>
            <a:ext cx="2164842" cy="1280160"/>
          </a:xfrm>
          <a:prstGeom prst="rect">
            <a:avLst/>
          </a:prstGeom>
          <a:noFill/>
          <a:ln/>
        </p:spPr>
        <p:txBody>
          <a:bodyPr wrap="square" lIns="0" tIns="0" rIns="0" bIns="0" rtlCol="0" anchor="t"/>
          <a:lstStyle/>
          <a:p>
            <a:pPr marL="0" indent="0">
              <a:lnSpc>
                <a:spcPct val="114000"/>
              </a:lnSpc>
              <a:buNone/>
            </a:pPr>
            <a:r>
              <a:rPr lang="en-US" sz="1200" dirty="0">
                <a:solidFill>
                  <a:srgbClr val="1F2D3D"/>
                </a:solidFill>
                <a:latin typeface="Calibri" pitchFamily="34" charset="0"/>
                <a:ea typeface="Calibri" pitchFamily="34" charset="-122"/>
                <a:cs typeface="Calibri" pitchFamily="34" charset="-120"/>
              </a:rPr>
              <a:t>Servo running · jobs assigned freely.</a:t>
            </a:r>
            <a:endParaRPr lang="en-US" sz="1200" dirty="0"/>
          </a:p>
        </p:txBody>
      </p:sp>
      <p:sp>
        <p:nvSpPr>
          <p:cNvPr id="17" name="Shape 15"/>
          <p:cNvSpPr/>
          <p:nvPr/>
        </p:nvSpPr>
        <p:spPr>
          <a:xfrm>
            <a:off x="3170682" y="3909060"/>
            <a:ext cx="237744" cy="0"/>
          </a:xfrm>
          <a:prstGeom prst="line">
            <a:avLst/>
          </a:prstGeom>
          <a:noFill/>
          <a:ln w="25400">
            <a:solidFill>
              <a:srgbClr val="9FB3C8"/>
            </a:solidFill>
            <a:prstDash val="solid"/>
            <a:tailEnd type="triangle"/>
          </a:ln>
        </p:spPr>
        <p:txBody>
          <a:bodyPr/>
          <a:lstStyle/>
          <a:p>
            <a:endParaRPr lang="LID4096"/>
          </a:p>
        </p:txBody>
      </p:sp>
      <p:sp>
        <p:nvSpPr>
          <p:cNvPr id="18" name="Shape 16"/>
          <p:cNvSpPr/>
          <p:nvPr/>
        </p:nvSpPr>
        <p:spPr>
          <a:xfrm>
            <a:off x="3445002" y="1828800"/>
            <a:ext cx="2494026" cy="4160520"/>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19" name="Shape 17"/>
          <p:cNvSpPr/>
          <p:nvPr/>
        </p:nvSpPr>
        <p:spPr>
          <a:xfrm>
            <a:off x="3445002" y="1828800"/>
            <a:ext cx="2494026" cy="566928"/>
          </a:xfrm>
          <a:prstGeom prst="rect">
            <a:avLst/>
          </a:prstGeom>
          <a:solidFill>
            <a:srgbClr val="F59E0B"/>
          </a:solidFill>
          <a:ln/>
        </p:spPr>
        <p:txBody>
          <a:bodyPr/>
          <a:lstStyle/>
          <a:p>
            <a:endParaRPr lang="LID4096"/>
          </a:p>
        </p:txBody>
      </p:sp>
      <p:sp>
        <p:nvSpPr>
          <p:cNvPr id="20" name="Text 18"/>
          <p:cNvSpPr/>
          <p:nvPr/>
        </p:nvSpPr>
        <p:spPr>
          <a:xfrm>
            <a:off x="3609594" y="1883664"/>
            <a:ext cx="2164842" cy="219456"/>
          </a:xfrm>
          <a:prstGeom prst="rect">
            <a:avLst/>
          </a:prstGeom>
          <a:noFill/>
          <a:ln/>
        </p:spPr>
        <p:txBody>
          <a:bodyPr wrap="square" lIns="0" tIns="0" rIns="0" bIns="0" rtlCol="0" anchor="ctr"/>
          <a:lstStyle/>
          <a:p>
            <a:pPr marL="0" indent="0">
              <a:buNone/>
            </a:pPr>
            <a:r>
              <a:rPr lang="en-US" sz="950" b="1" kern="0" spc="200" dirty="0">
                <a:solidFill>
                  <a:srgbClr val="FFFFFF"/>
                </a:solidFill>
                <a:latin typeface="Trebuchet MS" pitchFamily="34" charset="0"/>
                <a:ea typeface="Trebuchet MS" pitchFamily="34" charset="-122"/>
                <a:cs typeface="Trebuchet MS" pitchFamily="34" charset="-120"/>
              </a:rPr>
              <a:t>STEP 2</a:t>
            </a:r>
            <a:endParaRPr lang="en-US" sz="950" dirty="0"/>
          </a:p>
        </p:txBody>
      </p:sp>
      <p:sp>
        <p:nvSpPr>
          <p:cNvPr id="21" name="Text 19"/>
          <p:cNvSpPr/>
          <p:nvPr/>
        </p:nvSpPr>
        <p:spPr>
          <a:xfrm>
            <a:off x="3609594" y="2075688"/>
            <a:ext cx="2164842" cy="301752"/>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Heating up</a:t>
            </a:r>
            <a:endParaRPr lang="en-US" sz="1500" dirty="0"/>
          </a:p>
        </p:txBody>
      </p:sp>
      <p:sp>
        <p:nvSpPr>
          <p:cNvPr id="22" name="Text 20"/>
          <p:cNvSpPr/>
          <p:nvPr/>
        </p:nvSpPr>
        <p:spPr>
          <a:xfrm>
            <a:off x="3609594" y="2542032"/>
            <a:ext cx="2164842" cy="228600"/>
          </a:xfrm>
          <a:prstGeom prst="rect">
            <a:avLst/>
          </a:prstGeom>
          <a:noFill/>
          <a:ln/>
        </p:spPr>
        <p:txBody>
          <a:bodyPr wrap="square" lIns="0" tIns="0" rIns="0" bIns="0" rtlCol="0" anchor="ctr"/>
          <a:lstStyle/>
          <a:p>
            <a:pPr marL="0" indent="0">
              <a:buNone/>
            </a:pPr>
            <a:r>
              <a:rPr lang="en-US" sz="950" b="1" kern="0" spc="150" dirty="0">
                <a:solidFill>
                  <a:srgbClr val="5C6B7C"/>
                </a:solidFill>
                <a:latin typeface="Trebuchet MS" pitchFamily="34" charset="0"/>
                <a:ea typeface="Trebuchet MS" pitchFamily="34" charset="-122"/>
                <a:cs typeface="Trebuchet MS" pitchFamily="34" charset="-120"/>
              </a:rPr>
              <a:t>HEALTH</a:t>
            </a:r>
            <a:endParaRPr lang="en-US" sz="950" dirty="0"/>
          </a:p>
        </p:txBody>
      </p:sp>
      <p:sp>
        <p:nvSpPr>
          <p:cNvPr id="23" name="Text 21"/>
          <p:cNvSpPr/>
          <p:nvPr/>
        </p:nvSpPr>
        <p:spPr>
          <a:xfrm>
            <a:off x="3609594" y="2724912"/>
            <a:ext cx="2164842" cy="868680"/>
          </a:xfrm>
          <a:prstGeom prst="rect">
            <a:avLst/>
          </a:prstGeom>
          <a:noFill/>
          <a:ln/>
        </p:spPr>
        <p:txBody>
          <a:bodyPr wrap="square" lIns="0" tIns="0" rIns="0" bIns="0" rtlCol="0" anchor="ctr"/>
          <a:lstStyle/>
          <a:p>
            <a:pPr marL="0" indent="0">
              <a:buNone/>
            </a:pPr>
            <a:r>
              <a:rPr lang="en-US" sz="4600" b="1" dirty="0">
                <a:solidFill>
                  <a:srgbClr val="F59E0B"/>
                </a:solidFill>
                <a:latin typeface="Trebuchet MS" pitchFamily="34" charset="0"/>
                <a:ea typeface="Trebuchet MS" pitchFamily="34" charset="-122"/>
                <a:cs typeface="Trebuchet MS" pitchFamily="34" charset="-120"/>
              </a:rPr>
              <a:t>64</a:t>
            </a:r>
            <a:endParaRPr lang="en-US" sz="4600" dirty="0"/>
          </a:p>
        </p:txBody>
      </p:sp>
      <p:sp>
        <p:nvSpPr>
          <p:cNvPr id="24" name="Shape 22"/>
          <p:cNvSpPr/>
          <p:nvPr/>
        </p:nvSpPr>
        <p:spPr>
          <a:xfrm>
            <a:off x="3609594" y="3657600"/>
            <a:ext cx="2164842" cy="0"/>
          </a:xfrm>
          <a:prstGeom prst="line">
            <a:avLst/>
          </a:prstGeom>
          <a:noFill/>
          <a:ln w="12700">
            <a:solidFill>
              <a:srgbClr val="D3E0EE"/>
            </a:solidFill>
            <a:prstDash val="solid"/>
          </a:ln>
        </p:spPr>
        <p:txBody>
          <a:bodyPr/>
          <a:lstStyle/>
          <a:p>
            <a:endParaRPr lang="LID4096"/>
          </a:p>
        </p:txBody>
      </p:sp>
      <p:sp>
        <p:nvSpPr>
          <p:cNvPr id="25" name="Text 23"/>
          <p:cNvSpPr/>
          <p:nvPr/>
        </p:nvSpPr>
        <p:spPr>
          <a:xfrm>
            <a:off x="3609594" y="3749040"/>
            <a:ext cx="2164842" cy="310896"/>
          </a:xfrm>
          <a:prstGeom prst="rect">
            <a:avLst/>
          </a:prstGeom>
          <a:noFill/>
          <a:ln/>
        </p:spPr>
        <p:txBody>
          <a:bodyPr wrap="square" lIns="0" tIns="0" rIns="0" bIns="0" rtlCol="0" anchor="ctr"/>
          <a:lstStyle/>
          <a:p>
            <a:pPr marL="0" indent="0">
              <a:buNone/>
            </a:pPr>
            <a:r>
              <a:rPr lang="en-US" sz="1200" dirty="0">
                <a:solidFill>
                  <a:srgbClr val="5C6B7C"/>
                </a:solidFill>
                <a:latin typeface="Calibri" pitchFamily="34" charset="0"/>
                <a:ea typeface="Calibri" pitchFamily="34" charset="-122"/>
                <a:cs typeface="Calibri" pitchFamily="34" charset="-120"/>
              </a:rPr>
              <a:t>Temp  </a:t>
            </a:r>
            <a:r>
              <a:rPr lang="en-US" sz="1250" b="1" dirty="0">
                <a:solidFill>
                  <a:srgbClr val="0E2A47"/>
                </a:solidFill>
                <a:latin typeface="Trebuchet MS" pitchFamily="34" charset="0"/>
                <a:ea typeface="Trebuchet MS" pitchFamily="34" charset="-122"/>
                <a:cs typeface="Trebuchet MS" pitchFamily="34" charset="-120"/>
              </a:rPr>
              <a:t>58 °C</a:t>
            </a:r>
            <a:endParaRPr lang="en-US" sz="1200" dirty="0"/>
          </a:p>
        </p:txBody>
      </p:sp>
      <p:sp>
        <p:nvSpPr>
          <p:cNvPr id="26" name="Shape 24"/>
          <p:cNvSpPr/>
          <p:nvPr/>
        </p:nvSpPr>
        <p:spPr>
          <a:xfrm>
            <a:off x="3627882" y="4206240"/>
            <a:ext cx="164592" cy="164592"/>
          </a:xfrm>
          <a:prstGeom prst="ellipse">
            <a:avLst/>
          </a:prstGeom>
          <a:solidFill>
            <a:srgbClr val="F59E0B"/>
          </a:solidFill>
          <a:ln/>
        </p:spPr>
        <p:txBody>
          <a:bodyPr/>
          <a:lstStyle/>
          <a:p>
            <a:endParaRPr lang="LID4096"/>
          </a:p>
        </p:txBody>
      </p:sp>
      <p:sp>
        <p:nvSpPr>
          <p:cNvPr id="27" name="Text 25"/>
          <p:cNvSpPr/>
          <p:nvPr/>
        </p:nvSpPr>
        <p:spPr>
          <a:xfrm>
            <a:off x="3865626" y="4114800"/>
            <a:ext cx="1945386" cy="310896"/>
          </a:xfrm>
          <a:prstGeom prst="rect">
            <a:avLst/>
          </a:prstGeom>
          <a:noFill/>
          <a:ln/>
        </p:spPr>
        <p:txBody>
          <a:bodyPr wrap="square" lIns="0" tIns="0" rIns="0" bIns="0" rtlCol="0" anchor="ctr"/>
          <a:lstStyle/>
          <a:p>
            <a:pPr marL="0" indent="0">
              <a:buNone/>
            </a:pPr>
            <a:r>
              <a:rPr lang="en-US" sz="1200" b="1" dirty="0">
                <a:solidFill>
                  <a:srgbClr val="0E2A47"/>
                </a:solidFill>
                <a:latin typeface="Trebuchet MS" pitchFamily="34" charset="0"/>
                <a:ea typeface="Trebuchet MS" pitchFamily="34" charset="-122"/>
                <a:cs typeface="Trebuchet MS" pitchFamily="34" charset="-120"/>
              </a:rPr>
              <a:t>Yellow LED</a:t>
            </a:r>
            <a:endParaRPr lang="en-US" sz="1200" dirty="0"/>
          </a:p>
        </p:txBody>
      </p:sp>
      <p:sp>
        <p:nvSpPr>
          <p:cNvPr id="28" name="Text 26"/>
          <p:cNvSpPr/>
          <p:nvPr/>
        </p:nvSpPr>
        <p:spPr>
          <a:xfrm>
            <a:off x="3609594" y="4572000"/>
            <a:ext cx="2164842" cy="1280160"/>
          </a:xfrm>
          <a:prstGeom prst="rect">
            <a:avLst/>
          </a:prstGeom>
          <a:noFill/>
          <a:ln/>
        </p:spPr>
        <p:txBody>
          <a:bodyPr wrap="square" lIns="0" tIns="0" rIns="0" bIns="0" rtlCol="0" anchor="t"/>
          <a:lstStyle/>
          <a:p>
            <a:pPr marL="0" indent="0">
              <a:lnSpc>
                <a:spcPct val="114000"/>
              </a:lnSpc>
              <a:buNone/>
            </a:pPr>
            <a:r>
              <a:rPr lang="en-US" sz="1200" dirty="0">
                <a:solidFill>
                  <a:srgbClr val="1F2D3D"/>
                </a:solidFill>
                <a:latin typeface="Calibri" pitchFamily="34" charset="0"/>
                <a:ea typeface="Calibri" pitchFamily="34" charset="-122"/>
                <a:cs typeface="Calibri" pitchFamily="34" charset="-120"/>
              </a:rPr>
              <a:t>Maintenance alert raised · monitor closely.</a:t>
            </a:r>
            <a:endParaRPr lang="en-US" sz="1200" dirty="0"/>
          </a:p>
        </p:txBody>
      </p:sp>
      <p:sp>
        <p:nvSpPr>
          <p:cNvPr id="29" name="Shape 27"/>
          <p:cNvSpPr/>
          <p:nvPr/>
        </p:nvSpPr>
        <p:spPr>
          <a:xfrm>
            <a:off x="5975604" y="3909060"/>
            <a:ext cx="237744" cy="0"/>
          </a:xfrm>
          <a:prstGeom prst="line">
            <a:avLst/>
          </a:prstGeom>
          <a:noFill/>
          <a:ln w="25400">
            <a:solidFill>
              <a:srgbClr val="9FB3C8"/>
            </a:solidFill>
            <a:prstDash val="solid"/>
            <a:tailEnd type="triangle"/>
          </a:ln>
        </p:spPr>
        <p:txBody>
          <a:bodyPr/>
          <a:lstStyle/>
          <a:p>
            <a:endParaRPr lang="LID4096"/>
          </a:p>
        </p:txBody>
      </p:sp>
      <p:sp>
        <p:nvSpPr>
          <p:cNvPr id="30" name="Shape 28"/>
          <p:cNvSpPr/>
          <p:nvPr/>
        </p:nvSpPr>
        <p:spPr>
          <a:xfrm>
            <a:off x="6249924" y="1828800"/>
            <a:ext cx="2494026" cy="4160520"/>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31" name="Shape 29"/>
          <p:cNvSpPr/>
          <p:nvPr/>
        </p:nvSpPr>
        <p:spPr>
          <a:xfrm>
            <a:off x="6249924" y="1828800"/>
            <a:ext cx="2494026" cy="566928"/>
          </a:xfrm>
          <a:prstGeom prst="rect">
            <a:avLst/>
          </a:prstGeom>
          <a:solidFill>
            <a:srgbClr val="EF4444"/>
          </a:solidFill>
          <a:ln/>
        </p:spPr>
        <p:txBody>
          <a:bodyPr/>
          <a:lstStyle/>
          <a:p>
            <a:endParaRPr lang="LID4096"/>
          </a:p>
        </p:txBody>
      </p:sp>
      <p:sp>
        <p:nvSpPr>
          <p:cNvPr id="32" name="Text 30"/>
          <p:cNvSpPr/>
          <p:nvPr/>
        </p:nvSpPr>
        <p:spPr>
          <a:xfrm>
            <a:off x="6414516" y="1883664"/>
            <a:ext cx="2164842" cy="219456"/>
          </a:xfrm>
          <a:prstGeom prst="rect">
            <a:avLst/>
          </a:prstGeom>
          <a:noFill/>
          <a:ln/>
        </p:spPr>
        <p:txBody>
          <a:bodyPr wrap="square" lIns="0" tIns="0" rIns="0" bIns="0" rtlCol="0" anchor="ctr"/>
          <a:lstStyle/>
          <a:p>
            <a:pPr marL="0" indent="0">
              <a:buNone/>
            </a:pPr>
            <a:r>
              <a:rPr lang="en-US" sz="950" b="1" kern="0" spc="200" dirty="0">
                <a:solidFill>
                  <a:srgbClr val="FFFFFF"/>
                </a:solidFill>
                <a:latin typeface="Trebuchet MS" pitchFamily="34" charset="0"/>
                <a:ea typeface="Trebuchet MS" pitchFamily="34" charset="-122"/>
                <a:cs typeface="Trebuchet MS" pitchFamily="34" charset="-120"/>
              </a:rPr>
              <a:t>STEP 3</a:t>
            </a:r>
            <a:endParaRPr lang="en-US" sz="950" dirty="0"/>
          </a:p>
        </p:txBody>
      </p:sp>
      <p:sp>
        <p:nvSpPr>
          <p:cNvPr id="33" name="Text 31"/>
          <p:cNvSpPr/>
          <p:nvPr/>
        </p:nvSpPr>
        <p:spPr>
          <a:xfrm>
            <a:off x="6414516" y="2075688"/>
            <a:ext cx="2164842" cy="301752"/>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Critical</a:t>
            </a:r>
            <a:endParaRPr lang="en-US" sz="1500" dirty="0"/>
          </a:p>
        </p:txBody>
      </p:sp>
      <p:sp>
        <p:nvSpPr>
          <p:cNvPr id="34" name="Text 32"/>
          <p:cNvSpPr/>
          <p:nvPr/>
        </p:nvSpPr>
        <p:spPr>
          <a:xfrm>
            <a:off x="6414516" y="2542032"/>
            <a:ext cx="2164842" cy="228600"/>
          </a:xfrm>
          <a:prstGeom prst="rect">
            <a:avLst/>
          </a:prstGeom>
          <a:noFill/>
          <a:ln/>
        </p:spPr>
        <p:txBody>
          <a:bodyPr wrap="square" lIns="0" tIns="0" rIns="0" bIns="0" rtlCol="0" anchor="ctr"/>
          <a:lstStyle/>
          <a:p>
            <a:pPr marL="0" indent="0">
              <a:buNone/>
            </a:pPr>
            <a:r>
              <a:rPr lang="en-US" sz="950" b="1" kern="0" spc="150" dirty="0">
                <a:solidFill>
                  <a:srgbClr val="5C6B7C"/>
                </a:solidFill>
                <a:latin typeface="Trebuchet MS" pitchFamily="34" charset="0"/>
                <a:ea typeface="Trebuchet MS" pitchFamily="34" charset="-122"/>
                <a:cs typeface="Trebuchet MS" pitchFamily="34" charset="-120"/>
              </a:rPr>
              <a:t>HEALTH</a:t>
            </a:r>
            <a:endParaRPr lang="en-US" sz="950" dirty="0"/>
          </a:p>
        </p:txBody>
      </p:sp>
      <p:sp>
        <p:nvSpPr>
          <p:cNvPr id="35" name="Text 33"/>
          <p:cNvSpPr/>
          <p:nvPr/>
        </p:nvSpPr>
        <p:spPr>
          <a:xfrm>
            <a:off x="6414516" y="2724912"/>
            <a:ext cx="2164842" cy="868680"/>
          </a:xfrm>
          <a:prstGeom prst="rect">
            <a:avLst/>
          </a:prstGeom>
          <a:noFill/>
          <a:ln/>
        </p:spPr>
        <p:txBody>
          <a:bodyPr wrap="square" lIns="0" tIns="0" rIns="0" bIns="0" rtlCol="0" anchor="ctr"/>
          <a:lstStyle/>
          <a:p>
            <a:pPr marL="0" indent="0">
              <a:buNone/>
            </a:pPr>
            <a:r>
              <a:rPr lang="en-US" sz="4600" b="1" dirty="0">
                <a:solidFill>
                  <a:srgbClr val="EF4444"/>
                </a:solidFill>
                <a:latin typeface="Trebuchet MS" pitchFamily="34" charset="0"/>
                <a:ea typeface="Trebuchet MS" pitchFamily="34" charset="-122"/>
                <a:cs typeface="Trebuchet MS" pitchFamily="34" charset="-120"/>
              </a:rPr>
              <a:t>28</a:t>
            </a:r>
            <a:endParaRPr lang="en-US" sz="4600" dirty="0"/>
          </a:p>
        </p:txBody>
      </p:sp>
      <p:sp>
        <p:nvSpPr>
          <p:cNvPr id="36" name="Shape 34"/>
          <p:cNvSpPr/>
          <p:nvPr/>
        </p:nvSpPr>
        <p:spPr>
          <a:xfrm>
            <a:off x="6414516" y="3657600"/>
            <a:ext cx="2164842" cy="0"/>
          </a:xfrm>
          <a:prstGeom prst="line">
            <a:avLst/>
          </a:prstGeom>
          <a:noFill/>
          <a:ln w="12700">
            <a:solidFill>
              <a:srgbClr val="D3E0EE"/>
            </a:solidFill>
            <a:prstDash val="solid"/>
          </a:ln>
        </p:spPr>
        <p:txBody>
          <a:bodyPr/>
          <a:lstStyle/>
          <a:p>
            <a:endParaRPr lang="LID4096"/>
          </a:p>
        </p:txBody>
      </p:sp>
      <p:sp>
        <p:nvSpPr>
          <p:cNvPr id="37" name="Text 35"/>
          <p:cNvSpPr/>
          <p:nvPr/>
        </p:nvSpPr>
        <p:spPr>
          <a:xfrm>
            <a:off x="6414516" y="3749040"/>
            <a:ext cx="2164842" cy="310896"/>
          </a:xfrm>
          <a:prstGeom prst="rect">
            <a:avLst/>
          </a:prstGeom>
          <a:noFill/>
          <a:ln/>
        </p:spPr>
        <p:txBody>
          <a:bodyPr wrap="square" lIns="0" tIns="0" rIns="0" bIns="0" rtlCol="0" anchor="ctr"/>
          <a:lstStyle/>
          <a:p>
            <a:pPr marL="0" indent="0">
              <a:buNone/>
            </a:pPr>
            <a:r>
              <a:rPr lang="en-US" sz="1200" dirty="0">
                <a:solidFill>
                  <a:srgbClr val="5C6B7C"/>
                </a:solidFill>
                <a:latin typeface="Calibri" pitchFamily="34" charset="0"/>
                <a:ea typeface="Calibri" pitchFamily="34" charset="-122"/>
                <a:cs typeface="Calibri" pitchFamily="34" charset="-120"/>
              </a:rPr>
              <a:t>Temp  </a:t>
            </a:r>
            <a:r>
              <a:rPr lang="en-US" sz="1250" b="1" dirty="0">
                <a:solidFill>
                  <a:srgbClr val="0E2A47"/>
                </a:solidFill>
                <a:latin typeface="Trebuchet MS" pitchFamily="34" charset="0"/>
                <a:ea typeface="Trebuchet MS" pitchFamily="34" charset="-122"/>
                <a:cs typeface="Trebuchet MS" pitchFamily="34" charset="-120"/>
              </a:rPr>
              <a:t>78 °C</a:t>
            </a:r>
            <a:endParaRPr lang="en-US" sz="1200" dirty="0"/>
          </a:p>
        </p:txBody>
      </p:sp>
      <p:sp>
        <p:nvSpPr>
          <p:cNvPr id="38" name="Shape 36"/>
          <p:cNvSpPr/>
          <p:nvPr/>
        </p:nvSpPr>
        <p:spPr>
          <a:xfrm>
            <a:off x="6432804" y="4206240"/>
            <a:ext cx="164592" cy="164592"/>
          </a:xfrm>
          <a:prstGeom prst="ellipse">
            <a:avLst/>
          </a:prstGeom>
          <a:solidFill>
            <a:srgbClr val="EF4444"/>
          </a:solidFill>
          <a:ln/>
        </p:spPr>
        <p:txBody>
          <a:bodyPr/>
          <a:lstStyle/>
          <a:p>
            <a:endParaRPr lang="LID4096"/>
          </a:p>
        </p:txBody>
      </p:sp>
      <p:sp>
        <p:nvSpPr>
          <p:cNvPr id="39" name="Text 37"/>
          <p:cNvSpPr/>
          <p:nvPr/>
        </p:nvSpPr>
        <p:spPr>
          <a:xfrm>
            <a:off x="6670548" y="4114800"/>
            <a:ext cx="1945386" cy="310896"/>
          </a:xfrm>
          <a:prstGeom prst="rect">
            <a:avLst/>
          </a:prstGeom>
          <a:noFill/>
          <a:ln/>
        </p:spPr>
        <p:txBody>
          <a:bodyPr wrap="square" lIns="0" tIns="0" rIns="0" bIns="0" rtlCol="0" anchor="ctr"/>
          <a:lstStyle/>
          <a:p>
            <a:pPr marL="0" indent="0">
              <a:buNone/>
            </a:pPr>
            <a:r>
              <a:rPr lang="en-US" sz="1200" b="1" dirty="0">
                <a:solidFill>
                  <a:srgbClr val="0E2A47"/>
                </a:solidFill>
                <a:latin typeface="Trebuchet MS" pitchFamily="34" charset="0"/>
                <a:ea typeface="Trebuchet MS" pitchFamily="34" charset="-122"/>
                <a:cs typeface="Trebuchet MS" pitchFamily="34" charset="-120"/>
              </a:rPr>
              <a:t>Red LED</a:t>
            </a:r>
            <a:endParaRPr lang="en-US" sz="1200" dirty="0"/>
          </a:p>
        </p:txBody>
      </p:sp>
      <p:sp>
        <p:nvSpPr>
          <p:cNvPr id="40" name="Text 38"/>
          <p:cNvSpPr/>
          <p:nvPr/>
        </p:nvSpPr>
        <p:spPr>
          <a:xfrm>
            <a:off x="6414516" y="4572000"/>
            <a:ext cx="2164842" cy="1280160"/>
          </a:xfrm>
          <a:prstGeom prst="rect">
            <a:avLst/>
          </a:prstGeom>
          <a:noFill/>
          <a:ln/>
        </p:spPr>
        <p:txBody>
          <a:bodyPr wrap="square" lIns="0" tIns="0" rIns="0" bIns="0" rtlCol="0" anchor="t"/>
          <a:lstStyle/>
          <a:p>
            <a:pPr marL="0" indent="0">
              <a:lnSpc>
                <a:spcPct val="114000"/>
              </a:lnSpc>
              <a:buNone/>
            </a:pPr>
            <a:r>
              <a:rPr lang="en-US" sz="1200" dirty="0">
                <a:solidFill>
                  <a:srgbClr val="1F2D3D"/>
                </a:solidFill>
                <a:latin typeface="Calibri" pitchFamily="34" charset="0"/>
                <a:ea typeface="Calibri" pitchFamily="34" charset="-122"/>
                <a:cs typeface="Calibri" pitchFamily="34" charset="-120"/>
              </a:rPr>
              <a:t>Buzzer alarm · machine paused immediately.</a:t>
            </a:r>
            <a:endParaRPr lang="en-US" sz="1200" dirty="0"/>
          </a:p>
        </p:txBody>
      </p:sp>
      <p:sp>
        <p:nvSpPr>
          <p:cNvPr id="41" name="Shape 39"/>
          <p:cNvSpPr/>
          <p:nvPr/>
        </p:nvSpPr>
        <p:spPr>
          <a:xfrm>
            <a:off x="8780526" y="3909060"/>
            <a:ext cx="237744" cy="0"/>
          </a:xfrm>
          <a:prstGeom prst="line">
            <a:avLst/>
          </a:prstGeom>
          <a:noFill/>
          <a:ln w="25400">
            <a:solidFill>
              <a:srgbClr val="9FB3C8"/>
            </a:solidFill>
            <a:prstDash val="solid"/>
            <a:tailEnd type="triangle"/>
          </a:ln>
        </p:spPr>
        <p:txBody>
          <a:bodyPr/>
          <a:lstStyle/>
          <a:p>
            <a:endParaRPr lang="LID4096"/>
          </a:p>
        </p:txBody>
      </p:sp>
      <p:sp>
        <p:nvSpPr>
          <p:cNvPr id="42" name="Shape 40"/>
          <p:cNvSpPr/>
          <p:nvPr/>
        </p:nvSpPr>
        <p:spPr>
          <a:xfrm>
            <a:off x="9054846" y="1828800"/>
            <a:ext cx="2494026" cy="4160520"/>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43" name="Shape 41"/>
          <p:cNvSpPr/>
          <p:nvPr/>
        </p:nvSpPr>
        <p:spPr>
          <a:xfrm>
            <a:off x="9054846" y="1828800"/>
            <a:ext cx="2494026" cy="566928"/>
          </a:xfrm>
          <a:prstGeom prst="rect">
            <a:avLst/>
          </a:prstGeom>
          <a:solidFill>
            <a:srgbClr val="1565C0"/>
          </a:solidFill>
          <a:ln/>
        </p:spPr>
        <p:txBody>
          <a:bodyPr/>
          <a:lstStyle/>
          <a:p>
            <a:endParaRPr lang="LID4096"/>
          </a:p>
        </p:txBody>
      </p:sp>
      <p:sp>
        <p:nvSpPr>
          <p:cNvPr id="44" name="Text 42"/>
          <p:cNvSpPr/>
          <p:nvPr/>
        </p:nvSpPr>
        <p:spPr>
          <a:xfrm>
            <a:off x="9219438" y="1883664"/>
            <a:ext cx="2164842" cy="219456"/>
          </a:xfrm>
          <a:prstGeom prst="rect">
            <a:avLst/>
          </a:prstGeom>
          <a:noFill/>
          <a:ln/>
        </p:spPr>
        <p:txBody>
          <a:bodyPr wrap="square" lIns="0" tIns="0" rIns="0" bIns="0" rtlCol="0" anchor="ctr"/>
          <a:lstStyle/>
          <a:p>
            <a:pPr marL="0" indent="0">
              <a:buNone/>
            </a:pPr>
            <a:r>
              <a:rPr lang="en-US" sz="950" b="1" kern="0" spc="200" dirty="0">
                <a:solidFill>
                  <a:srgbClr val="FFFFFF"/>
                </a:solidFill>
                <a:latin typeface="Trebuchet MS" pitchFamily="34" charset="0"/>
                <a:ea typeface="Trebuchet MS" pitchFamily="34" charset="-122"/>
                <a:cs typeface="Trebuchet MS" pitchFamily="34" charset="-120"/>
              </a:rPr>
              <a:t>STEP 4</a:t>
            </a:r>
            <a:endParaRPr lang="en-US" sz="950" dirty="0"/>
          </a:p>
        </p:txBody>
      </p:sp>
      <p:sp>
        <p:nvSpPr>
          <p:cNvPr id="45" name="Text 43"/>
          <p:cNvSpPr/>
          <p:nvPr/>
        </p:nvSpPr>
        <p:spPr>
          <a:xfrm>
            <a:off x="9219438" y="2075688"/>
            <a:ext cx="2164842" cy="301752"/>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Recovery</a:t>
            </a:r>
            <a:endParaRPr lang="en-US" sz="1500" dirty="0"/>
          </a:p>
        </p:txBody>
      </p:sp>
      <p:sp>
        <p:nvSpPr>
          <p:cNvPr id="46" name="Text 44"/>
          <p:cNvSpPr/>
          <p:nvPr/>
        </p:nvSpPr>
        <p:spPr>
          <a:xfrm>
            <a:off x="9219438" y="2542032"/>
            <a:ext cx="2164842" cy="228600"/>
          </a:xfrm>
          <a:prstGeom prst="rect">
            <a:avLst/>
          </a:prstGeom>
          <a:noFill/>
          <a:ln/>
        </p:spPr>
        <p:txBody>
          <a:bodyPr wrap="square" lIns="0" tIns="0" rIns="0" bIns="0" rtlCol="0" anchor="ctr"/>
          <a:lstStyle/>
          <a:p>
            <a:pPr marL="0" indent="0">
              <a:buNone/>
            </a:pPr>
            <a:r>
              <a:rPr lang="en-US" sz="950" b="1" kern="0" spc="150" dirty="0">
                <a:solidFill>
                  <a:srgbClr val="5C6B7C"/>
                </a:solidFill>
                <a:latin typeface="Trebuchet MS" pitchFamily="34" charset="0"/>
                <a:ea typeface="Trebuchet MS" pitchFamily="34" charset="-122"/>
                <a:cs typeface="Trebuchet MS" pitchFamily="34" charset="-120"/>
              </a:rPr>
              <a:t>HEALTH</a:t>
            </a:r>
            <a:endParaRPr lang="en-US" sz="950" dirty="0"/>
          </a:p>
        </p:txBody>
      </p:sp>
      <p:sp>
        <p:nvSpPr>
          <p:cNvPr id="47" name="Text 45"/>
          <p:cNvSpPr/>
          <p:nvPr/>
        </p:nvSpPr>
        <p:spPr>
          <a:xfrm>
            <a:off x="9219438" y="2724912"/>
            <a:ext cx="2164842" cy="868680"/>
          </a:xfrm>
          <a:prstGeom prst="rect">
            <a:avLst/>
          </a:prstGeom>
          <a:noFill/>
          <a:ln/>
        </p:spPr>
        <p:txBody>
          <a:bodyPr wrap="square" lIns="0" tIns="0" rIns="0" bIns="0" rtlCol="0" anchor="ctr"/>
          <a:lstStyle/>
          <a:p>
            <a:pPr marL="0" indent="0">
              <a:buNone/>
            </a:pPr>
            <a:r>
              <a:rPr lang="en-US" sz="4600" b="1" dirty="0">
                <a:solidFill>
                  <a:srgbClr val="1565C0"/>
                </a:solidFill>
                <a:latin typeface="Trebuchet MS" pitchFamily="34" charset="0"/>
                <a:ea typeface="Trebuchet MS" pitchFamily="34" charset="-122"/>
                <a:cs typeface="Trebuchet MS" pitchFamily="34" charset="-120"/>
              </a:rPr>
              <a:t>↑</a:t>
            </a:r>
            <a:endParaRPr lang="en-US" sz="4600" dirty="0"/>
          </a:p>
        </p:txBody>
      </p:sp>
      <p:sp>
        <p:nvSpPr>
          <p:cNvPr id="48" name="Shape 46"/>
          <p:cNvSpPr/>
          <p:nvPr/>
        </p:nvSpPr>
        <p:spPr>
          <a:xfrm>
            <a:off x="9219438" y="3657600"/>
            <a:ext cx="2164842" cy="0"/>
          </a:xfrm>
          <a:prstGeom prst="line">
            <a:avLst/>
          </a:prstGeom>
          <a:noFill/>
          <a:ln w="12700">
            <a:solidFill>
              <a:srgbClr val="D3E0EE"/>
            </a:solidFill>
            <a:prstDash val="solid"/>
          </a:ln>
        </p:spPr>
        <p:txBody>
          <a:bodyPr/>
          <a:lstStyle/>
          <a:p>
            <a:endParaRPr lang="LID4096"/>
          </a:p>
        </p:txBody>
      </p:sp>
      <p:sp>
        <p:nvSpPr>
          <p:cNvPr id="49" name="Text 47"/>
          <p:cNvSpPr/>
          <p:nvPr/>
        </p:nvSpPr>
        <p:spPr>
          <a:xfrm>
            <a:off x="9219438" y="3749040"/>
            <a:ext cx="2164842" cy="310896"/>
          </a:xfrm>
          <a:prstGeom prst="rect">
            <a:avLst/>
          </a:prstGeom>
          <a:noFill/>
          <a:ln/>
        </p:spPr>
        <p:txBody>
          <a:bodyPr wrap="square" lIns="0" tIns="0" rIns="0" bIns="0" rtlCol="0" anchor="ctr"/>
          <a:lstStyle/>
          <a:p>
            <a:pPr marL="0" indent="0">
              <a:buNone/>
            </a:pPr>
            <a:r>
              <a:rPr lang="en-US" sz="1200" dirty="0">
                <a:solidFill>
                  <a:srgbClr val="5C6B7C"/>
                </a:solidFill>
                <a:latin typeface="Calibri" pitchFamily="34" charset="0"/>
                <a:ea typeface="Calibri" pitchFamily="34" charset="-122"/>
                <a:cs typeface="Calibri" pitchFamily="34" charset="-120"/>
              </a:rPr>
              <a:t>Temp  </a:t>
            </a:r>
            <a:r>
              <a:rPr lang="en-US" sz="1250" b="1" dirty="0">
                <a:solidFill>
                  <a:srgbClr val="0E2A47"/>
                </a:solidFill>
                <a:latin typeface="Trebuchet MS" pitchFamily="34" charset="0"/>
                <a:ea typeface="Trebuchet MS" pitchFamily="34" charset="-122"/>
                <a:cs typeface="Trebuchet MS" pitchFamily="34" charset="-120"/>
              </a:rPr>
              <a:t>—</a:t>
            </a:r>
            <a:endParaRPr lang="en-US" sz="1200" dirty="0"/>
          </a:p>
        </p:txBody>
      </p:sp>
      <p:sp>
        <p:nvSpPr>
          <p:cNvPr id="50" name="Shape 48"/>
          <p:cNvSpPr/>
          <p:nvPr/>
        </p:nvSpPr>
        <p:spPr>
          <a:xfrm>
            <a:off x="9237726" y="4206240"/>
            <a:ext cx="164592" cy="164592"/>
          </a:xfrm>
          <a:prstGeom prst="ellipse">
            <a:avLst/>
          </a:prstGeom>
          <a:solidFill>
            <a:srgbClr val="1565C0"/>
          </a:solidFill>
          <a:ln/>
        </p:spPr>
        <p:txBody>
          <a:bodyPr/>
          <a:lstStyle/>
          <a:p>
            <a:endParaRPr lang="LID4096"/>
          </a:p>
        </p:txBody>
      </p:sp>
      <p:sp>
        <p:nvSpPr>
          <p:cNvPr id="51" name="Text 49"/>
          <p:cNvSpPr/>
          <p:nvPr/>
        </p:nvSpPr>
        <p:spPr>
          <a:xfrm>
            <a:off x="9475470" y="4114800"/>
            <a:ext cx="1945386" cy="310896"/>
          </a:xfrm>
          <a:prstGeom prst="rect">
            <a:avLst/>
          </a:prstGeom>
          <a:noFill/>
          <a:ln/>
        </p:spPr>
        <p:txBody>
          <a:bodyPr wrap="square" lIns="0" tIns="0" rIns="0" bIns="0" rtlCol="0" anchor="ctr"/>
          <a:lstStyle/>
          <a:p>
            <a:pPr marL="0" indent="0">
              <a:buNone/>
            </a:pPr>
            <a:r>
              <a:rPr lang="en-US" sz="1200" b="1" dirty="0">
                <a:solidFill>
                  <a:srgbClr val="0E2A47"/>
                </a:solidFill>
                <a:latin typeface="Trebuchet MS" pitchFamily="34" charset="0"/>
                <a:ea typeface="Trebuchet MS" pitchFamily="34" charset="-122"/>
                <a:cs typeface="Trebuchet MS" pitchFamily="34" charset="-120"/>
              </a:rPr>
              <a:t>Reschedule</a:t>
            </a:r>
            <a:endParaRPr lang="en-US" sz="1200" dirty="0"/>
          </a:p>
        </p:txBody>
      </p:sp>
      <p:sp>
        <p:nvSpPr>
          <p:cNvPr id="52" name="Text 50"/>
          <p:cNvSpPr/>
          <p:nvPr/>
        </p:nvSpPr>
        <p:spPr>
          <a:xfrm>
            <a:off x="9219438" y="4572000"/>
            <a:ext cx="2164842" cy="1280160"/>
          </a:xfrm>
          <a:prstGeom prst="rect">
            <a:avLst/>
          </a:prstGeom>
          <a:noFill/>
          <a:ln/>
        </p:spPr>
        <p:txBody>
          <a:bodyPr wrap="square" lIns="0" tIns="0" rIns="0" bIns="0" rtlCol="0" anchor="t"/>
          <a:lstStyle/>
          <a:p>
            <a:pPr marL="0" indent="0">
              <a:lnSpc>
                <a:spcPct val="114000"/>
              </a:lnSpc>
              <a:buNone/>
            </a:pPr>
            <a:r>
              <a:rPr lang="en-US" sz="1200" dirty="0">
                <a:solidFill>
                  <a:srgbClr val="1F2D3D"/>
                </a:solidFill>
                <a:latin typeface="Calibri" pitchFamily="34" charset="0"/>
                <a:ea typeface="Calibri" pitchFamily="34" charset="-122"/>
                <a:cs typeface="Calibri" pitchFamily="34" charset="-120"/>
              </a:rPr>
              <a:t>Scheduler routes the job to a healthier machine.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9F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FFFFFF"/>
          </a:solidFill>
          <a:ln/>
        </p:spPr>
        <p:txBody>
          <a:bodyPr/>
          <a:lstStyle/>
          <a:p>
            <a:endParaRPr lang="LID4096"/>
          </a:p>
        </p:txBody>
      </p:sp>
      <p:sp>
        <p:nvSpPr>
          <p:cNvPr id="3" name="Shape 1"/>
          <p:cNvSpPr/>
          <p:nvPr/>
        </p:nvSpPr>
        <p:spPr>
          <a:xfrm>
            <a:off x="0" y="0"/>
            <a:ext cx="201168" cy="1371600"/>
          </a:xfrm>
          <a:prstGeom prst="rect">
            <a:avLst/>
          </a:prstGeom>
          <a:solidFill>
            <a:srgbClr val="0FB5D6"/>
          </a:solidFill>
          <a:ln/>
        </p:spPr>
        <p:txBody>
          <a:bodyPr/>
          <a:lstStyle/>
          <a:p>
            <a:endParaRPr lang="LID4096"/>
          </a:p>
        </p:txBody>
      </p:sp>
      <p:sp>
        <p:nvSpPr>
          <p:cNvPr id="4" name="Text 2"/>
          <p:cNvSpPr/>
          <p:nvPr/>
        </p:nvSpPr>
        <p:spPr>
          <a:xfrm>
            <a:off x="640080" y="310896"/>
            <a:ext cx="10058400" cy="292608"/>
          </a:xfrm>
          <a:prstGeom prst="rect">
            <a:avLst/>
          </a:prstGeom>
          <a:noFill/>
          <a:ln/>
        </p:spPr>
        <p:txBody>
          <a:bodyPr wrap="square" lIns="0" tIns="0" rIns="0" bIns="0" rtlCol="0" anchor="ctr"/>
          <a:lstStyle/>
          <a:p>
            <a:pPr marL="0" indent="0">
              <a:buNone/>
            </a:pPr>
            <a:r>
              <a:rPr lang="en-US" sz="1200" b="1" kern="0" spc="300" dirty="0">
                <a:solidFill>
                  <a:srgbClr val="1565C0"/>
                </a:solidFill>
                <a:latin typeface="Trebuchet MS" pitchFamily="34" charset="0"/>
                <a:ea typeface="Trebuchet MS" pitchFamily="34" charset="-122"/>
                <a:cs typeface="Trebuchet MS" pitchFamily="34" charset="-120"/>
              </a:rPr>
              <a:t>RESULTS &amp; STACK</a:t>
            </a:r>
            <a:endParaRPr lang="en-US" sz="1200" dirty="0"/>
          </a:p>
        </p:txBody>
      </p:sp>
      <p:sp>
        <p:nvSpPr>
          <p:cNvPr id="5" name="Text 3"/>
          <p:cNvSpPr/>
          <p:nvPr/>
        </p:nvSpPr>
        <p:spPr>
          <a:xfrm>
            <a:off x="640080" y="566928"/>
            <a:ext cx="10972800" cy="640080"/>
          </a:xfrm>
          <a:prstGeom prst="rect">
            <a:avLst/>
          </a:prstGeom>
          <a:noFill/>
          <a:ln/>
        </p:spPr>
        <p:txBody>
          <a:bodyPr wrap="square" lIns="0" tIns="0" rIns="0" bIns="0" rtlCol="0" anchor="ctr"/>
          <a:lstStyle/>
          <a:p>
            <a:pPr marL="0" indent="0">
              <a:buNone/>
            </a:pPr>
            <a:r>
              <a:rPr lang="en-US" sz="2800" b="1" dirty="0">
                <a:solidFill>
                  <a:srgbClr val="0E2A47"/>
                </a:solidFill>
                <a:latin typeface="Trebuchet MS" pitchFamily="34" charset="0"/>
                <a:ea typeface="Trebuchet MS" pitchFamily="34" charset="-122"/>
                <a:cs typeface="Trebuchet MS" pitchFamily="34" charset="-120"/>
              </a:rPr>
              <a:t>Expected output and technologies</a:t>
            </a:r>
            <a:endParaRPr lang="en-US" sz="2800" dirty="0"/>
          </a:p>
        </p:txBody>
      </p:sp>
      <p:sp>
        <p:nvSpPr>
          <p:cNvPr id="6" name="Text 4"/>
          <p:cNvSpPr/>
          <p:nvPr/>
        </p:nvSpPr>
        <p:spPr>
          <a:xfrm>
            <a:off x="640080" y="1600200"/>
            <a:ext cx="5486400" cy="365760"/>
          </a:xfrm>
          <a:prstGeom prst="rect">
            <a:avLst/>
          </a:prstGeom>
          <a:noFill/>
          <a:ln/>
        </p:spPr>
        <p:txBody>
          <a:bodyPr wrap="square" lIns="0" tIns="0" rIns="0" bIns="0" rtlCol="0" anchor="ctr"/>
          <a:lstStyle/>
          <a:p>
            <a:pPr marL="0" indent="0">
              <a:buNone/>
            </a:pPr>
            <a:r>
              <a:rPr lang="en-US" sz="1700" b="1" dirty="0">
                <a:solidFill>
                  <a:srgbClr val="0E2A47"/>
                </a:solidFill>
                <a:latin typeface="Trebuchet MS" pitchFamily="34" charset="0"/>
                <a:ea typeface="Trebuchet MS" pitchFamily="34" charset="-122"/>
                <a:cs typeface="Trebuchet MS" pitchFamily="34" charset="-120"/>
              </a:rPr>
              <a:t>Expected output</a:t>
            </a:r>
            <a:endParaRPr lang="en-US" sz="1700" dirty="0"/>
          </a:p>
        </p:txBody>
      </p:sp>
      <p:sp>
        <p:nvSpPr>
          <p:cNvPr id="7" name="Shape 5"/>
          <p:cNvSpPr/>
          <p:nvPr/>
        </p:nvSpPr>
        <p:spPr>
          <a:xfrm>
            <a:off x="640080" y="2103120"/>
            <a:ext cx="5394960" cy="713232"/>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8" name="Shape 6"/>
          <p:cNvSpPr/>
          <p:nvPr/>
        </p:nvSpPr>
        <p:spPr>
          <a:xfrm>
            <a:off x="841248" y="2267712"/>
            <a:ext cx="384048" cy="384048"/>
          </a:xfrm>
          <a:prstGeom prst="ellipse">
            <a:avLst/>
          </a:prstGeom>
          <a:solidFill>
            <a:srgbClr val="22C55E"/>
          </a:solidFill>
          <a:ln/>
        </p:spPr>
        <p:txBody>
          <a:bodyPr/>
          <a:lstStyle/>
          <a:p>
            <a:endParaRPr lang="LID4096"/>
          </a:p>
        </p:txBody>
      </p:sp>
      <p:sp>
        <p:nvSpPr>
          <p:cNvPr id="9" name="Text 7"/>
          <p:cNvSpPr/>
          <p:nvPr/>
        </p:nvSpPr>
        <p:spPr>
          <a:xfrm>
            <a:off x="841248" y="226771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a:t>
            </a:r>
            <a:endParaRPr lang="en-US" sz="1600" dirty="0"/>
          </a:p>
        </p:txBody>
      </p:sp>
      <p:sp>
        <p:nvSpPr>
          <p:cNvPr id="10" name="Text 8"/>
          <p:cNvSpPr/>
          <p:nvPr/>
        </p:nvSpPr>
        <p:spPr>
          <a:xfrm>
            <a:off x="1417320" y="2103120"/>
            <a:ext cx="4434840" cy="713232"/>
          </a:xfrm>
          <a:prstGeom prst="rect">
            <a:avLst/>
          </a:prstGeom>
          <a:noFill/>
          <a:ln/>
        </p:spPr>
        <p:txBody>
          <a:bodyPr wrap="square" lIns="0" tIns="0" rIns="0" bIns="0" rtlCol="0" anchor="ctr"/>
          <a:lstStyle/>
          <a:p>
            <a:pPr marL="0" indent="0">
              <a:buNone/>
            </a:pPr>
            <a:r>
              <a:rPr lang="en-US" sz="1500" b="1" dirty="0">
                <a:solidFill>
                  <a:srgbClr val="1F2D3D"/>
                </a:solidFill>
                <a:latin typeface="Calibri" pitchFamily="34" charset="0"/>
                <a:ea typeface="Calibri" pitchFamily="34" charset="-122"/>
                <a:cs typeface="Calibri" pitchFamily="34" charset="-120"/>
              </a:rPr>
              <a:t>Live sensor monitoring</a:t>
            </a:r>
            <a:endParaRPr lang="en-US" sz="1500" dirty="0"/>
          </a:p>
        </p:txBody>
      </p:sp>
      <p:sp>
        <p:nvSpPr>
          <p:cNvPr id="11" name="Shape 9"/>
          <p:cNvSpPr/>
          <p:nvPr/>
        </p:nvSpPr>
        <p:spPr>
          <a:xfrm>
            <a:off x="640080" y="2953512"/>
            <a:ext cx="5394960" cy="713232"/>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12" name="Shape 10"/>
          <p:cNvSpPr/>
          <p:nvPr/>
        </p:nvSpPr>
        <p:spPr>
          <a:xfrm>
            <a:off x="841248" y="3118104"/>
            <a:ext cx="384048" cy="384048"/>
          </a:xfrm>
          <a:prstGeom prst="ellipse">
            <a:avLst/>
          </a:prstGeom>
          <a:solidFill>
            <a:srgbClr val="22C55E"/>
          </a:solidFill>
          <a:ln/>
        </p:spPr>
        <p:txBody>
          <a:bodyPr/>
          <a:lstStyle/>
          <a:p>
            <a:endParaRPr lang="LID4096"/>
          </a:p>
        </p:txBody>
      </p:sp>
      <p:sp>
        <p:nvSpPr>
          <p:cNvPr id="13" name="Text 11"/>
          <p:cNvSpPr/>
          <p:nvPr/>
        </p:nvSpPr>
        <p:spPr>
          <a:xfrm>
            <a:off x="841248" y="3118104"/>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a:t>
            </a:r>
            <a:endParaRPr lang="en-US" sz="1600" dirty="0"/>
          </a:p>
        </p:txBody>
      </p:sp>
      <p:sp>
        <p:nvSpPr>
          <p:cNvPr id="14" name="Text 12"/>
          <p:cNvSpPr/>
          <p:nvPr/>
        </p:nvSpPr>
        <p:spPr>
          <a:xfrm>
            <a:off x="1417320" y="2953512"/>
            <a:ext cx="4434840" cy="713232"/>
          </a:xfrm>
          <a:prstGeom prst="rect">
            <a:avLst/>
          </a:prstGeom>
          <a:noFill/>
          <a:ln/>
        </p:spPr>
        <p:txBody>
          <a:bodyPr wrap="square" lIns="0" tIns="0" rIns="0" bIns="0" rtlCol="0" anchor="ctr"/>
          <a:lstStyle/>
          <a:p>
            <a:pPr marL="0" indent="0">
              <a:buNone/>
            </a:pPr>
            <a:r>
              <a:rPr lang="en-US" sz="1500" b="1" dirty="0">
                <a:solidFill>
                  <a:srgbClr val="1F2D3D"/>
                </a:solidFill>
                <a:latin typeface="Calibri" pitchFamily="34" charset="0"/>
                <a:ea typeface="Calibri" pitchFamily="34" charset="-122"/>
                <a:cs typeface="Calibri" pitchFamily="34" charset="-120"/>
              </a:rPr>
              <a:t>Machine health calculation</a:t>
            </a:r>
            <a:endParaRPr lang="en-US" sz="1500" dirty="0"/>
          </a:p>
        </p:txBody>
      </p:sp>
      <p:sp>
        <p:nvSpPr>
          <p:cNvPr id="15" name="Shape 13"/>
          <p:cNvSpPr/>
          <p:nvPr/>
        </p:nvSpPr>
        <p:spPr>
          <a:xfrm>
            <a:off x="640080" y="3803904"/>
            <a:ext cx="5394960" cy="713232"/>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16" name="Shape 14"/>
          <p:cNvSpPr/>
          <p:nvPr/>
        </p:nvSpPr>
        <p:spPr>
          <a:xfrm>
            <a:off x="841248" y="3968496"/>
            <a:ext cx="384048" cy="384048"/>
          </a:xfrm>
          <a:prstGeom prst="ellipse">
            <a:avLst/>
          </a:prstGeom>
          <a:solidFill>
            <a:srgbClr val="22C55E"/>
          </a:solidFill>
          <a:ln/>
        </p:spPr>
        <p:txBody>
          <a:bodyPr/>
          <a:lstStyle/>
          <a:p>
            <a:endParaRPr lang="LID4096"/>
          </a:p>
        </p:txBody>
      </p:sp>
      <p:sp>
        <p:nvSpPr>
          <p:cNvPr id="17" name="Text 15"/>
          <p:cNvSpPr/>
          <p:nvPr/>
        </p:nvSpPr>
        <p:spPr>
          <a:xfrm>
            <a:off x="841248" y="3968496"/>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a:t>
            </a:r>
            <a:endParaRPr lang="en-US" sz="1600" dirty="0"/>
          </a:p>
        </p:txBody>
      </p:sp>
      <p:sp>
        <p:nvSpPr>
          <p:cNvPr id="18" name="Text 16"/>
          <p:cNvSpPr/>
          <p:nvPr/>
        </p:nvSpPr>
        <p:spPr>
          <a:xfrm>
            <a:off x="1417320" y="3803904"/>
            <a:ext cx="4434840" cy="713232"/>
          </a:xfrm>
          <a:prstGeom prst="rect">
            <a:avLst/>
          </a:prstGeom>
          <a:noFill/>
          <a:ln/>
        </p:spPr>
        <p:txBody>
          <a:bodyPr wrap="square" lIns="0" tIns="0" rIns="0" bIns="0" rtlCol="0" anchor="ctr"/>
          <a:lstStyle/>
          <a:p>
            <a:pPr marL="0" indent="0">
              <a:buNone/>
            </a:pPr>
            <a:r>
              <a:rPr lang="en-US" sz="1500" b="1" dirty="0">
                <a:solidFill>
                  <a:srgbClr val="1F2D3D"/>
                </a:solidFill>
                <a:latin typeface="Calibri" pitchFamily="34" charset="0"/>
                <a:ea typeface="Calibri" pitchFamily="34" charset="-122"/>
                <a:cs typeface="Calibri" pitchFamily="34" charset="-120"/>
              </a:rPr>
              <a:t>Predictive maintenance alerts</a:t>
            </a:r>
            <a:endParaRPr lang="en-US" sz="1500" dirty="0"/>
          </a:p>
        </p:txBody>
      </p:sp>
      <p:sp>
        <p:nvSpPr>
          <p:cNvPr id="19" name="Shape 17"/>
          <p:cNvSpPr/>
          <p:nvPr/>
        </p:nvSpPr>
        <p:spPr>
          <a:xfrm>
            <a:off x="640080" y="4654296"/>
            <a:ext cx="5394960" cy="713232"/>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20" name="Shape 18"/>
          <p:cNvSpPr/>
          <p:nvPr/>
        </p:nvSpPr>
        <p:spPr>
          <a:xfrm>
            <a:off x="841248" y="4818888"/>
            <a:ext cx="384048" cy="384048"/>
          </a:xfrm>
          <a:prstGeom prst="ellipse">
            <a:avLst/>
          </a:prstGeom>
          <a:solidFill>
            <a:srgbClr val="22C55E"/>
          </a:solidFill>
          <a:ln/>
        </p:spPr>
        <p:txBody>
          <a:bodyPr/>
          <a:lstStyle/>
          <a:p>
            <a:endParaRPr lang="LID4096"/>
          </a:p>
        </p:txBody>
      </p:sp>
      <p:sp>
        <p:nvSpPr>
          <p:cNvPr id="21" name="Text 19"/>
          <p:cNvSpPr/>
          <p:nvPr/>
        </p:nvSpPr>
        <p:spPr>
          <a:xfrm>
            <a:off x="841248" y="481888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a:t>
            </a:r>
            <a:endParaRPr lang="en-US" sz="1600" dirty="0"/>
          </a:p>
        </p:txBody>
      </p:sp>
      <p:sp>
        <p:nvSpPr>
          <p:cNvPr id="22" name="Text 20"/>
          <p:cNvSpPr/>
          <p:nvPr/>
        </p:nvSpPr>
        <p:spPr>
          <a:xfrm>
            <a:off x="1417320" y="4654296"/>
            <a:ext cx="4434840" cy="713232"/>
          </a:xfrm>
          <a:prstGeom prst="rect">
            <a:avLst/>
          </a:prstGeom>
          <a:noFill/>
          <a:ln/>
        </p:spPr>
        <p:txBody>
          <a:bodyPr wrap="square" lIns="0" tIns="0" rIns="0" bIns="0" rtlCol="0" anchor="ctr"/>
          <a:lstStyle/>
          <a:p>
            <a:pPr marL="0" indent="0">
              <a:buNone/>
            </a:pPr>
            <a:r>
              <a:rPr lang="en-US" sz="1500" b="1" dirty="0">
                <a:solidFill>
                  <a:srgbClr val="1F2D3D"/>
                </a:solidFill>
                <a:latin typeface="Calibri" pitchFamily="34" charset="0"/>
                <a:ea typeface="Calibri" pitchFamily="34" charset="-122"/>
                <a:cs typeface="Calibri" pitchFamily="34" charset="-120"/>
              </a:rPr>
              <a:t>Automatic job scheduling</a:t>
            </a:r>
            <a:endParaRPr lang="en-US" sz="1500" dirty="0"/>
          </a:p>
        </p:txBody>
      </p:sp>
      <p:sp>
        <p:nvSpPr>
          <p:cNvPr id="23" name="Shape 21"/>
          <p:cNvSpPr/>
          <p:nvPr/>
        </p:nvSpPr>
        <p:spPr>
          <a:xfrm>
            <a:off x="640080" y="5504688"/>
            <a:ext cx="5394960" cy="713232"/>
          </a:xfrm>
          <a:prstGeom prst="rect">
            <a:avLst/>
          </a:prstGeom>
          <a:solidFill>
            <a:srgbClr val="FFFFFF"/>
          </a:solidFill>
          <a:ln w="12700">
            <a:solidFill>
              <a:srgbClr val="D3E0EE"/>
            </a:solidFill>
            <a:prstDash val="solid"/>
          </a:ln>
          <a:effectLst>
            <a:outerShdw blurRad="114300" dist="38100" dir="5400000" algn="bl" rotWithShape="0">
              <a:srgbClr val="0E2A47">
                <a:alpha val="16000"/>
              </a:srgbClr>
            </a:outerShdw>
          </a:effectLst>
        </p:spPr>
        <p:txBody>
          <a:bodyPr/>
          <a:lstStyle/>
          <a:p>
            <a:endParaRPr lang="LID4096"/>
          </a:p>
        </p:txBody>
      </p:sp>
      <p:sp>
        <p:nvSpPr>
          <p:cNvPr id="24" name="Shape 22"/>
          <p:cNvSpPr/>
          <p:nvPr/>
        </p:nvSpPr>
        <p:spPr>
          <a:xfrm>
            <a:off x="841248" y="5669280"/>
            <a:ext cx="384048" cy="384048"/>
          </a:xfrm>
          <a:prstGeom prst="ellipse">
            <a:avLst/>
          </a:prstGeom>
          <a:solidFill>
            <a:srgbClr val="22C55E"/>
          </a:solidFill>
          <a:ln/>
        </p:spPr>
        <p:txBody>
          <a:bodyPr/>
          <a:lstStyle/>
          <a:p>
            <a:endParaRPr lang="LID4096"/>
          </a:p>
        </p:txBody>
      </p:sp>
      <p:sp>
        <p:nvSpPr>
          <p:cNvPr id="25" name="Text 23"/>
          <p:cNvSpPr/>
          <p:nvPr/>
        </p:nvSpPr>
        <p:spPr>
          <a:xfrm>
            <a:off x="841248" y="566928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a:t>
            </a:r>
            <a:endParaRPr lang="en-US" sz="1600" dirty="0"/>
          </a:p>
        </p:txBody>
      </p:sp>
      <p:sp>
        <p:nvSpPr>
          <p:cNvPr id="26" name="Text 24"/>
          <p:cNvSpPr/>
          <p:nvPr/>
        </p:nvSpPr>
        <p:spPr>
          <a:xfrm>
            <a:off x="1417320" y="5504688"/>
            <a:ext cx="4434840" cy="713232"/>
          </a:xfrm>
          <a:prstGeom prst="rect">
            <a:avLst/>
          </a:prstGeom>
          <a:noFill/>
          <a:ln/>
        </p:spPr>
        <p:txBody>
          <a:bodyPr wrap="square" lIns="0" tIns="0" rIns="0" bIns="0" rtlCol="0" anchor="ctr"/>
          <a:lstStyle/>
          <a:p>
            <a:pPr marL="0" indent="0">
              <a:buNone/>
            </a:pPr>
            <a:r>
              <a:rPr lang="en-US" sz="1500" b="1" dirty="0">
                <a:solidFill>
                  <a:srgbClr val="1F2D3D"/>
                </a:solidFill>
                <a:latin typeface="Calibri" pitchFamily="34" charset="0"/>
                <a:ea typeface="Calibri" pitchFamily="34" charset="-122"/>
                <a:cs typeface="Calibri" pitchFamily="34" charset="-120"/>
              </a:rPr>
              <a:t>Industry 4.0 smart factory simulation</a:t>
            </a:r>
            <a:endParaRPr lang="en-US" sz="1500" dirty="0"/>
          </a:p>
        </p:txBody>
      </p:sp>
      <p:sp>
        <p:nvSpPr>
          <p:cNvPr id="27" name="Shape 25"/>
          <p:cNvSpPr/>
          <p:nvPr/>
        </p:nvSpPr>
        <p:spPr>
          <a:xfrm>
            <a:off x="6355080" y="1600200"/>
            <a:ext cx="5166360" cy="4617720"/>
          </a:xfrm>
          <a:prstGeom prst="rect">
            <a:avLst/>
          </a:prstGeom>
          <a:solidFill>
            <a:srgbClr val="0E2A47"/>
          </a:solidFill>
          <a:ln/>
          <a:effectLst>
            <a:outerShdw blurRad="114300" dist="38100" dir="5400000" algn="bl" rotWithShape="0">
              <a:srgbClr val="0E2A47">
                <a:alpha val="16000"/>
              </a:srgbClr>
            </a:outerShdw>
          </a:effectLst>
        </p:spPr>
        <p:txBody>
          <a:bodyPr/>
          <a:lstStyle/>
          <a:p>
            <a:endParaRPr lang="LID4096"/>
          </a:p>
        </p:txBody>
      </p:sp>
      <p:sp>
        <p:nvSpPr>
          <p:cNvPr id="28" name="Shape 26"/>
          <p:cNvSpPr/>
          <p:nvPr/>
        </p:nvSpPr>
        <p:spPr>
          <a:xfrm>
            <a:off x="6355080" y="1600200"/>
            <a:ext cx="5166360" cy="109728"/>
          </a:xfrm>
          <a:prstGeom prst="rect">
            <a:avLst/>
          </a:prstGeom>
          <a:solidFill>
            <a:srgbClr val="0FB5D6"/>
          </a:solidFill>
          <a:ln/>
        </p:spPr>
        <p:txBody>
          <a:bodyPr/>
          <a:lstStyle/>
          <a:p>
            <a:endParaRPr lang="LID4096"/>
          </a:p>
        </p:txBody>
      </p:sp>
      <p:sp>
        <p:nvSpPr>
          <p:cNvPr id="29" name="Text 27"/>
          <p:cNvSpPr/>
          <p:nvPr/>
        </p:nvSpPr>
        <p:spPr>
          <a:xfrm>
            <a:off x="6629400" y="1874520"/>
            <a:ext cx="4572000" cy="411480"/>
          </a:xfrm>
          <a:prstGeom prst="rect">
            <a:avLst/>
          </a:prstGeom>
          <a:noFill/>
          <a:ln/>
        </p:spPr>
        <p:txBody>
          <a:bodyPr wrap="square" lIns="0" tIns="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Technologies</a:t>
            </a:r>
            <a:endParaRPr lang="en-US" sz="1700" dirty="0"/>
          </a:p>
        </p:txBody>
      </p:sp>
      <p:sp>
        <p:nvSpPr>
          <p:cNvPr id="30" name="Shape 28"/>
          <p:cNvSpPr/>
          <p:nvPr/>
        </p:nvSpPr>
        <p:spPr>
          <a:xfrm>
            <a:off x="6629400" y="2395728"/>
            <a:ext cx="689458" cy="457200"/>
          </a:xfrm>
          <a:prstGeom prst="rect">
            <a:avLst/>
          </a:prstGeom>
          <a:solidFill>
            <a:srgbClr val="17406B"/>
          </a:solidFill>
          <a:ln w="12700">
            <a:solidFill>
              <a:srgbClr val="2C5F95"/>
            </a:solidFill>
            <a:prstDash val="solid"/>
          </a:ln>
        </p:spPr>
        <p:txBody>
          <a:bodyPr/>
          <a:lstStyle/>
          <a:p>
            <a:endParaRPr lang="LID4096"/>
          </a:p>
        </p:txBody>
      </p:sp>
      <p:sp>
        <p:nvSpPr>
          <p:cNvPr id="31" name="Text 29"/>
          <p:cNvSpPr/>
          <p:nvPr/>
        </p:nvSpPr>
        <p:spPr>
          <a:xfrm>
            <a:off x="6629400" y="2395728"/>
            <a:ext cx="689458"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C++</a:t>
            </a:r>
            <a:endParaRPr lang="en-US" sz="1300" dirty="0"/>
          </a:p>
        </p:txBody>
      </p:sp>
      <p:sp>
        <p:nvSpPr>
          <p:cNvPr id="32" name="Shape 30"/>
          <p:cNvSpPr/>
          <p:nvPr/>
        </p:nvSpPr>
        <p:spPr>
          <a:xfrm>
            <a:off x="7501738" y="2395728"/>
            <a:ext cx="689458" cy="457200"/>
          </a:xfrm>
          <a:prstGeom prst="rect">
            <a:avLst/>
          </a:prstGeom>
          <a:solidFill>
            <a:srgbClr val="17406B"/>
          </a:solidFill>
          <a:ln w="12700">
            <a:solidFill>
              <a:srgbClr val="2C5F95"/>
            </a:solidFill>
            <a:prstDash val="solid"/>
          </a:ln>
        </p:spPr>
        <p:txBody>
          <a:bodyPr/>
          <a:lstStyle/>
          <a:p>
            <a:endParaRPr lang="LID4096"/>
          </a:p>
        </p:txBody>
      </p:sp>
      <p:sp>
        <p:nvSpPr>
          <p:cNvPr id="33" name="Text 31"/>
          <p:cNvSpPr/>
          <p:nvPr/>
        </p:nvSpPr>
        <p:spPr>
          <a:xfrm>
            <a:off x="7501738" y="2395728"/>
            <a:ext cx="689458"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OOP</a:t>
            </a:r>
            <a:endParaRPr lang="en-US" sz="1300" dirty="0"/>
          </a:p>
        </p:txBody>
      </p:sp>
      <p:sp>
        <p:nvSpPr>
          <p:cNvPr id="34" name="Shape 32"/>
          <p:cNvSpPr/>
          <p:nvPr/>
        </p:nvSpPr>
        <p:spPr>
          <a:xfrm>
            <a:off x="8374075" y="2395728"/>
            <a:ext cx="905256" cy="457200"/>
          </a:xfrm>
          <a:prstGeom prst="rect">
            <a:avLst/>
          </a:prstGeom>
          <a:solidFill>
            <a:srgbClr val="17406B"/>
          </a:solidFill>
          <a:ln w="12700">
            <a:solidFill>
              <a:srgbClr val="2C5F95"/>
            </a:solidFill>
            <a:prstDash val="solid"/>
          </a:ln>
        </p:spPr>
        <p:txBody>
          <a:bodyPr/>
          <a:lstStyle/>
          <a:p>
            <a:endParaRPr lang="LID4096"/>
          </a:p>
        </p:txBody>
      </p:sp>
      <p:sp>
        <p:nvSpPr>
          <p:cNvPr id="35" name="Text 33"/>
          <p:cNvSpPr/>
          <p:nvPr/>
        </p:nvSpPr>
        <p:spPr>
          <a:xfrm>
            <a:off x="8374075" y="2395728"/>
            <a:ext cx="905256"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ESP32</a:t>
            </a:r>
            <a:endParaRPr lang="en-US" sz="1300" dirty="0"/>
          </a:p>
        </p:txBody>
      </p:sp>
      <p:sp>
        <p:nvSpPr>
          <p:cNvPr id="36" name="Shape 34"/>
          <p:cNvSpPr/>
          <p:nvPr/>
        </p:nvSpPr>
        <p:spPr>
          <a:xfrm>
            <a:off x="6629400" y="3017520"/>
            <a:ext cx="1984248" cy="457200"/>
          </a:xfrm>
          <a:prstGeom prst="rect">
            <a:avLst/>
          </a:prstGeom>
          <a:solidFill>
            <a:srgbClr val="17406B"/>
          </a:solidFill>
          <a:ln w="12700">
            <a:solidFill>
              <a:srgbClr val="2C5F95"/>
            </a:solidFill>
            <a:prstDash val="solid"/>
          </a:ln>
        </p:spPr>
        <p:txBody>
          <a:bodyPr/>
          <a:lstStyle/>
          <a:p>
            <a:endParaRPr lang="LID4096"/>
          </a:p>
        </p:txBody>
      </p:sp>
      <p:sp>
        <p:nvSpPr>
          <p:cNvPr id="37" name="Text 35"/>
          <p:cNvSpPr/>
          <p:nvPr/>
        </p:nvSpPr>
        <p:spPr>
          <a:xfrm>
            <a:off x="6629400" y="3017520"/>
            <a:ext cx="1984248"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Wokwi Simulator</a:t>
            </a:r>
            <a:endParaRPr lang="en-US" sz="1300" dirty="0"/>
          </a:p>
        </p:txBody>
      </p:sp>
      <p:sp>
        <p:nvSpPr>
          <p:cNvPr id="38" name="Shape 36"/>
          <p:cNvSpPr/>
          <p:nvPr/>
        </p:nvSpPr>
        <p:spPr>
          <a:xfrm>
            <a:off x="8796528" y="3017520"/>
            <a:ext cx="1552651" cy="457200"/>
          </a:xfrm>
          <a:prstGeom prst="rect">
            <a:avLst/>
          </a:prstGeom>
          <a:solidFill>
            <a:srgbClr val="17406B"/>
          </a:solidFill>
          <a:ln w="12700">
            <a:solidFill>
              <a:srgbClr val="2C5F95"/>
            </a:solidFill>
            <a:prstDash val="solid"/>
          </a:ln>
        </p:spPr>
        <p:txBody>
          <a:bodyPr/>
          <a:lstStyle/>
          <a:p>
            <a:endParaRPr lang="LID4096"/>
          </a:p>
        </p:txBody>
      </p:sp>
      <p:sp>
        <p:nvSpPr>
          <p:cNvPr id="39" name="Text 37"/>
          <p:cNvSpPr/>
          <p:nvPr/>
        </p:nvSpPr>
        <p:spPr>
          <a:xfrm>
            <a:off x="8796528" y="3017520"/>
            <a:ext cx="1552651"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IoT Sensors</a:t>
            </a:r>
            <a:endParaRPr lang="en-US" sz="1300" dirty="0"/>
          </a:p>
        </p:txBody>
      </p:sp>
      <p:sp>
        <p:nvSpPr>
          <p:cNvPr id="40" name="Shape 38"/>
          <p:cNvSpPr/>
          <p:nvPr/>
        </p:nvSpPr>
        <p:spPr>
          <a:xfrm>
            <a:off x="6629400" y="3639312"/>
            <a:ext cx="2739542" cy="457200"/>
          </a:xfrm>
          <a:prstGeom prst="rect">
            <a:avLst/>
          </a:prstGeom>
          <a:solidFill>
            <a:srgbClr val="17406B"/>
          </a:solidFill>
          <a:ln w="12700">
            <a:solidFill>
              <a:srgbClr val="2C5F95"/>
            </a:solidFill>
            <a:prstDash val="solid"/>
          </a:ln>
        </p:spPr>
        <p:txBody>
          <a:bodyPr/>
          <a:lstStyle/>
          <a:p>
            <a:endParaRPr lang="LID4096"/>
          </a:p>
        </p:txBody>
      </p:sp>
      <p:sp>
        <p:nvSpPr>
          <p:cNvPr id="41" name="Text 39"/>
          <p:cNvSpPr/>
          <p:nvPr/>
        </p:nvSpPr>
        <p:spPr>
          <a:xfrm>
            <a:off x="6629400" y="3639312"/>
            <a:ext cx="273954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Predictive Maintenance</a:t>
            </a:r>
            <a:endParaRPr lang="en-US" sz="1300" dirty="0"/>
          </a:p>
        </p:txBody>
      </p:sp>
      <p:sp>
        <p:nvSpPr>
          <p:cNvPr id="42" name="Shape 40"/>
          <p:cNvSpPr/>
          <p:nvPr/>
        </p:nvSpPr>
        <p:spPr>
          <a:xfrm>
            <a:off x="6629400" y="4261104"/>
            <a:ext cx="2739542" cy="457200"/>
          </a:xfrm>
          <a:prstGeom prst="rect">
            <a:avLst/>
          </a:prstGeom>
          <a:solidFill>
            <a:srgbClr val="17406B"/>
          </a:solidFill>
          <a:ln w="12700">
            <a:solidFill>
              <a:srgbClr val="2C5F95"/>
            </a:solidFill>
            <a:prstDash val="solid"/>
          </a:ln>
        </p:spPr>
        <p:txBody>
          <a:bodyPr/>
          <a:lstStyle/>
          <a:p>
            <a:endParaRPr lang="LID4096"/>
          </a:p>
        </p:txBody>
      </p:sp>
      <p:sp>
        <p:nvSpPr>
          <p:cNvPr id="43" name="Text 41"/>
          <p:cNvSpPr/>
          <p:nvPr/>
        </p:nvSpPr>
        <p:spPr>
          <a:xfrm>
            <a:off x="6629400" y="4261104"/>
            <a:ext cx="273954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Intelligent Scheduling</a:t>
            </a:r>
            <a:endParaRPr lang="en-US" sz="1300" dirty="0"/>
          </a:p>
        </p:txBody>
      </p:sp>
      <p:sp>
        <p:nvSpPr>
          <p:cNvPr id="44" name="Shape 42"/>
          <p:cNvSpPr/>
          <p:nvPr/>
        </p:nvSpPr>
        <p:spPr>
          <a:xfrm>
            <a:off x="6629400" y="4983480"/>
            <a:ext cx="4617720" cy="0"/>
          </a:xfrm>
          <a:prstGeom prst="line">
            <a:avLst/>
          </a:prstGeom>
          <a:noFill/>
          <a:ln w="12700">
            <a:solidFill>
              <a:srgbClr val="2C5F95"/>
            </a:solidFill>
            <a:prstDash val="solid"/>
          </a:ln>
        </p:spPr>
        <p:txBody>
          <a:bodyPr/>
          <a:lstStyle/>
          <a:p>
            <a:endParaRPr lang="LID4096"/>
          </a:p>
        </p:txBody>
      </p:sp>
      <p:sp>
        <p:nvSpPr>
          <p:cNvPr id="45" name="Text 43"/>
          <p:cNvSpPr/>
          <p:nvPr/>
        </p:nvSpPr>
        <p:spPr>
          <a:xfrm>
            <a:off x="6629400" y="5120640"/>
            <a:ext cx="4617720" cy="1005840"/>
          </a:xfrm>
          <a:prstGeom prst="rect">
            <a:avLst/>
          </a:prstGeom>
          <a:noFill/>
          <a:ln/>
        </p:spPr>
        <p:txBody>
          <a:bodyPr wrap="square" lIns="0" tIns="0" rIns="0" bIns="0" rtlCol="0" anchor="t"/>
          <a:lstStyle/>
          <a:p>
            <a:pPr marL="0" indent="0">
              <a:lnSpc>
                <a:spcPct val="120000"/>
              </a:lnSpc>
              <a:buNone/>
            </a:pPr>
            <a:r>
              <a:rPr lang="en-US" sz="1300" dirty="0">
                <a:solidFill>
                  <a:srgbClr val="C7D9EC"/>
                </a:solidFill>
                <a:latin typeface="Calibri" pitchFamily="34" charset="0"/>
                <a:ea typeface="Calibri" pitchFamily="34" charset="-122"/>
                <a:cs typeface="Calibri" pitchFamily="34" charset="-120"/>
              </a:rPr>
              <a:t>Object-oriented C++ classes — Machine, Sensor, MaintenanceManager, Job, Scheduler and Dashboard — drive the simulation logic.</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2A47"/>
        </a:solidFill>
        <a:effectLst/>
      </p:bgPr>
    </p:bg>
    <p:spTree>
      <p:nvGrpSpPr>
        <p:cNvPr id="1" name=""/>
        <p:cNvGrpSpPr/>
        <p:nvPr/>
      </p:nvGrpSpPr>
      <p:grpSpPr>
        <a:xfrm>
          <a:off x="0" y="0"/>
          <a:ext cx="0" cy="0"/>
          <a:chOff x="0" y="0"/>
          <a:chExt cx="0" cy="0"/>
        </a:xfrm>
      </p:grpSpPr>
      <p:pic>
        <p:nvPicPr>
          <p:cNvPr id="2" name="Image 0" descr="images/closing.jpg"/>
          <p:cNvPicPr>
            <a:picLocks noChangeAspect="1"/>
          </p:cNvPicPr>
          <p:nvPr/>
        </p:nvPicPr>
        <p:blipFill>
          <a:blip r:embed="rId3"/>
          <a:srcRect l="17409" r="17409"/>
          <a:stretch/>
        </p:blipFill>
        <p:spPr>
          <a:xfrm>
            <a:off x="5486400" y="0"/>
            <a:ext cx="6705295" cy="6858000"/>
          </a:xfrm>
          <a:prstGeom prst="rect">
            <a:avLst/>
          </a:prstGeom>
        </p:spPr>
      </p:pic>
      <p:sp>
        <p:nvSpPr>
          <p:cNvPr id="3" name="Shape 0"/>
          <p:cNvSpPr/>
          <p:nvPr/>
        </p:nvSpPr>
        <p:spPr>
          <a:xfrm>
            <a:off x="0" y="0"/>
            <a:ext cx="6583680" cy="6858000"/>
          </a:xfrm>
          <a:prstGeom prst="rect">
            <a:avLst/>
          </a:prstGeom>
          <a:solidFill>
            <a:srgbClr val="0E2A47">
              <a:alpha val="94000"/>
            </a:srgbClr>
          </a:solidFill>
          <a:ln/>
        </p:spPr>
        <p:txBody>
          <a:bodyPr/>
          <a:lstStyle/>
          <a:p>
            <a:endParaRPr lang="LID4096"/>
          </a:p>
        </p:txBody>
      </p:sp>
      <p:sp>
        <p:nvSpPr>
          <p:cNvPr id="4" name="Shape 1"/>
          <p:cNvSpPr/>
          <p:nvPr/>
        </p:nvSpPr>
        <p:spPr>
          <a:xfrm>
            <a:off x="6583680" y="0"/>
            <a:ext cx="1463040" cy="6858000"/>
          </a:xfrm>
          <a:prstGeom prst="rect">
            <a:avLst/>
          </a:prstGeom>
          <a:solidFill>
            <a:srgbClr val="0E2A47">
              <a:alpha val="55000"/>
            </a:srgbClr>
          </a:solidFill>
          <a:ln/>
        </p:spPr>
        <p:txBody>
          <a:bodyPr/>
          <a:lstStyle/>
          <a:p>
            <a:endParaRPr lang="LID4096"/>
          </a:p>
        </p:txBody>
      </p:sp>
      <p:sp>
        <p:nvSpPr>
          <p:cNvPr id="5" name="Shape 2"/>
          <p:cNvSpPr/>
          <p:nvPr/>
        </p:nvSpPr>
        <p:spPr>
          <a:xfrm>
            <a:off x="822960" y="1371600"/>
            <a:ext cx="3108960" cy="420624"/>
          </a:xfrm>
          <a:prstGeom prst="rect">
            <a:avLst/>
          </a:prstGeom>
          <a:solidFill>
            <a:srgbClr val="0FB5D6"/>
          </a:solidFill>
          <a:ln/>
        </p:spPr>
        <p:txBody>
          <a:bodyPr/>
          <a:lstStyle/>
          <a:p>
            <a:endParaRPr lang="LID4096"/>
          </a:p>
        </p:txBody>
      </p:sp>
      <p:sp>
        <p:nvSpPr>
          <p:cNvPr id="6" name="Text 3"/>
          <p:cNvSpPr/>
          <p:nvPr/>
        </p:nvSpPr>
        <p:spPr>
          <a:xfrm>
            <a:off x="822960" y="1371600"/>
            <a:ext cx="3108960" cy="420624"/>
          </a:xfrm>
          <a:prstGeom prst="rect">
            <a:avLst/>
          </a:prstGeom>
          <a:noFill/>
          <a:ln/>
        </p:spPr>
        <p:txBody>
          <a:bodyPr wrap="square" lIns="0" tIns="0" rIns="0" bIns="0" rtlCol="0" anchor="ctr"/>
          <a:lstStyle/>
          <a:p>
            <a:pPr marL="0" indent="0" algn="ctr">
              <a:buNone/>
            </a:pPr>
            <a:r>
              <a:rPr lang="en-US" sz="1200" b="1" kern="0" spc="200" dirty="0">
                <a:solidFill>
                  <a:srgbClr val="0E2A47"/>
                </a:solidFill>
                <a:latin typeface="Trebuchet MS" pitchFamily="34" charset="0"/>
                <a:ea typeface="Trebuchet MS" pitchFamily="34" charset="-122"/>
                <a:cs typeface="Trebuchet MS" pitchFamily="34" charset="-120"/>
              </a:rPr>
              <a:t>WHY IT MATTERS</a:t>
            </a:r>
            <a:endParaRPr lang="en-US" sz="1200" dirty="0"/>
          </a:p>
        </p:txBody>
      </p:sp>
      <p:sp>
        <p:nvSpPr>
          <p:cNvPr id="7" name="Text 4"/>
          <p:cNvSpPr/>
          <p:nvPr/>
        </p:nvSpPr>
        <p:spPr>
          <a:xfrm>
            <a:off x="822960" y="2057400"/>
            <a:ext cx="5486400" cy="1554480"/>
          </a:xfrm>
          <a:prstGeom prst="rect">
            <a:avLst/>
          </a:prstGeom>
          <a:noFill/>
          <a:ln/>
        </p:spPr>
        <p:txBody>
          <a:bodyPr wrap="square" lIns="0" tIns="0" rIns="0" bIns="0" rtlCol="0" anchor="ctr"/>
          <a:lstStyle/>
          <a:p>
            <a:pPr marL="0" indent="0">
              <a:lnSpc>
                <a:spcPct val="100000"/>
              </a:lnSpc>
              <a:buNone/>
            </a:pPr>
            <a:r>
              <a:rPr lang="en-US" sz="3600" b="1" dirty="0">
                <a:solidFill>
                  <a:srgbClr val="FFFFFF"/>
                </a:solidFill>
                <a:latin typeface="Trebuchet MS" pitchFamily="34" charset="0"/>
                <a:ea typeface="Trebuchet MS" pitchFamily="34" charset="-122"/>
                <a:cs typeface="Trebuchet MS" pitchFamily="34" charset="-120"/>
              </a:rPr>
              <a:t>Less downtime, smarter production</a:t>
            </a:r>
            <a:endParaRPr lang="en-US" sz="3600" dirty="0"/>
          </a:p>
        </p:txBody>
      </p:sp>
      <p:sp>
        <p:nvSpPr>
          <p:cNvPr id="8" name="Text 5"/>
          <p:cNvSpPr/>
          <p:nvPr/>
        </p:nvSpPr>
        <p:spPr>
          <a:xfrm>
            <a:off x="822960" y="3749040"/>
            <a:ext cx="5440680" cy="1554480"/>
          </a:xfrm>
          <a:prstGeom prst="rect">
            <a:avLst/>
          </a:prstGeom>
          <a:noFill/>
          <a:ln/>
        </p:spPr>
        <p:txBody>
          <a:bodyPr wrap="square" lIns="0" tIns="0" rIns="0" bIns="0" rtlCol="0" anchor="ctr"/>
          <a:lstStyle/>
          <a:p>
            <a:pPr marL="0" indent="0">
              <a:lnSpc>
                <a:spcPct val="125000"/>
              </a:lnSpc>
              <a:buNone/>
            </a:pPr>
            <a:r>
              <a:rPr lang="en-US" sz="1600" dirty="0">
                <a:solidFill>
                  <a:srgbClr val="D7E6F5"/>
                </a:solidFill>
                <a:latin typeface="Calibri" pitchFamily="34" charset="0"/>
                <a:ea typeface="Calibri" pitchFamily="34" charset="-122"/>
                <a:cs typeface="Calibri" pitchFamily="34" charset="-120"/>
              </a:rPr>
              <a:t>Predictive maintenance catches failures early, while intelligent scheduling keeps jobs flowing to the healthiest machines — a practical Industry 4.0 application built on object-oriented C++.</a:t>
            </a:r>
            <a:endParaRPr lang="en-US" sz="1600" dirty="0"/>
          </a:p>
        </p:txBody>
      </p:sp>
      <p:sp>
        <p:nvSpPr>
          <p:cNvPr id="9" name="Shape 6"/>
          <p:cNvSpPr/>
          <p:nvPr/>
        </p:nvSpPr>
        <p:spPr>
          <a:xfrm>
            <a:off x="822960" y="5623560"/>
            <a:ext cx="45720" cy="777240"/>
          </a:xfrm>
          <a:prstGeom prst="rect">
            <a:avLst/>
          </a:prstGeom>
          <a:solidFill>
            <a:srgbClr val="0FB5D6"/>
          </a:solidFill>
          <a:ln/>
        </p:spPr>
        <p:txBody>
          <a:bodyPr/>
          <a:lstStyle/>
          <a:p>
            <a:endParaRPr lang="LID4096"/>
          </a:p>
        </p:txBody>
      </p:sp>
      <p:sp>
        <p:nvSpPr>
          <p:cNvPr id="10" name="Text 7"/>
          <p:cNvSpPr/>
          <p:nvPr/>
        </p:nvSpPr>
        <p:spPr>
          <a:xfrm>
            <a:off x="1024128" y="5623560"/>
            <a:ext cx="5486400" cy="777240"/>
          </a:xfrm>
          <a:prstGeom prst="rect">
            <a:avLst/>
          </a:prstGeom>
          <a:noFill/>
          <a:ln/>
        </p:spPr>
        <p:txBody>
          <a:bodyPr wrap="square" lIns="0" tIns="0" rIns="0" bIns="0" rtlCol="0" anchor="ctr"/>
          <a:lstStyle/>
          <a:p>
            <a:pPr marL="0" indent="0">
              <a:lnSpc>
                <a:spcPct val="115000"/>
              </a:lnSpc>
              <a:buNone/>
            </a:pPr>
            <a:r>
              <a:rPr lang="en-US" sz="1300" b="1" dirty="0">
                <a:solidFill>
                  <a:srgbClr val="FFFFFF"/>
                </a:solidFill>
                <a:latin typeface="Trebuchet MS" pitchFamily="34" charset="0"/>
                <a:ea typeface="Trebuchet MS" pitchFamily="34" charset="-122"/>
                <a:cs typeface="Trebuchet MS" pitchFamily="34" charset="-120"/>
              </a:rPr>
              <a:t>Daniel Chidi Chimezie · Roland Bukoola</a:t>
            </a:r>
            <a:endParaRPr lang="en-US" sz="1300" dirty="0"/>
          </a:p>
          <a:p>
            <a:pPr marL="0" indent="0">
              <a:lnSpc>
                <a:spcPct val="115000"/>
              </a:lnSpc>
              <a:buNone/>
            </a:pPr>
            <a:r>
              <a:rPr lang="en-US" sz="1200" dirty="0">
                <a:solidFill>
                  <a:srgbClr val="BCD2E8"/>
                </a:solidFill>
                <a:latin typeface="Calibri" pitchFamily="34" charset="0"/>
                <a:ea typeface="Calibri" pitchFamily="34" charset="-122"/>
                <a:cs typeface="Calibri" pitchFamily="34" charset="-120"/>
              </a:rPr>
              <a:t>Programming II · Hochschule Hamm-Lippstadt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1351</Words>
  <Application>Microsoft Office PowerPoint</Application>
  <PresentationFormat>Widescreen</PresentationFormat>
  <Paragraphs>291</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Engr. D. Chimezie</dc:creator>
  <cp:lastModifiedBy>Engr. D. Chimezie</cp:lastModifiedBy>
  <cp:revision>2</cp:revision>
  <dcterms:created xsi:type="dcterms:W3CDTF">2026-06-28T02:52:01Z</dcterms:created>
  <dcterms:modified xsi:type="dcterms:W3CDTF">2026-06-28T03:31:04Z</dcterms:modified>
</cp:coreProperties>
</file>